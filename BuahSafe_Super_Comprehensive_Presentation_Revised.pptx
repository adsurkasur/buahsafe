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1" d="100"/>
          <a:sy n="111" d="100"/>
        </p:scale>
        <p:origin x="55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4E3B"/>
        </a:solidFill>
        <a:effectLst/>
      </p:bgPr>
    </p:bg>
    <p:spTree>
      <p:nvGrpSpPr>
        <p:cNvPr id="1" name=""/>
        <p:cNvGrpSpPr/>
        <p:nvPr/>
      </p:nvGrpSpPr>
      <p:grpSpPr>
        <a:xfrm>
          <a:off x="0" y="0"/>
          <a:ext cx="0" cy="0"/>
          <a:chOff x="0" y="0"/>
          <a:chExt cx="0" cy="0"/>
        </a:xfrm>
      </p:grpSpPr>
      <p:sp>
        <p:nvSpPr>
          <p:cNvPr id="2" name="Rounded Rectangle 1"/>
          <p:cNvSpPr/>
          <p:nvPr/>
        </p:nvSpPr>
        <p:spPr>
          <a:xfrm>
            <a:off x="1097280" y="1097280"/>
            <a:ext cx="9997135" cy="4663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731520" tIns="457200" rtlCol="0" anchor="ctr"/>
          <a:lstStyle/>
          <a:p>
            <a:pPr algn="ctr">
              <a:defRPr sz="2400" b="1">
                <a:solidFill>
                  <a:srgbClr val="104E3B"/>
                </a:solidFill>
                <a:latin typeface="Arial"/>
              </a:defRPr>
            </a:pPr>
            <a:r>
              <a:rPr dirty="0"/>
              <a:t>BUAHSAFE: DEEP DIVE PIPELINE &amp; MASTER WALKTHROUGH</a:t>
            </a:r>
          </a:p>
          <a:p>
            <a:pPr>
              <a:spcBef>
                <a:spcPts val="1200"/>
              </a:spcBef>
              <a:defRPr sz="1550" b="1">
                <a:solidFill>
                  <a:srgbClr val="D97706"/>
                </a:solidFill>
                <a:latin typeface="Arial"/>
              </a:defRPr>
            </a:pPr>
            <a:r>
              <a:rPr dirty="0"/>
              <a:t>Panduan </a:t>
            </a:r>
            <a:r>
              <a:rPr dirty="0" err="1"/>
              <a:t>Ekstensif</a:t>
            </a:r>
            <a:r>
              <a:rPr dirty="0"/>
              <a:t> 36 Slide </a:t>
            </a:r>
            <a:r>
              <a:rPr dirty="0" err="1"/>
              <a:t>Membedah</a:t>
            </a:r>
            <a:r>
              <a:rPr dirty="0"/>
              <a:t> </a:t>
            </a:r>
            <a:r>
              <a:rPr dirty="0" err="1"/>
              <a:t>Tuntas</a:t>
            </a:r>
            <a:r>
              <a:rPr dirty="0"/>
              <a:t> First Principles, Teori </a:t>
            </a:r>
            <a:r>
              <a:rPr dirty="0" err="1"/>
              <a:t>Statistik</a:t>
            </a:r>
            <a:r>
              <a:rPr dirty="0"/>
              <a:t> &amp; </a:t>
            </a:r>
            <a:r>
              <a:rPr dirty="0" err="1"/>
              <a:t>Algoritma</a:t>
            </a:r>
            <a:r>
              <a:rPr dirty="0"/>
              <a:t>,</a:t>
            </a:r>
            <a:br>
              <a:rPr dirty="0"/>
            </a:br>
            <a:r>
              <a:rPr dirty="0"/>
              <a:t>EDA, </a:t>
            </a:r>
            <a:r>
              <a:rPr dirty="0" err="1"/>
              <a:t>Matriks</a:t>
            </a:r>
            <a:r>
              <a:rPr dirty="0"/>
              <a:t> </a:t>
            </a:r>
            <a:r>
              <a:rPr dirty="0" err="1"/>
              <a:t>Korelasi</a:t>
            </a:r>
            <a:r>
              <a:rPr dirty="0"/>
              <a:t>, Preprocessing, </a:t>
            </a:r>
            <a:r>
              <a:rPr dirty="0" err="1"/>
              <a:t>hingga</a:t>
            </a:r>
            <a:r>
              <a:rPr dirty="0"/>
              <a:t> </a:t>
            </a:r>
            <a:r>
              <a:rPr dirty="0" err="1"/>
              <a:t>Evaluasi</a:t>
            </a:r>
            <a:r>
              <a:rPr dirty="0"/>
              <a:t> </a:t>
            </a:r>
            <a:r>
              <a:rPr dirty="0" err="1"/>
              <a:t>Komprehensif</a:t>
            </a:r>
            <a:r>
              <a:rPr dirty="0"/>
              <a:t> </a:t>
            </a:r>
            <a:r>
              <a:rPr dirty="0" err="1"/>
              <a:t>Seluruh</a:t>
            </a:r>
            <a:r>
              <a:rPr dirty="0"/>
              <a:t> Model</a:t>
            </a:r>
          </a:p>
          <a:p>
            <a:pPr>
              <a:spcBef>
                <a:spcPts val="1400"/>
              </a:spcBef>
              <a:defRPr sz="1300">
                <a:solidFill>
                  <a:srgbClr val="475569"/>
                </a:solidFill>
                <a:latin typeface="Arial"/>
              </a:defRPr>
            </a:pPr>
            <a:r>
              <a:rPr dirty="0" err="1"/>
              <a:t>Dilengkapi</a:t>
            </a:r>
            <a:r>
              <a:rPr dirty="0"/>
              <a:t> </a:t>
            </a:r>
            <a:r>
              <a:rPr dirty="0" err="1"/>
              <a:t>Landasan</a:t>
            </a:r>
            <a:r>
              <a:rPr dirty="0"/>
              <a:t> Teori </a:t>
            </a:r>
            <a:r>
              <a:rPr dirty="0" err="1"/>
              <a:t>Metrik</a:t>
            </a:r>
            <a:r>
              <a:rPr dirty="0"/>
              <a:t> (Recall vs Accuracy), </a:t>
            </a:r>
            <a:r>
              <a:rPr dirty="0" err="1"/>
              <a:t>Kausalitas</a:t>
            </a:r>
            <a:r>
              <a:rPr dirty="0"/>
              <a:t> </a:t>
            </a:r>
            <a:r>
              <a:rPr dirty="0" err="1"/>
              <a:t>Pembagian</a:t>
            </a:r>
            <a:r>
              <a:rPr dirty="0"/>
              <a:t> Dataset,</a:t>
            </a:r>
            <a:br>
              <a:rPr dirty="0"/>
            </a:br>
            <a:r>
              <a:rPr dirty="0" err="1"/>
              <a:t>Analisis</a:t>
            </a:r>
            <a:r>
              <a:rPr dirty="0"/>
              <a:t> ANOVA vs Permutation, </a:t>
            </a:r>
            <a:r>
              <a:rPr dirty="0" err="1"/>
              <a:t>serta</a:t>
            </a:r>
            <a:r>
              <a:rPr dirty="0"/>
              <a:t> </a:t>
            </a:r>
            <a:r>
              <a:rPr dirty="0" err="1"/>
              <a:t>Bedah</a:t>
            </a:r>
            <a:r>
              <a:rPr dirty="0"/>
              <a:t> </a:t>
            </a:r>
            <a:r>
              <a:rPr dirty="0" err="1"/>
              <a:t>Tuntas</a:t>
            </a:r>
            <a:r>
              <a:rPr dirty="0"/>
              <a:t> 15 </a:t>
            </a:r>
            <a:r>
              <a:rPr dirty="0" err="1"/>
              <a:t>Pertanyaan</a:t>
            </a:r>
            <a:r>
              <a:rPr dirty="0"/>
              <a:t> </a:t>
            </a:r>
            <a:r>
              <a:rPr dirty="0" err="1"/>
              <a:t>Refleksi</a:t>
            </a:r>
            <a:r>
              <a:rPr dirty="0"/>
              <a:t> Tim.</a:t>
            </a:r>
          </a:p>
          <a:p>
            <a:pPr>
              <a:spcBef>
                <a:spcPts val="2000"/>
              </a:spcBef>
              <a:defRPr sz="1200" i="1">
                <a:solidFill>
                  <a:srgbClr val="059669"/>
                </a:solidFill>
                <a:latin typeface="Arial"/>
              </a:defRPr>
            </a:pPr>
            <a:r>
              <a:rPr dirty="0" err="1"/>
              <a:t>Disusun</a:t>
            </a:r>
            <a:r>
              <a:rPr dirty="0"/>
              <a:t> </a:t>
            </a:r>
            <a:r>
              <a:rPr dirty="0" err="1"/>
              <a:t>secara</a:t>
            </a:r>
            <a:r>
              <a:rPr dirty="0"/>
              <a:t> </a:t>
            </a:r>
            <a:r>
              <a:rPr dirty="0" err="1"/>
              <a:t>Presisi</a:t>
            </a:r>
            <a:r>
              <a:rPr dirty="0"/>
              <a:t> </a:t>
            </a:r>
            <a:r>
              <a:rPr dirty="0" err="1"/>
              <a:t>Menggunakan</a:t>
            </a:r>
            <a:r>
              <a:rPr dirty="0"/>
              <a:t> </a:t>
            </a:r>
            <a:r>
              <a:rPr dirty="0" err="1"/>
              <a:t>Grafik</a:t>
            </a:r>
            <a:r>
              <a:rPr dirty="0"/>
              <a:t> </a:t>
            </a:r>
            <a:r>
              <a:rPr dirty="0" err="1"/>
              <a:t>Otentik</a:t>
            </a:r>
            <a:r>
              <a:rPr dirty="0"/>
              <a:t> Notebook </a:t>
            </a:r>
            <a:r>
              <a:rPr dirty="0" err="1"/>
              <a:t>Tanpa</a:t>
            </a:r>
            <a:r>
              <a:rPr dirty="0"/>
              <a:t> Overlap </a:t>
            </a:r>
            <a:r>
              <a:rPr dirty="0" err="1"/>
              <a:t>atau</a:t>
            </a:r>
            <a:r>
              <a:rPr dirty="0"/>
              <a:t> </a:t>
            </a:r>
            <a:r>
              <a:rPr dirty="0" err="1"/>
              <a:t>Redundansi</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Kamus Istilah Bagian 1: Fisika &amp; Spektroskopi</a:t>
            </a:r>
          </a:p>
          <a:p>
            <a:pPr>
              <a:defRPr sz="1250">
                <a:solidFill>
                  <a:srgbClr val="A7F3D0"/>
                </a:solidFill>
                <a:latin typeface="Arial"/>
              </a:defRPr>
            </a:pPr>
            <a:r>
              <a:t>Penjelasan harfiah bahasa manusia untuk memahami interaksi cahaya dengan materi</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2 of 36</a:t>
            </a:r>
          </a:p>
        </p:txBody>
      </p:sp>
      <p:sp>
        <p:nvSpPr>
          <p:cNvPr id="4" name="Rounded Rectangle 3"/>
          <p:cNvSpPr/>
          <p:nvPr/>
        </p:nvSpPr>
        <p:spPr>
          <a:xfrm>
            <a:off x="548640" y="1371600"/>
            <a:ext cx="34747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371600"/>
            <a:ext cx="3474720" cy="502920"/>
          </a:xfrm>
          <a:prstGeom prst="round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Spektroskopi &amp; Cahaya</a:t>
            </a:r>
          </a:p>
        </p:txBody>
      </p:sp>
      <p:sp>
        <p:nvSpPr>
          <p:cNvPr id="6" name="TextBox 5"/>
          <p:cNvSpPr txBox="1"/>
          <p:nvPr/>
        </p:nvSpPr>
        <p:spPr>
          <a:xfrm>
            <a:off x="685800" y="1920240"/>
            <a:ext cx="3200400" cy="4133088"/>
          </a:xfrm>
          <a:prstGeom prst="rect">
            <a:avLst/>
          </a:prstGeom>
          <a:noFill/>
        </p:spPr>
        <p:txBody>
          <a:bodyPr wrap="square" tIns="73152">
            <a:spAutoFit/>
          </a:bodyPr>
          <a:lstStyle/>
          <a:p>
            <a:pPr>
              <a:defRPr sz="1150">
                <a:solidFill>
                  <a:srgbClr val="0F172A"/>
                </a:solidFill>
                <a:latin typeface="Arial"/>
              </a:defRPr>
            </a:pPr>
            <a:r>
              <a:t>• Spektroskopi: Ilmu fisika tentang bagaimana cahaya berinteraksi dengan materi biologis.</a:t>
            </a:r>
          </a:p>
          <a:p>
            <a:pPr>
              <a:spcBef>
                <a:spcPts val="600"/>
              </a:spcBef>
              <a:defRPr sz="1150">
                <a:solidFill>
                  <a:srgbClr val="0F172A"/>
                </a:solidFill>
                <a:latin typeface="Arial"/>
              </a:defRPr>
            </a:pPr>
            <a:r>
              <a:t>• Foton: Partikel/paket energi terkecil penyusun cahaya.</a:t>
            </a:r>
          </a:p>
          <a:p>
            <a:pPr>
              <a:spcBef>
                <a:spcPts val="600"/>
              </a:spcBef>
              <a:defRPr sz="1150">
                <a:solidFill>
                  <a:srgbClr val="0F172A"/>
                </a:solidFill>
                <a:latin typeface="Arial"/>
              </a:defRPr>
            </a:pPr>
            <a:r>
              <a:t>• Nanometer (nm): Satuan ukuran panjang gelombang cahaya (1 nm = sepermiliar meter).</a:t>
            </a:r>
          </a:p>
          <a:p>
            <a:pPr>
              <a:spcBef>
                <a:spcPts val="600"/>
              </a:spcBef>
              <a:defRPr sz="1150">
                <a:solidFill>
                  <a:srgbClr val="0F172A"/>
                </a:solidFill>
                <a:latin typeface="Arial"/>
              </a:defRPr>
            </a:pPr>
            <a:r>
              <a:t>• Visible Light (400-700 nm): Cahaya yang tampak oleh mata manusia (Merah, Kuning, Hijau, Biru).</a:t>
            </a:r>
          </a:p>
        </p:txBody>
      </p:sp>
      <p:sp>
        <p:nvSpPr>
          <p:cNvPr id="7" name="Rounded Rectangle 6"/>
          <p:cNvSpPr/>
          <p:nvPr/>
        </p:nvSpPr>
        <p:spPr>
          <a:xfrm>
            <a:off x="4358030" y="1371600"/>
            <a:ext cx="34747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58030" y="1371600"/>
            <a:ext cx="3474720" cy="5029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NIR &amp; Red-Edge</a:t>
            </a:r>
          </a:p>
        </p:txBody>
      </p:sp>
      <p:sp>
        <p:nvSpPr>
          <p:cNvPr id="9" name="TextBox 8"/>
          <p:cNvSpPr txBox="1"/>
          <p:nvPr/>
        </p:nvSpPr>
        <p:spPr>
          <a:xfrm>
            <a:off x="4495190" y="1920240"/>
            <a:ext cx="3200400" cy="4133088"/>
          </a:xfrm>
          <a:prstGeom prst="rect">
            <a:avLst/>
          </a:prstGeom>
          <a:noFill/>
        </p:spPr>
        <p:txBody>
          <a:bodyPr wrap="square" tIns="73152">
            <a:spAutoFit/>
          </a:bodyPr>
          <a:lstStyle/>
          <a:p>
            <a:pPr>
              <a:defRPr sz="1150">
                <a:solidFill>
                  <a:srgbClr val="0F172A"/>
                </a:solidFill>
                <a:latin typeface="Arial"/>
              </a:defRPr>
            </a:pPr>
            <a:r>
              <a:t>• Near-Infrared / NIR (700-1100 nm): Inframerah dekat yang tidak terlihat mata, tetapi mampu menembus ke dalam jaringan daging buah.</a:t>
            </a:r>
          </a:p>
          <a:p>
            <a:pPr>
              <a:spcBef>
                <a:spcPts val="600"/>
              </a:spcBef>
              <a:defRPr sz="1150">
                <a:solidFill>
                  <a:srgbClr val="0F172A"/>
                </a:solidFill>
                <a:latin typeface="Arial"/>
              </a:defRPr>
            </a:pPr>
            <a:r>
              <a:t>• Red-Edge (680-730 nm): Daerah transisi antara merah dan NIR penentu stres sel tumbuhan.</a:t>
            </a:r>
          </a:p>
          <a:p>
            <a:pPr>
              <a:spcBef>
                <a:spcPts val="600"/>
              </a:spcBef>
              <a:defRPr sz="1150">
                <a:solidFill>
                  <a:srgbClr val="0F172A"/>
                </a:solidFill>
                <a:latin typeface="Arial"/>
              </a:defRPr>
            </a:pPr>
            <a:r>
              <a:t>• Sensor AS7265x: Spektrometer miniatur 18 kanal pembaca cahaya 410-940 nm.</a:t>
            </a:r>
          </a:p>
        </p:txBody>
      </p:sp>
      <p:sp>
        <p:nvSpPr>
          <p:cNvPr id="10" name="Rounded Rectangle 9"/>
          <p:cNvSpPr/>
          <p:nvPr/>
        </p:nvSpPr>
        <p:spPr>
          <a:xfrm>
            <a:off x="8168335" y="1371600"/>
            <a:ext cx="34747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168335" y="1371600"/>
            <a:ext cx="3474720" cy="50292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Reflektansi &amp; Hamburan</a:t>
            </a:r>
          </a:p>
        </p:txBody>
      </p:sp>
      <p:sp>
        <p:nvSpPr>
          <p:cNvPr id="12" name="TextBox 11"/>
          <p:cNvSpPr txBox="1"/>
          <p:nvPr/>
        </p:nvSpPr>
        <p:spPr>
          <a:xfrm>
            <a:off x="8305495" y="1920240"/>
            <a:ext cx="3200400" cy="4133088"/>
          </a:xfrm>
          <a:prstGeom prst="rect">
            <a:avLst/>
          </a:prstGeom>
          <a:noFill/>
        </p:spPr>
        <p:txBody>
          <a:bodyPr wrap="square" tIns="73152">
            <a:spAutoFit/>
          </a:bodyPr>
          <a:lstStyle/>
          <a:p>
            <a:pPr>
              <a:defRPr sz="1150">
                <a:solidFill>
                  <a:srgbClr val="0F172A"/>
                </a:solidFill>
                <a:latin typeface="Arial"/>
              </a:defRPr>
            </a:pPr>
            <a:r>
              <a:t>• Reflektansi: Persentase cahaya pantul dibanding cahaya total lampu LED.</a:t>
            </a:r>
          </a:p>
          <a:p>
            <a:pPr>
              <a:spcBef>
                <a:spcPts val="600"/>
              </a:spcBef>
              <a:defRPr sz="1150">
                <a:solidFill>
                  <a:srgbClr val="0F172A"/>
                </a:solidFill>
                <a:latin typeface="Arial"/>
              </a:defRPr>
            </a:pPr>
            <a:r>
              <a:t>• Absorpsi (Penyerapan): Cahaya diserap oleh molekul air/pigmen dan hilang menjadi energi.</a:t>
            </a:r>
          </a:p>
          <a:p>
            <a:pPr>
              <a:spcBef>
                <a:spcPts val="600"/>
              </a:spcBef>
              <a:defRPr sz="1150">
                <a:solidFill>
                  <a:srgbClr val="0F172A"/>
                </a:solidFill>
                <a:latin typeface="Arial"/>
              </a:defRPr>
            </a:pPr>
            <a:r>
              <a:t>• Refleksi Spekular: Pantulan silau cermin di kulit luar.</a:t>
            </a:r>
          </a:p>
          <a:p>
            <a:pPr>
              <a:spcBef>
                <a:spcPts val="600"/>
              </a:spcBef>
              <a:defRPr sz="1150">
                <a:solidFill>
                  <a:srgbClr val="0F172A"/>
                </a:solidFill>
                <a:latin typeface="Arial"/>
              </a:defRPr>
            </a:pPr>
            <a:r>
              <a:t>• Hamburan Difus: Cahaya menembus masuk, memantul di dalam daging buah, lalu keluar membawa info cacat internal!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Kamus Istilah Bagian 2: Biologi, Kimia, &amp; Kopi</a:t>
            </a:r>
          </a:p>
          <a:p>
            <a:pPr>
              <a:defRPr sz="1250">
                <a:solidFill>
                  <a:srgbClr val="A7F3D0"/>
                </a:solidFill>
                <a:latin typeface="Arial"/>
              </a:defRPr>
            </a:pPr>
            <a:r>
              <a:t>Penjelasan konsep kimiawi pada kopi sangrai dan biologi pada buah jambu kristal</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3 of 36</a:t>
            </a:r>
          </a:p>
        </p:txBody>
      </p:sp>
      <p:sp>
        <p:nvSpPr>
          <p:cNvPr id="4" name="Rounded Rectangle 3"/>
          <p:cNvSpPr/>
          <p:nvPr/>
        </p:nvSpPr>
        <p:spPr>
          <a:xfrm>
            <a:off x="548640" y="1371600"/>
            <a:ext cx="53035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371600"/>
            <a:ext cx="5303520" cy="50292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Kimiawi Kopi Sangrai (Dataset PoC)</a:t>
            </a:r>
          </a:p>
        </p:txBody>
      </p:sp>
      <p:sp>
        <p:nvSpPr>
          <p:cNvPr id="6" name="TextBox 5"/>
          <p:cNvSpPr txBox="1"/>
          <p:nvPr/>
        </p:nvSpPr>
        <p:spPr>
          <a:xfrm>
            <a:off x="685800" y="1920240"/>
            <a:ext cx="5029200" cy="4133088"/>
          </a:xfrm>
          <a:prstGeom prst="rect">
            <a:avLst/>
          </a:prstGeom>
          <a:noFill/>
        </p:spPr>
        <p:txBody>
          <a:bodyPr wrap="square" tIns="73152">
            <a:spAutoFit/>
          </a:bodyPr>
          <a:lstStyle/>
          <a:p>
            <a:pPr>
              <a:defRPr sz="1200">
                <a:solidFill>
                  <a:srgbClr val="0F172A"/>
                </a:solidFill>
                <a:latin typeface="Arial"/>
              </a:defRPr>
            </a:pPr>
            <a:r>
              <a:t>• Agtron Value: Skala numerik standar internasional (0-100) industri kopi untuk mengukur derajat sangrai menggunakan alat khusus Agtron. Angka tinggi (&gt;70) = sangrai muda (Light); Angka rendah (&lt;50) = gelap (Dark).</a:t>
            </a:r>
          </a:p>
          <a:p>
            <a:pPr>
              <a:spcBef>
                <a:spcPts val="600"/>
              </a:spcBef>
              <a:defRPr sz="1200">
                <a:solidFill>
                  <a:srgbClr val="0F172A"/>
                </a:solidFill>
                <a:latin typeface="Arial"/>
              </a:defRPr>
            </a:pPr>
            <a:r>
              <a:t>• Reaksi Maillard: Reaksi kimiawi antara asam amino dan gula pereduksi akibat panas pemanggangan.</a:t>
            </a:r>
          </a:p>
          <a:p>
            <a:pPr>
              <a:spcBef>
                <a:spcPts val="600"/>
              </a:spcBef>
              <a:defRPr sz="1200">
                <a:solidFill>
                  <a:srgbClr val="0F172A"/>
                </a:solidFill>
                <a:latin typeface="Arial"/>
              </a:defRPr>
            </a:pPr>
            <a:r>
              <a:t>• Melanoidin: Senyawa pigmen cokelat gelap yang terbentuk dari Reaksi Maillard saat kopi disangrai.</a:t>
            </a:r>
          </a:p>
          <a:p>
            <a:pPr>
              <a:spcBef>
                <a:spcPts val="600"/>
              </a:spcBef>
              <a:defRPr sz="1200">
                <a:solidFill>
                  <a:srgbClr val="0F172A"/>
                </a:solidFill>
                <a:latin typeface="Arial"/>
              </a:defRPr>
            </a:pPr>
            <a:r>
              <a:t>• Kadar Air Kopi: Biji mentah punya air ~12%, saat disangrai matang menguap hilang menyisakan &lt;3%.</a:t>
            </a:r>
          </a:p>
        </p:txBody>
      </p:sp>
      <p:sp>
        <p:nvSpPr>
          <p:cNvPr id="7" name="Rounded Rectangle 6"/>
          <p:cNvSpPr/>
          <p:nvPr/>
        </p:nvSpPr>
        <p:spPr>
          <a:xfrm>
            <a:off x="6217920" y="1371600"/>
            <a:ext cx="539496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217920" y="1371600"/>
            <a:ext cx="5394960" cy="50292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Biologi Jambu Kristal (Dataset Primer)</a:t>
            </a:r>
          </a:p>
        </p:txBody>
      </p:sp>
      <p:sp>
        <p:nvSpPr>
          <p:cNvPr id="9" name="TextBox 8"/>
          <p:cNvSpPr txBox="1"/>
          <p:nvPr/>
        </p:nvSpPr>
        <p:spPr>
          <a:xfrm>
            <a:off x="6355080" y="1920240"/>
            <a:ext cx="5120640" cy="4133088"/>
          </a:xfrm>
          <a:prstGeom prst="rect">
            <a:avLst/>
          </a:prstGeom>
          <a:noFill/>
        </p:spPr>
        <p:txBody>
          <a:bodyPr wrap="square" tIns="73152">
            <a:spAutoFit/>
          </a:bodyPr>
          <a:lstStyle/>
          <a:p>
            <a:pPr>
              <a:defRPr sz="1200">
                <a:solidFill>
                  <a:srgbClr val="0F172A"/>
                </a:solidFill>
                <a:latin typeface="Arial"/>
              </a:defRPr>
            </a:pPr>
            <a:r>
              <a:t>• Klorofil: Pigmen hijau alami pada kulit jambu kristal segar.</a:t>
            </a:r>
          </a:p>
          <a:p>
            <a:pPr>
              <a:spcBef>
                <a:spcPts val="600"/>
              </a:spcBef>
              <a:defRPr sz="1200">
                <a:solidFill>
                  <a:srgbClr val="0F172A"/>
                </a:solidFill>
                <a:latin typeface="Arial"/>
              </a:defRPr>
            </a:pPr>
            <a:r>
              <a:t>• Ikatan Hidrogen Air (O-H): Ikatan kimiawi molekul air di dalam daging buah yang menyerap kuat foton cahaya NIR pada gelombang 940 nm.</a:t>
            </a:r>
          </a:p>
          <a:p>
            <a:pPr>
              <a:spcBef>
                <a:spcPts val="600"/>
              </a:spcBef>
              <a:defRPr sz="1200">
                <a:solidFill>
                  <a:srgbClr val="0F172A"/>
                </a:solidFill>
                <a:latin typeface="Arial"/>
              </a:defRPr>
            </a:pPr>
            <a:r>
              <a:t>• Oksidasi Fenolik (Browning): Pembusukan daging buah menjadi kecokelatan saat sel rusak terkena udara.</a:t>
            </a:r>
          </a:p>
          <a:p>
            <a:pPr>
              <a:spcBef>
                <a:spcPts val="600"/>
              </a:spcBef>
              <a:defRPr sz="1200">
                <a:solidFill>
                  <a:srgbClr val="0F172A"/>
                </a:solidFill>
                <a:latin typeface="Arial"/>
              </a:defRPr>
            </a:pPr>
            <a:r>
              <a:t>• Larva Lalat Buah (Bactrocera): Ulat hama yang bertelur lewat lubang jarum mikroskopis; kulit luar mulus, bagian tengah hancur berulat.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Kamus Istilah Bagian 3: Machine Learning &amp; Statistik</a:t>
            </a:r>
          </a:p>
          <a:p>
            <a:pPr>
              <a:defRPr sz="1250">
                <a:solidFill>
                  <a:srgbClr val="A7F3D0"/>
                </a:solidFill>
                <a:latin typeface="Arial"/>
              </a:defRPr>
            </a:pPr>
            <a:r>
              <a:t>Istilah pemodelan AI yang diterjemahkan ke bahasa sehari-hari yang mudah dipahami</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4 of 36</a:t>
            </a:r>
          </a:p>
        </p:txBody>
      </p:sp>
      <p:sp>
        <p:nvSpPr>
          <p:cNvPr id="4" name="Rounded Rectangle 3"/>
          <p:cNvSpPr/>
          <p:nvPr/>
        </p:nvSpPr>
        <p:spPr>
          <a:xfrm>
            <a:off x="548640" y="1371600"/>
            <a:ext cx="34747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371600"/>
            <a:ext cx="3474720" cy="502920"/>
          </a:xfrm>
          <a:prstGeom prst="round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Dasar Algoritma ML</a:t>
            </a:r>
          </a:p>
        </p:txBody>
      </p:sp>
      <p:sp>
        <p:nvSpPr>
          <p:cNvPr id="6" name="TextBox 5"/>
          <p:cNvSpPr txBox="1"/>
          <p:nvPr/>
        </p:nvSpPr>
        <p:spPr>
          <a:xfrm>
            <a:off x="685800" y="1920240"/>
            <a:ext cx="3200400" cy="4133088"/>
          </a:xfrm>
          <a:prstGeom prst="rect">
            <a:avLst/>
          </a:prstGeom>
          <a:noFill/>
        </p:spPr>
        <p:txBody>
          <a:bodyPr wrap="square" tIns="73152">
            <a:spAutoFit/>
          </a:bodyPr>
          <a:lstStyle/>
          <a:p>
            <a:pPr>
              <a:defRPr sz="1150">
                <a:solidFill>
                  <a:srgbClr val="0F172A"/>
                </a:solidFill>
                <a:latin typeface="Arial"/>
              </a:defRPr>
            </a:pPr>
            <a:r>
              <a:t>• Fitur (X): 18 kolom angka dari sensor AS7265x (indra mata model).</a:t>
            </a:r>
          </a:p>
          <a:p>
            <a:pPr>
              <a:spcBef>
                <a:spcPts val="600"/>
              </a:spcBef>
              <a:defRPr sz="1150">
                <a:solidFill>
                  <a:srgbClr val="0F172A"/>
                </a:solidFill>
                <a:latin typeface="Arial"/>
              </a:defRPr>
            </a:pPr>
            <a:r>
              <a:t>• Label/Target (y): Jawaban benar yang ingin ditebak model (kategori sangrai / status busuk).</a:t>
            </a:r>
          </a:p>
          <a:p>
            <a:pPr>
              <a:spcBef>
                <a:spcPts val="600"/>
              </a:spcBef>
              <a:defRPr sz="1150">
                <a:solidFill>
                  <a:srgbClr val="0F172A"/>
                </a:solidFill>
                <a:latin typeface="Arial"/>
              </a:defRPr>
            </a:pPr>
            <a:r>
              <a:t>• Klasifikasi: Memilah ke dalam kelas tegas (Normal vs Rusak).</a:t>
            </a:r>
          </a:p>
          <a:p>
            <a:pPr>
              <a:spcBef>
                <a:spcPts val="600"/>
              </a:spcBef>
              <a:defRPr sz="1150">
                <a:solidFill>
                  <a:srgbClr val="0F172A"/>
                </a:solidFill>
                <a:latin typeface="Arial"/>
              </a:defRPr>
            </a:pPr>
            <a:r>
              <a:t>• Regresi: Menebak angka numerik kontinu tepat (misal Agtron 58.4).</a:t>
            </a:r>
          </a:p>
          <a:p>
            <a:pPr>
              <a:spcBef>
                <a:spcPts val="600"/>
              </a:spcBef>
              <a:defRPr sz="1150">
                <a:solidFill>
                  <a:srgbClr val="0F172A"/>
                </a:solidFill>
                <a:latin typeface="Arial"/>
              </a:defRPr>
            </a:pPr>
            <a:r>
              <a:t>• Data Latih vs Uji: Soal latihan vs soal ujian akhir.</a:t>
            </a:r>
          </a:p>
        </p:txBody>
      </p:sp>
      <p:sp>
        <p:nvSpPr>
          <p:cNvPr id="7" name="Rounded Rectangle 6"/>
          <p:cNvSpPr/>
          <p:nvPr/>
        </p:nvSpPr>
        <p:spPr>
          <a:xfrm>
            <a:off x="4358030" y="1371600"/>
            <a:ext cx="34747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58030" y="1371600"/>
            <a:ext cx="3474720" cy="5029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Evaluasi &amp; Validasi</a:t>
            </a:r>
          </a:p>
        </p:txBody>
      </p:sp>
      <p:sp>
        <p:nvSpPr>
          <p:cNvPr id="9" name="TextBox 8"/>
          <p:cNvSpPr txBox="1"/>
          <p:nvPr/>
        </p:nvSpPr>
        <p:spPr>
          <a:xfrm>
            <a:off x="4495190" y="1920240"/>
            <a:ext cx="3200400" cy="4133088"/>
          </a:xfrm>
          <a:prstGeom prst="rect">
            <a:avLst/>
          </a:prstGeom>
          <a:noFill/>
        </p:spPr>
        <p:txBody>
          <a:bodyPr wrap="square" tIns="73152">
            <a:spAutoFit/>
          </a:bodyPr>
          <a:lstStyle/>
          <a:p>
            <a:pPr>
              <a:defRPr sz="1150">
                <a:solidFill>
                  <a:srgbClr val="0F172A"/>
                </a:solidFill>
                <a:latin typeface="Arial"/>
              </a:defRPr>
            </a:pPr>
            <a:r>
              <a:t>• Overfitting: Penyakit model 'menghafal mati' soal latihan (100%), tapi hancur saat menemui buah baru.</a:t>
            </a:r>
          </a:p>
          <a:p>
            <a:pPr>
              <a:spcBef>
                <a:spcPts val="600"/>
              </a:spcBef>
              <a:defRPr sz="1150">
                <a:solidFill>
                  <a:srgbClr val="0F172A"/>
                </a:solidFill>
                <a:latin typeface="Arial"/>
              </a:defRPr>
            </a:pPr>
            <a:r>
              <a:t>• Cross-Validation (CV): Ujian berulang dengan membagi data agar yakin akurasi model konsisten.</a:t>
            </a:r>
          </a:p>
          <a:p>
            <a:pPr>
              <a:spcBef>
                <a:spcPts val="600"/>
              </a:spcBef>
              <a:defRPr sz="1150">
                <a:solidFill>
                  <a:srgbClr val="0F172A"/>
                </a:solidFill>
                <a:latin typeface="Arial"/>
              </a:defRPr>
            </a:pPr>
            <a:r>
              <a:t>• GroupKFold: Mengelompokkan semua scan ulang dari 1 buah fisik yang sama agar tidak dipisah latih/uji (mencegah manipulasi akurasi).</a:t>
            </a:r>
          </a:p>
          <a:p>
            <a:pPr>
              <a:spcBef>
                <a:spcPts val="600"/>
              </a:spcBef>
              <a:defRPr sz="1150">
                <a:solidFill>
                  <a:srgbClr val="0F172A"/>
                </a:solidFill>
                <a:latin typeface="Arial"/>
              </a:defRPr>
            </a:pPr>
            <a:r>
              <a:t>• Confusion Matrix: Tabel rincian tebakan benar dan salah.</a:t>
            </a:r>
          </a:p>
        </p:txBody>
      </p:sp>
      <p:sp>
        <p:nvSpPr>
          <p:cNvPr id="10" name="Rounded Rectangle 9"/>
          <p:cNvSpPr/>
          <p:nvPr/>
        </p:nvSpPr>
        <p:spPr>
          <a:xfrm>
            <a:off x="8168335" y="1371600"/>
            <a:ext cx="34747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168335" y="1371600"/>
            <a:ext cx="3474720" cy="50292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Metrik &amp; Preprocessing</a:t>
            </a:r>
          </a:p>
        </p:txBody>
      </p:sp>
      <p:sp>
        <p:nvSpPr>
          <p:cNvPr id="12" name="TextBox 11"/>
          <p:cNvSpPr txBox="1"/>
          <p:nvPr/>
        </p:nvSpPr>
        <p:spPr>
          <a:xfrm>
            <a:off x="8305495" y="1920240"/>
            <a:ext cx="3200400" cy="4133088"/>
          </a:xfrm>
          <a:prstGeom prst="rect">
            <a:avLst/>
          </a:prstGeom>
          <a:noFill/>
        </p:spPr>
        <p:txBody>
          <a:bodyPr wrap="square" tIns="73152">
            <a:spAutoFit/>
          </a:bodyPr>
          <a:lstStyle/>
          <a:p>
            <a:pPr>
              <a:defRPr sz="1150">
                <a:solidFill>
                  <a:srgbClr val="0F172A"/>
                </a:solidFill>
                <a:latin typeface="Arial"/>
              </a:defRPr>
            </a:pPr>
            <a:r>
              <a:t>• False Negative (FN): Bahaya fatal buah rusak keliru ditebak normal.</a:t>
            </a:r>
          </a:p>
          <a:p>
            <a:pPr>
              <a:spcBef>
                <a:spcPts val="600"/>
              </a:spcBef>
              <a:defRPr sz="1150">
                <a:solidFill>
                  <a:srgbClr val="0F172A"/>
                </a:solidFill>
                <a:latin typeface="Arial"/>
              </a:defRPr>
            </a:pPr>
            <a:r>
              <a:t>• False Positive (FP): Buah sehat keliru ditebak rusak.</a:t>
            </a:r>
          </a:p>
          <a:p>
            <a:pPr>
              <a:spcBef>
                <a:spcPts val="600"/>
              </a:spcBef>
              <a:defRPr sz="1150">
                <a:solidFill>
                  <a:srgbClr val="0F172A"/>
                </a:solidFill>
                <a:latin typeface="Arial"/>
              </a:defRPr>
            </a:pPr>
            <a:r>
              <a:t>• StandardScaler: Rumus menyetarakan skala agar angka ribuan tidak menindas angka puluhan.</a:t>
            </a:r>
          </a:p>
          <a:p>
            <a:pPr>
              <a:spcBef>
                <a:spcPts val="600"/>
              </a:spcBef>
              <a:defRPr sz="1150">
                <a:solidFill>
                  <a:srgbClr val="0F172A"/>
                </a:solidFill>
                <a:latin typeface="Arial"/>
              </a:defRPr>
            </a:pPr>
            <a:r>
              <a:t>• Permutation Importance: Menguji vitalitas kolom dengan mengacak angkanya; jika akurasi hancur, kolom itu vital.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Latar Belakang &amp; Masalah Bisnis Quality Control Jambu Kristal</a:t>
            </a:r>
          </a:p>
          <a:p>
            <a:pPr>
              <a:defRPr sz="1250">
                <a:solidFill>
                  <a:srgbClr val="A7F3D0"/>
                </a:solidFill>
                <a:latin typeface="Arial"/>
              </a:defRPr>
            </a:pPr>
            <a:r>
              <a:t>Mengapa cara sortasi manual tradisional gagal dan membahayakan bisnis buah premium?</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5 of 36</a:t>
            </a:r>
          </a:p>
        </p:txBody>
      </p:sp>
      <p:sp>
        <p:nvSpPr>
          <p:cNvPr id="4" name="Rounded Rectangle 3"/>
          <p:cNvSpPr/>
          <p:nvPr/>
        </p:nvSpPr>
        <p:spPr>
          <a:xfrm>
            <a:off x="548640" y="1371600"/>
            <a:ext cx="34747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371600"/>
            <a:ext cx="3474720" cy="50292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1. Kelemahan Sortasi Manual</a:t>
            </a:r>
          </a:p>
        </p:txBody>
      </p:sp>
      <p:sp>
        <p:nvSpPr>
          <p:cNvPr id="6" name="TextBox 5"/>
          <p:cNvSpPr txBox="1"/>
          <p:nvPr/>
        </p:nvSpPr>
        <p:spPr>
          <a:xfrm>
            <a:off x="685800" y="1920240"/>
            <a:ext cx="3200400" cy="4133088"/>
          </a:xfrm>
          <a:prstGeom prst="rect">
            <a:avLst/>
          </a:prstGeom>
          <a:noFill/>
        </p:spPr>
        <p:txBody>
          <a:bodyPr wrap="square" tIns="73152">
            <a:spAutoFit/>
          </a:bodyPr>
          <a:lstStyle/>
          <a:p>
            <a:pPr>
              <a:defRPr sz="1100">
                <a:solidFill>
                  <a:srgbClr val="0F172A"/>
                </a:solidFill>
                <a:latin typeface="Arial"/>
              </a:defRPr>
            </a:pPr>
            <a:r>
              <a:t>• Subjektivitas Tinggi: Penilaian visual &amp; ketukan jari sangat bergantung pada mood/pengalaman pekerja.</a:t>
            </a:r>
          </a:p>
          <a:p>
            <a:pPr>
              <a:spcBef>
                <a:spcPts val="600"/>
              </a:spcBef>
              <a:defRPr sz="1100">
                <a:solidFill>
                  <a:srgbClr val="0F172A"/>
                </a:solidFill>
                <a:latin typeface="Arial"/>
              </a:defRPr>
            </a:pPr>
            <a:r>
              <a:t>• Kelelahan Manusia: Mata pekerja mengalami penurunan fokus setelah jam kerja panjang, memicu human error.</a:t>
            </a:r>
          </a:p>
          <a:p>
            <a:pPr>
              <a:spcBef>
                <a:spcPts val="600"/>
              </a:spcBef>
              <a:defRPr sz="1100">
                <a:solidFill>
                  <a:srgbClr val="0F172A"/>
                </a:solidFill>
                <a:latin typeface="Arial"/>
              </a:defRPr>
            </a:pPr>
            <a:r>
              <a:t>• Inkonsistensi Standar: Kualitas pengiriman antar-batch ke supermarket tidak pernah stabil seragam.</a:t>
            </a:r>
          </a:p>
        </p:txBody>
      </p:sp>
      <p:sp>
        <p:nvSpPr>
          <p:cNvPr id="7" name="Rounded Rectangle 6"/>
          <p:cNvSpPr/>
          <p:nvPr/>
        </p:nvSpPr>
        <p:spPr>
          <a:xfrm>
            <a:off x="4358030" y="1371600"/>
            <a:ext cx="34747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58030" y="1371600"/>
            <a:ext cx="3474720" cy="50292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2. Ancaman Cacat Internal</a:t>
            </a:r>
          </a:p>
        </p:txBody>
      </p:sp>
      <p:sp>
        <p:nvSpPr>
          <p:cNvPr id="9" name="TextBox 8"/>
          <p:cNvSpPr txBox="1"/>
          <p:nvPr/>
        </p:nvSpPr>
        <p:spPr>
          <a:xfrm>
            <a:off x="4495190" y="1920240"/>
            <a:ext cx="3200400" cy="4133088"/>
          </a:xfrm>
          <a:prstGeom prst="rect">
            <a:avLst/>
          </a:prstGeom>
          <a:noFill/>
        </p:spPr>
        <p:txBody>
          <a:bodyPr wrap="square" tIns="73152">
            <a:spAutoFit/>
          </a:bodyPr>
          <a:lstStyle/>
          <a:p>
            <a:pPr>
              <a:defRPr sz="1100">
                <a:solidFill>
                  <a:srgbClr val="0F172A"/>
                </a:solidFill>
                <a:latin typeface="Arial"/>
              </a:defRPr>
            </a:pPr>
            <a:r>
              <a:t>• Serangan Lalat Buah: Betina menaruh telur lewat lubang mikroskopis pada kulit luar yang normal.</a:t>
            </a:r>
          </a:p>
          <a:p>
            <a:pPr>
              <a:spcBef>
                <a:spcPts val="600"/>
              </a:spcBef>
              <a:defRPr sz="1100">
                <a:solidFill>
                  <a:srgbClr val="0F172A"/>
                </a:solidFill>
                <a:latin typeface="Arial"/>
              </a:defRPr>
            </a:pPr>
            <a:r>
              <a:t>• Luar Mulus, Dalam Busuk: Secara visual luar buah tampak sempurna mulus, tetapi daging tengahnya hancur berulat.</a:t>
            </a:r>
          </a:p>
          <a:p>
            <a:pPr>
              <a:spcBef>
                <a:spcPts val="600"/>
              </a:spcBef>
              <a:defRPr sz="1100">
                <a:solidFill>
                  <a:srgbClr val="0F172A"/>
                </a:solidFill>
                <a:latin typeface="Arial"/>
              </a:defRPr>
            </a:pPr>
            <a:r>
              <a:t>• Kegagalan Kamera RGB: Kamera biasa atau mata manusia tidak mampu menembus ke bawah kulit buah.</a:t>
            </a:r>
          </a:p>
        </p:txBody>
      </p:sp>
      <p:sp>
        <p:nvSpPr>
          <p:cNvPr id="10" name="Rounded Rectangle 9"/>
          <p:cNvSpPr/>
          <p:nvPr/>
        </p:nvSpPr>
        <p:spPr>
          <a:xfrm>
            <a:off x="8168335" y="1371600"/>
            <a:ext cx="34747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168335" y="1371600"/>
            <a:ext cx="3474720" cy="502920"/>
          </a:xfrm>
          <a:prstGeom prst="round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3. Risiko Finansial &amp; Reputasi</a:t>
            </a:r>
          </a:p>
        </p:txBody>
      </p:sp>
      <p:sp>
        <p:nvSpPr>
          <p:cNvPr id="12" name="TextBox 11"/>
          <p:cNvSpPr txBox="1"/>
          <p:nvPr/>
        </p:nvSpPr>
        <p:spPr>
          <a:xfrm>
            <a:off x="8305495" y="1920240"/>
            <a:ext cx="3200400" cy="4133088"/>
          </a:xfrm>
          <a:prstGeom prst="rect">
            <a:avLst/>
          </a:prstGeom>
          <a:noFill/>
        </p:spPr>
        <p:txBody>
          <a:bodyPr wrap="square" tIns="73152">
            <a:spAutoFit/>
          </a:bodyPr>
          <a:lstStyle/>
          <a:p>
            <a:pPr>
              <a:defRPr sz="1100">
                <a:solidFill>
                  <a:srgbClr val="0F172A"/>
                </a:solidFill>
                <a:latin typeface="Arial"/>
              </a:defRPr>
            </a:pPr>
            <a:r>
              <a:t>• Komplain Fatal Konsumen: Pembeli menemukan ulat di buah bermerek BuahSafe -&gt; kepercayaan hancur.</a:t>
            </a:r>
          </a:p>
          <a:p>
            <a:pPr>
              <a:spcBef>
                <a:spcPts val="600"/>
              </a:spcBef>
              <a:defRPr sz="1100">
                <a:solidFill>
                  <a:srgbClr val="0F172A"/>
                </a:solidFill>
                <a:latin typeface="Arial"/>
              </a:defRPr>
            </a:pPr>
            <a:r>
              <a:t>• Putus Kontrak Supermarket: Manajemen ritel modern dapat memutus pasokan permanen akibat cacat mutu.</a:t>
            </a:r>
          </a:p>
          <a:p>
            <a:pPr>
              <a:spcBef>
                <a:spcPts val="600"/>
              </a:spcBef>
              <a:defRPr sz="1100">
                <a:solidFill>
                  <a:srgbClr val="0F172A"/>
                </a:solidFill>
                <a:latin typeface="Arial"/>
              </a:defRPr>
            </a:pPr>
            <a:r>
              <a:t>• Biaya False Negative Tinggi: Meloloskan buah rusak jauh lebih merugikan daripada menolak buah sehat.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First Principles Spektroskopi &amp; Hamburan Difus</a:t>
            </a:r>
          </a:p>
          <a:p>
            <a:pPr>
              <a:defRPr sz="1250">
                <a:solidFill>
                  <a:srgbClr val="A7F3D0"/>
                </a:solidFill>
                <a:latin typeface="Arial"/>
              </a:defRPr>
            </a:pPr>
            <a:r>
              <a:t>Ilustrasi visual bagaimana foton NIR menembus ke bawah kulit buah</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6 of 36</a:t>
            </a:r>
          </a:p>
        </p:txBody>
      </p:sp>
      <p:pic>
        <p:nvPicPr>
          <p:cNvPr id="4" name="Picture 3" descr="asset_1_subsurface_scattering.png"/>
          <p:cNvPicPr>
            <a:picLocks noChangeAspect="1"/>
          </p:cNvPicPr>
          <p:nvPr/>
        </p:nvPicPr>
        <p:blipFill>
          <a:blip r:embed="rId2"/>
          <a:stretch>
            <a:fillRect/>
          </a:stretch>
        </p:blipFill>
        <p:spPr>
          <a:xfrm>
            <a:off x="548640" y="1371600"/>
            <a:ext cx="5943600" cy="3685032"/>
          </a:xfrm>
          <a:prstGeom prst="rect">
            <a:avLst/>
          </a:prstGeom>
        </p:spPr>
      </p:pic>
      <p:sp>
        <p:nvSpPr>
          <p:cNvPr id="5" name="Rounded Rectangle 4"/>
          <p:cNvSpPr/>
          <p:nvPr/>
        </p:nvSpPr>
        <p:spPr>
          <a:xfrm>
            <a:off x="6675120" y="1371600"/>
            <a:ext cx="493776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675120" y="1371600"/>
            <a:ext cx="4937760" cy="502920"/>
          </a:xfrm>
          <a:prstGeom prst="round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Analisis Kausalitas Fisika NDT</a:t>
            </a:r>
          </a:p>
        </p:txBody>
      </p:sp>
      <p:sp>
        <p:nvSpPr>
          <p:cNvPr id="7" name="TextBox 6"/>
          <p:cNvSpPr txBox="1"/>
          <p:nvPr/>
        </p:nvSpPr>
        <p:spPr>
          <a:xfrm>
            <a:off x="6812280" y="1920240"/>
            <a:ext cx="4663440" cy="4133088"/>
          </a:xfrm>
          <a:prstGeom prst="rect">
            <a:avLst/>
          </a:prstGeom>
          <a:noFill/>
        </p:spPr>
        <p:txBody>
          <a:bodyPr wrap="square" tIns="73152">
            <a:spAutoFit/>
          </a:bodyPr>
          <a:lstStyle/>
          <a:p>
            <a:pPr>
              <a:defRPr sz="1150">
                <a:solidFill>
                  <a:srgbClr val="0F172A"/>
                </a:solidFill>
                <a:latin typeface="Arial"/>
              </a:defRPr>
            </a:pPr>
            <a:r>
              <a:t>• 1. Absorpsi (Penyerapan Molekuler):</a:t>
            </a:r>
            <a:br/>
            <a:r>
              <a:t>Foton diserap oleh ikatan kimia spesifik (O-H pada air, C-H pada gula, klorofil) untuk menggetarkan molekul.</a:t>
            </a:r>
          </a:p>
          <a:p>
            <a:pPr>
              <a:spcBef>
                <a:spcPts val="600"/>
              </a:spcBef>
              <a:defRPr sz="1150">
                <a:solidFill>
                  <a:srgbClr val="0F172A"/>
                </a:solidFill>
                <a:latin typeface="Arial"/>
              </a:defRPr>
            </a:pPr>
            <a:r>
              <a:t>• 2. Refleksi Spekular (Pantulan Permukaan):</a:t>
            </a:r>
            <a:br/>
            <a:r>
              <a:t>Cahaya memantul langsung di permukaan lilin kulit luar seperti cermin (tidak membawa informasi internal).</a:t>
            </a:r>
          </a:p>
          <a:p>
            <a:pPr>
              <a:spcBef>
                <a:spcPts val="600"/>
              </a:spcBef>
              <a:defRPr sz="1150">
                <a:solidFill>
                  <a:srgbClr val="0F172A"/>
                </a:solidFill>
                <a:latin typeface="Arial"/>
              </a:defRPr>
            </a:pPr>
            <a:r>
              <a:t>• 3. Hamburan Difus (Sub-Surface Scattering):</a:t>
            </a:r>
            <a:br/>
            <a:r>
              <a:t>Cahaya menembus masuk ke jaringan bawah kulit, memantul berulang kali di antara dinding sel daging buah, lalu keluar kembali membawa 'rekam sidik jari' struktur internal menuju sensor!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Alur Kausalitas Fisika - Kimia - Biologi Kerusakan Buah</a:t>
            </a:r>
          </a:p>
          <a:p>
            <a:pPr>
              <a:defRPr sz="1250">
                <a:solidFill>
                  <a:srgbClr val="A7F3D0"/>
                </a:solidFill>
                <a:latin typeface="Arial"/>
              </a:defRPr>
            </a:pPr>
            <a:r>
              <a:t>Penjelasan komprehensif tanpa redundansi mengenai rantai kejadian dari hama ke sensor</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7 of 36</a:t>
            </a:r>
          </a:p>
        </p:txBody>
      </p:sp>
      <p:sp>
        <p:nvSpPr>
          <p:cNvPr id="4" name="Rounded Rectangle 3"/>
          <p:cNvSpPr/>
          <p:nvPr/>
        </p:nvSpPr>
        <p:spPr>
          <a:xfrm>
            <a:off x="548640" y="1371600"/>
            <a:ext cx="25603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371600"/>
            <a:ext cx="2560320" cy="50292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1. Sebab Biologi</a:t>
            </a:r>
          </a:p>
        </p:txBody>
      </p:sp>
      <p:sp>
        <p:nvSpPr>
          <p:cNvPr id="6" name="TextBox 5"/>
          <p:cNvSpPr txBox="1"/>
          <p:nvPr/>
        </p:nvSpPr>
        <p:spPr>
          <a:xfrm>
            <a:off x="685800" y="1920240"/>
            <a:ext cx="2286000" cy="4133088"/>
          </a:xfrm>
          <a:prstGeom prst="rect">
            <a:avLst/>
          </a:prstGeom>
          <a:noFill/>
        </p:spPr>
        <p:txBody>
          <a:bodyPr wrap="square" tIns="73152">
            <a:spAutoFit/>
          </a:bodyPr>
          <a:lstStyle/>
          <a:p>
            <a:pPr>
              <a:defRPr sz="1100">
                <a:solidFill>
                  <a:srgbClr val="0F172A"/>
                </a:solidFill>
                <a:latin typeface="Arial"/>
              </a:defRPr>
            </a:pPr>
            <a:r>
              <a:t>• Penetrasi Hama:</a:t>
            </a:r>
            <a:br/>
            <a:r>
              <a:t>Lalat buah betina (Bactrocera) menusukkan ovipositor ke bawah kulit buah jambu yang masih muda.</a:t>
            </a:r>
          </a:p>
          <a:p>
            <a:pPr>
              <a:spcBef>
                <a:spcPts val="600"/>
              </a:spcBef>
              <a:defRPr sz="1100">
                <a:solidFill>
                  <a:srgbClr val="0F172A"/>
                </a:solidFill>
                <a:latin typeface="Arial"/>
              </a:defRPr>
            </a:pPr>
            <a:r>
              <a:t>• Perkembangan Larva:</a:t>
            </a:r>
            <a:br/>
            <a:r>
              <a:t>Telur menetas menjadi larva/ulat yang mulai memakan jaringan daging buah dari dalam menuju ke rongga tengah.</a:t>
            </a:r>
          </a:p>
          <a:p>
            <a:pPr>
              <a:spcBef>
                <a:spcPts val="600"/>
              </a:spcBef>
              <a:defRPr sz="1100">
                <a:solidFill>
                  <a:srgbClr val="0F172A"/>
                </a:solidFill>
                <a:latin typeface="Arial"/>
              </a:defRPr>
            </a:pPr>
            <a:r>
              <a:t>• Infeksi Sekunder:</a:t>
            </a:r>
            <a:br/>
            <a:r>
              <a:t>Luka gigitan ulat memicu datangnya mikroorganisme dan jamur pembusuk jaringan.</a:t>
            </a:r>
          </a:p>
        </p:txBody>
      </p:sp>
      <p:sp>
        <p:nvSpPr>
          <p:cNvPr id="7" name="Rounded Rectangle 6"/>
          <p:cNvSpPr/>
          <p:nvPr/>
        </p:nvSpPr>
        <p:spPr>
          <a:xfrm>
            <a:off x="3364992" y="1371600"/>
            <a:ext cx="25603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364992" y="1371600"/>
            <a:ext cx="2560320" cy="50292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2. Sebab Kimiawi</a:t>
            </a:r>
          </a:p>
        </p:txBody>
      </p:sp>
      <p:sp>
        <p:nvSpPr>
          <p:cNvPr id="9" name="TextBox 8"/>
          <p:cNvSpPr txBox="1"/>
          <p:nvPr/>
        </p:nvSpPr>
        <p:spPr>
          <a:xfrm>
            <a:off x="3502152" y="1920240"/>
            <a:ext cx="2286000" cy="4133088"/>
          </a:xfrm>
          <a:prstGeom prst="rect">
            <a:avLst/>
          </a:prstGeom>
          <a:noFill/>
        </p:spPr>
        <p:txBody>
          <a:bodyPr wrap="square" tIns="73152">
            <a:spAutoFit/>
          </a:bodyPr>
          <a:lstStyle/>
          <a:p>
            <a:pPr>
              <a:defRPr sz="1100">
                <a:solidFill>
                  <a:srgbClr val="0F172A"/>
                </a:solidFill>
                <a:latin typeface="Arial"/>
              </a:defRPr>
            </a:pPr>
            <a:r>
              <a:t>• Degradasi Seluler:</a:t>
            </a:r>
            <a:br/>
            <a:r>
              <a:t>Dinding sel daging buah (pektin &amp; selulosa) hancur dan lisis akibat aktivitas enzimatis larva.</a:t>
            </a:r>
          </a:p>
          <a:p>
            <a:pPr>
              <a:spcBef>
                <a:spcPts val="600"/>
              </a:spcBef>
              <a:defRPr sz="1100">
                <a:solidFill>
                  <a:srgbClr val="0F172A"/>
                </a:solidFill>
                <a:latin typeface="Arial"/>
              </a:defRPr>
            </a:pPr>
            <a:r>
              <a:t>• Akumulasi Cairan:</a:t>
            </a:r>
            <a:br/>
            <a:r>
              <a:t>Sel yang hancur melepaskan kandungan air berlebih ke dalam rongga busuk, meningkatkan ikatan hidrogen (O-H).</a:t>
            </a:r>
          </a:p>
          <a:p>
            <a:pPr>
              <a:spcBef>
                <a:spcPts val="600"/>
              </a:spcBef>
              <a:defRPr sz="1100">
                <a:solidFill>
                  <a:srgbClr val="0F172A"/>
                </a:solidFill>
                <a:latin typeface="Arial"/>
              </a:defRPr>
            </a:pPr>
            <a:r>
              <a:t>• Oksidasi Fenolik:</a:t>
            </a:r>
            <a:br/>
            <a:r>
              <a:t>Terjadi reaksi browning mengubah warna daging buah menjadi cokelat pekat.</a:t>
            </a:r>
          </a:p>
        </p:txBody>
      </p:sp>
      <p:sp>
        <p:nvSpPr>
          <p:cNvPr id="10" name="Rounded Rectangle 9"/>
          <p:cNvSpPr/>
          <p:nvPr/>
        </p:nvSpPr>
        <p:spPr>
          <a:xfrm>
            <a:off x="6181344" y="1371600"/>
            <a:ext cx="25603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181344" y="1371600"/>
            <a:ext cx="2560320" cy="5029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3. Penyerapan Foton</a:t>
            </a:r>
          </a:p>
        </p:txBody>
      </p:sp>
      <p:sp>
        <p:nvSpPr>
          <p:cNvPr id="12" name="TextBox 11"/>
          <p:cNvSpPr txBox="1"/>
          <p:nvPr/>
        </p:nvSpPr>
        <p:spPr>
          <a:xfrm>
            <a:off x="6318504" y="1920240"/>
            <a:ext cx="2286000" cy="4133088"/>
          </a:xfrm>
          <a:prstGeom prst="rect">
            <a:avLst/>
          </a:prstGeom>
          <a:noFill/>
        </p:spPr>
        <p:txBody>
          <a:bodyPr wrap="square" tIns="73152">
            <a:spAutoFit/>
          </a:bodyPr>
          <a:lstStyle/>
          <a:p>
            <a:pPr>
              <a:defRPr sz="1100">
                <a:solidFill>
                  <a:srgbClr val="0F172A"/>
                </a:solidFill>
                <a:latin typeface="Arial"/>
              </a:defRPr>
            </a:pPr>
            <a:r>
              <a:t>• Interaksi Spektral:</a:t>
            </a:r>
            <a:br/>
            <a:r>
              <a:t>Cahaya NIR dari LED memancar ke buah dan menembus hingga kedalaman beberapa milimeter.</a:t>
            </a:r>
          </a:p>
          <a:p>
            <a:pPr>
              <a:spcBef>
                <a:spcPts val="600"/>
              </a:spcBef>
              <a:defRPr sz="1100">
                <a:solidFill>
                  <a:srgbClr val="0F172A"/>
                </a:solidFill>
                <a:latin typeface="Arial"/>
              </a:defRPr>
            </a:pPr>
            <a:r>
              <a:t>• Resonansi Ikatan O-H:</a:t>
            </a:r>
            <a:br/>
            <a:r>
              <a:t>Panjang gelombang 940 nm adalah frekuensi resonansi alami molekul air.</a:t>
            </a:r>
          </a:p>
          <a:p>
            <a:pPr>
              <a:spcBef>
                <a:spcPts val="600"/>
              </a:spcBef>
              <a:defRPr sz="1100">
                <a:solidFill>
                  <a:srgbClr val="0F172A"/>
                </a:solidFill>
                <a:latin typeface="Arial"/>
              </a:defRPr>
            </a:pPr>
            <a:r>
              <a:t>• Absorpsi Rakus:</a:t>
            </a:r>
            <a:br/>
            <a:r>
              <a:t>Akumulasi air di rongga ulat menyerap foton 940 nm dalam jumlah sangat masif dibanding buah sehat kering.</a:t>
            </a:r>
          </a:p>
        </p:txBody>
      </p:sp>
      <p:sp>
        <p:nvSpPr>
          <p:cNvPr id="13" name="Rounded Rectangle 12"/>
          <p:cNvSpPr/>
          <p:nvPr/>
        </p:nvSpPr>
        <p:spPr>
          <a:xfrm>
            <a:off x="8997696" y="1371600"/>
            <a:ext cx="25603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997696" y="1371600"/>
            <a:ext cx="2560320" cy="502920"/>
          </a:xfrm>
          <a:prstGeom prst="round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4. Sinyal Sensor</a:t>
            </a:r>
          </a:p>
        </p:txBody>
      </p:sp>
      <p:sp>
        <p:nvSpPr>
          <p:cNvPr id="15" name="TextBox 14"/>
          <p:cNvSpPr txBox="1"/>
          <p:nvPr/>
        </p:nvSpPr>
        <p:spPr>
          <a:xfrm>
            <a:off x="9134856" y="1920240"/>
            <a:ext cx="2286000" cy="4133088"/>
          </a:xfrm>
          <a:prstGeom prst="rect">
            <a:avLst/>
          </a:prstGeom>
          <a:noFill/>
        </p:spPr>
        <p:txBody>
          <a:bodyPr wrap="square" tIns="73152">
            <a:spAutoFit/>
          </a:bodyPr>
          <a:lstStyle/>
          <a:p>
            <a:pPr>
              <a:defRPr sz="1100">
                <a:solidFill>
                  <a:srgbClr val="0F172A"/>
                </a:solidFill>
                <a:latin typeface="Arial"/>
              </a:defRPr>
            </a:pPr>
            <a:r>
              <a:t>• Pantulan Difus Turun:</a:t>
            </a:r>
            <a:br/>
            <a:r>
              <a:t>Karena sebagian besar foton 940 nm telah diserap oleh air di rongga ulat, jumlah foton difus yang berhasil keluar turun drastis.</a:t>
            </a:r>
          </a:p>
          <a:p>
            <a:pPr>
              <a:spcBef>
                <a:spcPts val="600"/>
              </a:spcBef>
              <a:defRPr sz="1100">
                <a:solidFill>
                  <a:srgbClr val="0F172A"/>
                </a:solidFill>
                <a:latin typeface="Arial"/>
              </a:defRPr>
            </a:pPr>
            <a:r>
              <a:t>• Pembacaan Sensor:</a:t>
            </a:r>
            <a:br/>
            <a:r>
              <a:t>Kanal 18 (940 nm) pada AS7265x mencatat penurunan intensitas pantulan secara signifikan.</a:t>
            </a:r>
          </a:p>
          <a:p>
            <a:pPr>
              <a:spcBef>
                <a:spcPts val="600"/>
              </a:spcBef>
              <a:defRPr sz="1100">
                <a:solidFill>
                  <a:srgbClr val="0F172A"/>
                </a:solidFill>
                <a:latin typeface="Arial"/>
              </a:defRPr>
            </a:pPr>
            <a:r>
              <a:t>• Algoritma AI:</a:t>
            </a:r>
            <a:br/>
            <a:r>
              <a:t>Model mendeteksi anomali penurunan NIR ini sebagai tanda mutlak buah rusak!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STUDI VALIDASI: Mengapa Pakai Kopi &amp; Ukur Agtron?</a:t>
            </a:r>
          </a:p>
          <a:p>
            <a:pPr>
              <a:defRPr sz="1250">
                <a:solidFill>
                  <a:srgbClr val="A7F3D0"/>
                </a:solidFill>
                <a:latin typeface="Arial"/>
              </a:defRPr>
            </a:pPr>
            <a:r>
              <a:t>Membuktikan pemanfaatan nyata di industri kopi sebelum dihubungkan ke jambu kristal</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8 of 36</a:t>
            </a:r>
          </a:p>
        </p:txBody>
      </p:sp>
      <p:sp>
        <p:nvSpPr>
          <p:cNvPr id="4" name="Rounded Rectangle 3"/>
          <p:cNvSpPr/>
          <p:nvPr/>
        </p:nvSpPr>
        <p:spPr>
          <a:xfrm>
            <a:off x="548640" y="1371600"/>
            <a:ext cx="53035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371600"/>
            <a:ext cx="5303520" cy="50292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Manfaat Nyata Jika Diterapkan di Dunia Kopi</a:t>
            </a:r>
          </a:p>
        </p:txBody>
      </p:sp>
      <p:sp>
        <p:nvSpPr>
          <p:cNvPr id="6" name="TextBox 5"/>
          <p:cNvSpPr txBox="1"/>
          <p:nvPr/>
        </p:nvSpPr>
        <p:spPr>
          <a:xfrm>
            <a:off x="685800" y="1920240"/>
            <a:ext cx="5029200" cy="4133088"/>
          </a:xfrm>
          <a:prstGeom prst="rect">
            <a:avLst/>
          </a:prstGeom>
          <a:noFill/>
        </p:spPr>
        <p:txBody>
          <a:bodyPr wrap="square" tIns="73152">
            <a:spAutoFit/>
          </a:bodyPr>
          <a:lstStyle/>
          <a:p>
            <a:pPr>
              <a:defRPr sz="1200">
                <a:solidFill>
                  <a:srgbClr val="0F172A"/>
                </a:solidFill>
                <a:latin typeface="Arial"/>
              </a:defRPr>
            </a:pPr>
            <a:r>
              <a:t>• Masalah Roaster Kopi: Alat standar pengukur derajat sangrai (Agtron Spectrophotometer) harganya ratusan juta rupiah.</a:t>
            </a:r>
          </a:p>
          <a:p>
            <a:pPr>
              <a:spcBef>
                <a:spcPts val="600"/>
              </a:spcBef>
              <a:defRPr sz="1200">
                <a:solidFill>
                  <a:srgbClr val="0F172A"/>
                </a:solidFill>
                <a:latin typeface="Arial"/>
              </a:defRPr>
            </a:pPr>
            <a:r>
              <a:t>• Inovasi AS7265x: Kita membuktikan sensor miniatur 18-kanal murah mampu memprediksi kelas sangrai (akurasi 75%) &amp; menebak angka Agtron (regresi) secara presisi!</a:t>
            </a:r>
          </a:p>
          <a:p>
            <a:pPr>
              <a:spcBef>
                <a:spcPts val="600"/>
              </a:spcBef>
              <a:defRPr sz="1200">
                <a:solidFill>
                  <a:srgbClr val="0F172A"/>
                </a:solidFill>
                <a:latin typeface="Arial"/>
              </a:defRPr>
            </a:pPr>
            <a:r>
              <a:t>• Kausalitas Fisika Kopi: Panas sangrai menguapkan air sampai habis (&lt;3%) dan memicu Reaksi Maillard membentuk pigmen gelap Melanoidin.</a:t>
            </a:r>
          </a:p>
          <a:p>
            <a:pPr>
              <a:spcBef>
                <a:spcPts val="600"/>
              </a:spcBef>
              <a:defRPr sz="1200">
                <a:solidFill>
                  <a:srgbClr val="0F172A"/>
                </a:solidFill>
                <a:latin typeface="Arial"/>
              </a:defRPr>
            </a:pPr>
            <a:r>
              <a:t>• Kesimpulan Kopi: Hardware &amp; pipeline ML kita terbukti bernilai komersial nyata sebagai alat kontrol mutu sangrai non-destruktif murah!</a:t>
            </a:r>
          </a:p>
        </p:txBody>
      </p:sp>
      <p:sp>
        <p:nvSpPr>
          <p:cNvPr id="7" name="Rounded Rectangle 6"/>
          <p:cNvSpPr/>
          <p:nvPr/>
        </p:nvSpPr>
        <p:spPr>
          <a:xfrm>
            <a:off x="6217920" y="1371600"/>
            <a:ext cx="539496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217920" y="1371600"/>
            <a:ext cx="5394960" cy="502920"/>
          </a:xfrm>
          <a:prstGeom prst="round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Tujuan Proof of Concept (PoC) bagi BuahSafe</a:t>
            </a:r>
          </a:p>
        </p:txBody>
      </p:sp>
      <p:sp>
        <p:nvSpPr>
          <p:cNvPr id="9" name="TextBox 8"/>
          <p:cNvSpPr txBox="1"/>
          <p:nvPr/>
        </p:nvSpPr>
        <p:spPr>
          <a:xfrm>
            <a:off x="6355080" y="1920240"/>
            <a:ext cx="5120640" cy="4133088"/>
          </a:xfrm>
          <a:prstGeom prst="rect">
            <a:avLst/>
          </a:prstGeom>
          <a:noFill/>
        </p:spPr>
        <p:txBody>
          <a:bodyPr wrap="square" tIns="73152">
            <a:spAutoFit/>
          </a:bodyPr>
          <a:lstStyle/>
          <a:p>
            <a:pPr>
              <a:defRPr sz="1200">
                <a:solidFill>
                  <a:srgbClr val="0F172A"/>
                </a:solidFill>
                <a:latin typeface="Arial"/>
              </a:defRPr>
            </a:pPr>
            <a:r>
              <a:t>• Validasi Arsitektur Software: Sebelum chamber primer selesai dirakit, kita wajib memvalidasi alur kerja pengolahan data sensor AS7265x.</a:t>
            </a:r>
          </a:p>
          <a:p>
            <a:pPr>
              <a:spcBef>
                <a:spcPts val="600"/>
              </a:spcBef>
              <a:defRPr sz="1200">
                <a:solidFill>
                  <a:srgbClr val="0F172A"/>
                </a:solidFill>
                <a:latin typeface="Arial"/>
              </a:defRPr>
            </a:pPr>
            <a:r>
              <a:t>• Uji End-to-End Pipeline: Membuktikan dari data mentah sensor dapat dibangun model klasifikasi, tuning, feature selection, dan regresi.</a:t>
            </a:r>
          </a:p>
          <a:p>
            <a:pPr>
              <a:spcBef>
                <a:spcPts val="600"/>
              </a:spcBef>
              <a:defRPr sz="1200">
                <a:solidFill>
                  <a:srgbClr val="0F172A"/>
                </a:solidFill>
                <a:latin typeface="Arial"/>
              </a:defRPr>
            </a:pPr>
            <a:r>
              <a:t>• Inovasi Rekayasa Data: Normalisasi otomatis nama file &amp; resolusi blokir HTTP (403 Forbidden) saat mengunduh data dari IPFS Pinata.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JEMBATAN ILMU: Dari Kopi Sangrai ke Jambu Kristal</a:t>
            </a:r>
          </a:p>
          <a:p>
            <a:pPr>
              <a:defRPr sz="1250">
                <a:solidFill>
                  <a:srgbClr val="A7F3D0"/>
                </a:solidFill>
                <a:latin typeface="Arial"/>
              </a:defRPr>
            </a:pPr>
            <a:r>
              <a:t>Infografis komparasi kausalitas fisika yang menghubungkan PoC ke target primer</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9 of 36</a:t>
            </a:r>
          </a:p>
        </p:txBody>
      </p:sp>
      <p:pic>
        <p:nvPicPr>
          <p:cNvPr id="4" name="Picture 3" descr="asset_4_coffee_to_guava_bridge.png"/>
          <p:cNvPicPr>
            <a:picLocks noChangeAspect="1"/>
          </p:cNvPicPr>
          <p:nvPr/>
        </p:nvPicPr>
        <p:blipFill>
          <a:blip r:embed="rId2"/>
          <a:stretch>
            <a:fillRect/>
          </a:stretch>
        </p:blipFill>
        <p:spPr>
          <a:xfrm>
            <a:off x="914400" y="1371600"/>
            <a:ext cx="10362895" cy="466330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Deep Dive Langkah 1: EDA Distribusi Nilai Agtron</a:t>
            </a:r>
          </a:p>
          <a:p>
            <a:pPr>
              <a:defRPr sz="1250">
                <a:solidFill>
                  <a:srgbClr val="A7F3D0"/>
                </a:solidFill>
                <a:latin typeface="Arial"/>
              </a:defRPr>
            </a:pPr>
            <a:r>
              <a:t>Analisis histogram nyata dataset penentu batas kelas pemanggangan</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10 of 36</a:t>
            </a:r>
          </a:p>
        </p:txBody>
      </p:sp>
      <p:pic>
        <p:nvPicPr>
          <p:cNvPr id="4" name="Picture 3" descr="fig1_eda_agtron_dist.png"/>
          <p:cNvPicPr>
            <a:picLocks noChangeAspect="1"/>
          </p:cNvPicPr>
          <p:nvPr/>
        </p:nvPicPr>
        <p:blipFill>
          <a:blip r:embed="rId2"/>
          <a:stretch>
            <a:fillRect/>
          </a:stretch>
        </p:blipFill>
        <p:spPr>
          <a:xfrm>
            <a:off x="548640" y="1463040"/>
            <a:ext cx="5760720" cy="3600450"/>
          </a:xfrm>
          <a:prstGeom prst="rect">
            <a:avLst/>
          </a:prstGeom>
        </p:spPr>
      </p:pic>
      <p:sp>
        <p:nvSpPr>
          <p:cNvPr id="5" name="Rounded Rectangle 4"/>
          <p:cNvSpPr/>
          <p:nvPr/>
        </p:nvSpPr>
        <p:spPr>
          <a:xfrm>
            <a:off x="6492240" y="1463040"/>
            <a:ext cx="512064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92240" y="1463040"/>
            <a:ext cx="5120640" cy="502920"/>
          </a:xfrm>
          <a:prstGeom prst="round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Bedah Tuntas Distribusi Agtron</a:t>
            </a:r>
          </a:p>
        </p:txBody>
      </p:sp>
      <p:sp>
        <p:nvSpPr>
          <p:cNvPr id="7" name="TextBox 6"/>
          <p:cNvSpPr txBox="1"/>
          <p:nvPr/>
        </p:nvSpPr>
        <p:spPr>
          <a:xfrm>
            <a:off x="6629400" y="2011680"/>
            <a:ext cx="4846320" cy="4041648"/>
          </a:xfrm>
          <a:prstGeom prst="rect">
            <a:avLst/>
          </a:prstGeom>
          <a:noFill/>
        </p:spPr>
        <p:txBody>
          <a:bodyPr wrap="square" tIns="73152">
            <a:spAutoFit/>
          </a:bodyPr>
          <a:lstStyle/>
          <a:p>
            <a:pPr>
              <a:defRPr sz="1150">
                <a:solidFill>
                  <a:srgbClr val="0F172A"/>
                </a:solidFill>
                <a:latin typeface="Arial"/>
              </a:defRPr>
            </a:pPr>
            <a:r>
              <a:t>• Fakta Dataset Asli:</a:t>
            </a:r>
            <a:br/>
            <a:r>
              <a:t>Dataset kopi AS7265x memiliki rentang nilai Agtron kontinu yang menyebar secara unimodal berpusat di sekitar angka 60.</a:t>
            </a:r>
          </a:p>
          <a:p>
            <a:pPr>
              <a:spcBef>
                <a:spcPts val="600"/>
              </a:spcBef>
              <a:defRPr sz="1150">
                <a:solidFill>
                  <a:srgbClr val="0F172A"/>
                </a:solidFill>
                <a:latin typeface="Arial"/>
              </a:defRPr>
            </a:pPr>
            <a:r>
              <a:t>• Justifikasi Pembagian 3 Kelas:</a:t>
            </a:r>
            <a:br/>
            <a:r>
              <a:t>1. Dark Roast (Agtron &lt; 50): Sangrai gelap, melanoidin sangat pekat.</a:t>
            </a:r>
            <a:br/>
            <a:r>
              <a:t>2. Medium Roast (Agtron 50–70): Sangrai seimbang standar kafe.</a:t>
            </a:r>
            <a:br/>
            <a:r>
              <a:t>3. Light Roast (Agtron &gt; 70): Sangrai terang dominan asam.</a:t>
            </a:r>
          </a:p>
          <a:p>
            <a:pPr>
              <a:spcBef>
                <a:spcPts val="600"/>
              </a:spcBef>
              <a:defRPr sz="1150">
                <a:solidFill>
                  <a:srgbClr val="0F172A"/>
                </a:solidFill>
                <a:latin typeface="Arial"/>
              </a:defRPr>
            </a:pPr>
            <a:r>
              <a:t>• Makna untuk BuahSafe:</a:t>
            </a:r>
            <a:br/>
            <a:r>
              <a:t>Sama seperti mengelompokkan Agtron, pada jambu kita membagi ambang batas tingkat kemanisan (Brix) atau tingkat kebusukan secara bertingkat.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Deep Dive Langkah 2: EDA Profil Spektral 18 Kanal</a:t>
            </a:r>
          </a:p>
          <a:p>
            <a:pPr>
              <a:defRPr sz="1250">
                <a:solidFill>
                  <a:srgbClr val="A7F3D0"/>
                </a:solidFill>
                <a:latin typeface="Arial"/>
              </a:defRPr>
            </a:pPr>
            <a:r>
              <a:t>Mengapa ada perbedaan pantulan cahaya dan apa arti celah antar gelombang?</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11 of 36</a:t>
            </a:r>
          </a:p>
        </p:txBody>
      </p:sp>
      <p:pic>
        <p:nvPicPr>
          <p:cNvPr id="4" name="Picture 3" descr="fig2_eda_spectral_curves.png"/>
          <p:cNvPicPr>
            <a:picLocks noChangeAspect="1"/>
          </p:cNvPicPr>
          <p:nvPr/>
        </p:nvPicPr>
        <p:blipFill>
          <a:blip r:embed="rId2"/>
          <a:stretch>
            <a:fillRect/>
          </a:stretch>
        </p:blipFill>
        <p:spPr>
          <a:xfrm>
            <a:off x="548640" y="1463040"/>
            <a:ext cx="5852160" cy="3203288"/>
          </a:xfrm>
          <a:prstGeom prst="rect">
            <a:avLst/>
          </a:prstGeom>
        </p:spPr>
      </p:pic>
      <p:sp>
        <p:nvSpPr>
          <p:cNvPr id="5" name="Rounded Rectangle 4"/>
          <p:cNvSpPr/>
          <p:nvPr/>
        </p:nvSpPr>
        <p:spPr>
          <a:xfrm>
            <a:off x="6583680" y="1463040"/>
            <a:ext cx="502920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583680" y="1463040"/>
            <a:ext cx="5029200" cy="5029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Analisis Kausalitas &amp; Fisika Filter Spektral</a:t>
            </a:r>
          </a:p>
        </p:txBody>
      </p:sp>
      <p:sp>
        <p:nvSpPr>
          <p:cNvPr id="7" name="TextBox 6"/>
          <p:cNvSpPr txBox="1"/>
          <p:nvPr/>
        </p:nvSpPr>
        <p:spPr>
          <a:xfrm>
            <a:off x="6720840" y="2011680"/>
            <a:ext cx="4754880" cy="4041648"/>
          </a:xfrm>
          <a:prstGeom prst="rect">
            <a:avLst/>
          </a:prstGeom>
          <a:noFill/>
        </p:spPr>
        <p:txBody>
          <a:bodyPr wrap="square" tIns="73152">
            <a:spAutoFit/>
          </a:bodyPr>
          <a:lstStyle/>
          <a:p>
            <a:pPr>
              <a:defRPr sz="1100">
                <a:solidFill>
                  <a:srgbClr val="0F172A"/>
                </a:solidFill>
                <a:latin typeface="Arial"/>
              </a:defRPr>
            </a:pPr>
            <a:r>
              <a:t>• Serapan Melanoidin di Zona Visible (410–680 nm):</a:t>
            </a:r>
            <a:br/>
            <a:r>
              <a:t>Kurva Dark Roast (hitam) berada paling bawah karena pigmen melanoidin menyerap hampir seluruh foton cahaya tampak.</a:t>
            </a:r>
          </a:p>
          <a:p>
            <a:pPr>
              <a:spcBef>
                <a:spcPts val="600"/>
              </a:spcBef>
              <a:defRPr sz="1100">
                <a:solidFill>
                  <a:srgbClr val="0F172A"/>
                </a:solidFill>
                <a:latin typeface="Arial"/>
              </a:defRPr>
            </a:pPr>
            <a:r>
              <a:t>• Menjawab Celah Spektral (Blindspot 730–760 nm):</a:t>
            </a:r>
            <a:br/>
            <a:r>
              <a:t>Sensor AS7265x adalah spektrometer multi-kanal diskrit berfilter Fabry-Pérot dengan bandwidth FWHM ~20 nm per kanal. Di antara kanal (misal antara 730 nm ke 760 nm), terdapat celah optik alami ~30 nm. Ini bukan kecacatan, melainkan karakteristik standar sensor filter diskrit yang tetap akurat menangkap tren kurva!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Landasan Teori Statistik: Apa itu Korelasi Pearson (r)?</a:t>
            </a:r>
          </a:p>
          <a:p>
            <a:pPr>
              <a:defRPr sz="1250">
                <a:solidFill>
                  <a:srgbClr val="A7F3D0"/>
                </a:solidFill>
                <a:latin typeface="Arial"/>
              </a:defRPr>
            </a:pPr>
            <a:r>
              <a:t>Memahami konsep matematika korelasi sebelum menginterpretasikan matriks antarkanal</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12 of 36</a:t>
            </a:r>
          </a:p>
        </p:txBody>
      </p:sp>
      <p:sp>
        <p:nvSpPr>
          <p:cNvPr id="4" name="Rounded Rectangle 3"/>
          <p:cNvSpPr/>
          <p:nvPr/>
        </p:nvSpPr>
        <p:spPr>
          <a:xfrm>
            <a:off x="548640" y="1371600"/>
            <a:ext cx="53035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371600"/>
            <a:ext cx="5303520" cy="502920"/>
          </a:xfrm>
          <a:prstGeom prst="round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Definisi &amp; Konsep Korelasi Pearson</a:t>
            </a:r>
          </a:p>
        </p:txBody>
      </p:sp>
      <p:sp>
        <p:nvSpPr>
          <p:cNvPr id="6" name="TextBox 5"/>
          <p:cNvSpPr txBox="1"/>
          <p:nvPr/>
        </p:nvSpPr>
        <p:spPr>
          <a:xfrm>
            <a:off x="685800" y="1920240"/>
            <a:ext cx="5029200" cy="4133088"/>
          </a:xfrm>
          <a:prstGeom prst="rect">
            <a:avLst/>
          </a:prstGeom>
          <a:noFill/>
        </p:spPr>
        <p:txBody>
          <a:bodyPr wrap="square" tIns="73152">
            <a:spAutoFit/>
          </a:bodyPr>
          <a:lstStyle/>
          <a:p>
            <a:pPr>
              <a:defRPr sz="1200">
                <a:solidFill>
                  <a:srgbClr val="0F172A"/>
                </a:solidFill>
                <a:latin typeface="Arial"/>
              </a:defRPr>
            </a:pPr>
            <a:r>
              <a:t>• Pengertian:</a:t>
            </a:r>
            <a:br/>
            <a:r>
              <a:t>Korelasi Pearson (r) adalah ukuran statistik rasio matematis yang mengukur kekuatan dan arah hubungan linear antara variabel satu (Kanal A) dengan variabel kedua (Kanal B).</a:t>
            </a:r>
          </a:p>
          <a:p>
            <a:pPr>
              <a:spcBef>
                <a:spcPts val="600"/>
              </a:spcBef>
              <a:defRPr sz="1200">
                <a:solidFill>
                  <a:srgbClr val="0F172A"/>
                </a:solidFill>
                <a:latin typeface="Arial"/>
              </a:defRPr>
            </a:pPr>
            <a:r>
              <a:t>• Rentang Nilai (-1.0 hingga +1.0):</a:t>
            </a:r>
            <a:br/>
            <a:r>
              <a:t>1. r = +1.0 (Korelasi Positif Sempurna): Jika Kanal A naik, Kanal B pasti naik dengan proporsi yang sama.</a:t>
            </a:r>
            <a:br/>
            <a:r>
              <a:t>2. r = 0.0: Tidak ada hubungan linear sama sekali.</a:t>
            </a:r>
            <a:br/>
            <a:r>
              <a:t>3. r = -1.0 (Korelasi Negatif): Jika Kanal A naik, Kanal B justru turun.</a:t>
            </a:r>
          </a:p>
        </p:txBody>
      </p:sp>
      <p:sp>
        <p:nvSpPr>
          <p:cNvPr id="7" name="Rounded Rectangle 6"/>
          <p:cNvSpPr/>
          <p:nvPr/>
        </p:nvSpPr>
        <p:spPr>
          <a:xfrm>
            <a:off x="6217920" y="1371600"/>
            <a:ext cx="539496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217920" y="1371600"/>
            <a:ext cx="5394960" cy="50292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Mengapa Korelasi Penting dalam NDT Spektral?</a:t>
            </a:r>
          </a:p>
        </p:txBody>
      </p:sp>
      <p:sp>
        <p:nvSpPr>
          <p:cNvPr id="9" name="TextBox 8"/>
          <p:cNvSpPr txBox="1"/>
          <p:nvPr/>
        </p:nvSpPr>
        <p:spPr>
          <a:xfrm>
            <a:off x="6355080" y="1920240"/>
            <a:ext cx="5120640" cy="4133088"/>
          </a:xfrm>
          <a:prstGeom prst="rect">
            <a:avLst/>
          </a:prstGeom>
          <a:noFill/>
        </p:spPr>
        <p:txBody>
          <a:bodyPr wrap="square" tIns="73152">
            <a:spAutoFit/>
          </a:bodyPr>
          <a:lstStyle/>
          <a:p>
            <a:pPr>
              <a:defRPr sz="1200">
                <a:solidFill>
                  <a:srgbClr val="0F172A"/>
                </a:solidFill>
                <a:latin typeface="Arial"/>
              </a:defRPr>
            </a:pPr>
            <a:r>
              <a:t>• Multikolinearitas:</a:t>
            </a:r>
            <a:br/>
            <a:r>
              <a:t>Jika dua kanal warna memiliki r &gt; 0.90 (misal 410 nm dan 435 nm), keduanya memberikan informasi yang hampir duplikat/serupa.</a:t>
            </a:r>
          </a:p>
          <a:p>
            <a:pPr>
              <a:spcBef>
                <a:spcPts val="600"/>
              </a:spcBef>
              <a:defRPr sz="1200">
                <a:solidFill>
                  <a:srgbClr val="0F172A"/>
                </a:solidFill>
                <a:latin typeface="Arial"/>
              </a:defRPr>
            </a:pPr>
            <a:r>
              <a:t>• Dampak pada Model Linear:</a:t>
            </a:r>
            <a:br/>
            <a:r>
              <a:t>Model regresi sederhana (seperti OLS) akan bingung dan tidak stabil jika diberi 18 fitur yang saling berkorelasi tinggi.</a:t>
            </a:r>
          </a:p>
          <a:p>
            <a:pPr>
              <a:spcBef>
                <a:spcPts val="600"/>
              </a:spcBef>
              <a:defRPr sz="1200">
                <a:solidFill>
                  <a:srgbClr val="0F172A"/>
                </a:solidFill>
                <a:latin typeface="Arial"/>
              </a:defRPr>
            </a:pPr>
            <a:r>
              <a:t>• Solusi Algoritma:</a:t>
            </a:r>
            <a:br/>
            <a:r>
              <a:t>Inilah alasan mengapa kita membutuhkan model berbasis kernel (SVM) atau pohon keputusan (Random Forest) yang kebal terhadap multikolinearitas!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Deep Dive Langkah 3: Matriks Korelasi Antarkanal 18x18</a:t>
            </a:r>
          </a:p>
          <a:p>
            <a:pPr>
              <a:defRPr sz="1250">
                <a:solidFill>
                  <a:srgbClr val="A7F3D0"/>
                </a:solidFill>
                <a:latin typeface="Arial"/>
              </a:defRPr>
            </a:pPr>
            <a:r>
              <a:t>Bedah tuntas heatmap kolinearitas panjang gelombang dataset AS7265x</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13 of 36</a:t>
            </a:r>
          </a:p>
        </p:txBody>
      </p:sp>
      <p:pic>
        <p:nvPicPr>
          <p:cNvPr id="4" name="Picture 3" descr="fig3_correlation_matrix.png"/>
          <p:cNvPicPr>
            <a:picLocks noChangeAspect="1"/>
          </p:cNvPicPr>
          <p:nvPr/>
        </p:nvPicPr>
        <p:blipFill>
          <a:blip r:embed="rId2"/>
          <a:stretch>
            <a:fillRect/>
          </a:stretch>
        </p:blipFill>
        <p:spPr>
          <a:xfrm>
            <a:off x="548640" y="1371600"/>
            <a:ext cx="5486400" cy="4518212"/>
          </a:xfrm>
          <a:prstGeom prst="rect">
            <a:avLst/>
          </a:prstGeom>
        </p:spPr>
      </p:pic>
      <p:sp>
        <p:nvSpPr>
          <p:cNvPr id="5" name="Rounded Rectangle 4"/>
          <p:cNvSpPr/>
          <p:nvPr/>
        </p:nvSpPr>
        <p:spPr>
          <a:xfrm>
            <a:off x="6217920" y="1371600"/>
            <a:ext cx="539496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217920" y="1371600"/>
            <a:ext cx="5394960" cy="5029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Bedah Tuntas Heatmap Korelasi Pearson</a:t>
            </a:r>
          </a:p>
        </p:txBody>
      </p:sp>
      <p:sp>
        <p:nvSpPr>
          <p:cNvPr id="7" name="TextBox 6"/>
          <p:cNvSpPr txBox="1"/>
          <p:nvPr/>
        </p:nvSpPr>
        <p:spPr>
          <a:xfrm>
            <a:off x="6355080" y="1920240"/>
            <a:ext cx="5120640" cy="4133088"/>
          </a:xfrm>
          <a:prstGeom prst="rect">
            <a:avLst/>
          </a:prstGeom>
          <a:noFill/>
        </p:spPr>
        <p:txBody>
          <a:bodyPr wrap="square" tIns="73152">
            <a:spAutoFit/>
          </a:bodyPr>
          <a:lstStyle/>
          <a:p>
            <a:pPr>
              <a:defRPr sz="1150">
                <a:solidFill>
                  <a:srgbClr val="0F172A"/>
                </a:solidFill>
                <a:latin typeface="Arial"/>
              </a:defRPr>
            </a:pPr>
            <a:r>
              <a:t>• Blok Korelasi Tinggi di Visible Light (410–585 nm):</a:t>
            </a:r>
            <a:br/>
            <a:r>
              <a:t>Warna kuning terang (r &gt; 0.85) menunjukkan seluruh kanal cahaya tampak naik-turun bersamaan seiring menggelapnya permukaan kopi.</a:t>
            </a:r>
          </a:p>
          <a:p>
            <a:pPr>
              <a:spcBef>
                <a:spcPts val="600"/>
              </a:spcBef>
              <a:defRPr sz="1150">
                <a:solidFill>
                  <a:srgbClr val="0F172A"/>
                </a:solidFill>
                <a:latin typeface="Arial"/>
              </a:defRPr>
            </a:pPr>
            <a:r>
              <a:t>• Pemisahan Sinyal di Blok NIR (810–940 nm):</a:t>
            </a:r>
            <a:br/>
            <a:r>
              <a:t>Perhatikan kotak hijau/biru di sudut kanan bawah. Kanal inframerah dekat membentuk klaster tersendiri yang tidak berkorelasi sempurna dengan cahaya tampak.</a:t>
            </a:r>
          </a:p>
          <a:p>
            <a:pPr>
              <a:spcBef>
                <a:spcPts val="600"/>
              </a:spcBef>
              <a:defRPr sz="1150">
                <a:solidFill>
                  <a:srgbClr val="0F172A"/>
                </a:solidFill>
                <a:latin typeface="Arial"/>
              </a:defRPr>
            </a:pPr>
            <a:r>
              <a:t>• Makna untuk BuahSafe:</a:t>
            </a:r>
            <a:br/>
            <a:r>
              <a:t>NIR membawa informasi fisik/kimiawi internal yang independen dari warna kulit luar buah!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Deep Dive Langkah 4: Kausalitas Preprocessing</a:t>
            </a:r>
          </a:p>
          <a:p>
            <a:pPr>
              <a:defRPr sz="1250">
                <a:solidFill>
                  <a:srgbClr val="A7F3D0"/>
                </a:solidFill>
                <a:latin typeface="Arial"/>
              </a:defRPr>
            </a:pPr>
            <a:r>
              <a:t>Mengapa kita wajib melakukan StandardScaler sebelum melatih model AI?</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14 of 36</a:t>
            </a:r>
          </a:p>
        </p:txBody>
      </p:sp>
      <p:pic>
        <p:nvPicPr>
          <p:cNvPr id="4" name="Picture 3" descr="fig4_preprocessing_scaling.png"/>
          <p:cNvPicPr>
            <a:picLocks noChangeAspect="1"/>
          </p:cNvPicPr>
          <p:nvPr/>
        </p:nvPicPr>
        <p:blipFill>
          <a:blip r:embed="rId2"/>
          <a:stretch>
            <a:fillRect/>
          </a:stretch>
        </p:blipFill>
        <p:spPr>
          <a:xfrm>
            <a:off x="548640" y="1463040"/>
            <a:ext cx="5943600" cy="2674620"/>
          </a:xfrm>
          <a:prstGeom prst="rect">
            <a:avLst/>
          </a:prstGeom>
        </p:spPr>
      </p:pic>
      <p:sp>
        <p:nvSpPr>
          <p:cNvPr id="5" name="Rounded Rectangle 4"/>
          <p:cNvSpPr/>
          <p:nvPr/>
        </p:nvSpPr>
        <p:spPr>
          <a:xfrm>
            <a:off x="6675120" y="1463040"/>
            <a:ext cx="493776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675120" y="1463040"/>
            <a:ext cx="4937760" cy="502920"/>
          </a:xfrm>
          <a:prstGeom prst="round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Kausalitas Matematis StandardScaler</a:t>
            </a:r>
          </a:p>
        </p:txBody>
      </p:sp>
      <p:sp>
        <p:nvSpPr>
          <p:cNvPr id="7" name="TextBox 6"/>
          <p:cNvSpPr txBox="1"/>
          <p:nvPr/>
        </p:nvSpPr>
        <p:spPr>
          <a:xfrm>
            <a:off x="6812280" y="2011680"/>
            <a:ext cx="4663440" cy="4041648"/>
          </a:xfrm>
          <a:prstGeom prst="rect">
            <a:avLst/>
          </a:prstGeom>
          <a:noFill/>
        </p:spPr>
        <p:txBody>
          <a:bodyPr wrap="square" tIns="73152">
            <a:spAutoFit/>
          </a:bodyPr>
          <a:lstStyle/>
          <a:p>
            <a:pPr>
              <a:defRPr sz="1150">
                <a:solidFill>
                  <a:srgbClr val="0F172A"/>
                </a:solidFill>
                <a:latin typeface="Arial"/>
              </a:defRPr>
            </a:pPr>
            <a:r>
              <a:t>• Masalah Dominasi Angka Mentah (Kiri):</a:t>
            </a:r>
            <a:br/>
            <a:r>
              <a:t>Pada pembacaan mentah, kanal 940 nm memiliki nilai puluhan ribu (~30.000), sedangkan kanal 410 nm hanya puluhan (~30). Model jarak akan mengabaikan total kanal 410 nm!</a:t>
            </a:r>
          </a:p>
          <a:p>
            <a:pPr>
              <a:spcBef>
                <a:spcPts val="600"/>
              </a:spcBef>
              <a:defRPr sz="1150">
                <a:solidFill>
                  <a:srgbClr val="0F172A"/>
                </a:solidFill>
                <a:latin typeface="Arial"/>
              </a:defRPr>
            </a:pPr>
            <a:r>
              <a:t>• Solusi Z-Score Scaling (Kanan):</a:t>
            </a:r>
            <a:br/>
            <a:r>
              <a:t>Rumus Z = (X - mean) / std menyetarakan semua 18 kanal ke mean=0 dan std=1.</a:t>
            </a:r>
          </a:p>
          <a:p>
            <a:pPr>
              <a:spcBef>
                <a:spcPts val="600"/>
              </a:spcBef>
              <a:defRPr sz="1150">
                <a:solidFill>
                  <a:srgbClr val="0F172A"/>
                </a:solidFill>
                <a:latin typeface="Arial"/>
              </a:defRPr>
            </a:pPr>
            <a:r>
              <a:t>• Pencegahan Data Leakage:</a:t>
            </a:r>
            <a:br/>
            <a:r>
              <a:t>Scaling dihitung HANYA dari data Latih, lalu diterapkan ke data Uji.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Kausalitas Strategi Pembagian Dataset (A -&gt; B -&gt; C -&gt; D)</a:t>
            </a:r>
          </a:p>
          <a:p>
            <a:pPr>
              <a:defRPr sz="1250">
                <a:solidFill>
                  <a:srgbClr val="A7F3D0"/>
                </a:solidFill>
                <a:latin typeface="Arial"/>
              </a:defRPr>
            </a:pPr>
            <a:r>
              <a:t>Rantai sebab-akibat mengapa metode pembagian data mutlak menentukan kevalidan model</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15 of 36</a:t>
            </a:r>
          </a:p>
        </p:txBody>
      </p:sp>
      <p:sp>
        <p:nvSpPr>
          <p:cNvPr id="4" name="Rounded Rectangle 3"/>
          <p:cNvSpPr/>
          <p:nvPr/>
        </p:nvSpPr>
        <p:spPr>
          <a:xfrm>
            <a:off x="548640" y="1371600"/>
            <a:ext cx="53035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371600"/>
            <a:ext cx="5303520" cy="5029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Rantai Kausalitas Stratified Split (Pada Kopi)</a:t>
            </a:r>
          </a:p>
        </p:txBody>
      </p:sp>
      <p:sp>
        <p:nvSpPr>
          <p:cNvPr id="6" name="TextBox 5"/>
          <p:cNvSpPr txBox="1"/>
          <p:nvPr/>
        </p:nvSpPr>
        <p:spPr>
          <a:xfrm>
            <a:off x="685800" y="1920240"/>
            <a:ext cx="5029200" cy="4133088"/>
          </a:xfrm>
          <a:prstGeom prst="rect">
            <a:avLst/>
          </a:prstGeom>
          <a:noFill/>
        </p:spPr>
        <p:txBody>
          <a:bodyPr wrap="square" tIns="73152">
            <a:spAutoFit/>
          </a:bodyPr>
          <a:lstStyle/>
          <a:p>
            <a:pPr>
              <a:defRPr sz="1100">
                <a:solidFill>
                  <a:srgbClr val="0F172A"/>
                </a:solidFill>
                <a:latin typeface="Arial"/>
              </a:defRPr>
            </a:pPr>
            <a:r>
              <a:t>• [A] Sebab Kondisi:</a:t>
            </a:r>
            <a:br/>
            <a:r>
              <a:t>Dataset kopi memiliki ketimpangan jumlah sampel per derajat sangrai (kelas Medium lebih banyak).</a:t>
            </a:r>
          </a:p>
          <a:p>
            <a:pPr>
              <a:spcBef>
                <a:spcPts val="600"/>
              </a:spcBef>
              <a:defRPr sz="1100">
                <a:solidFill>
                  <a:srgbClr val="0F172A"/>
                </a:solidFill>
                <a:latin typeface="Arial"/>
              </a:defRPr>
            </a:pPr>
            <a:r>
              <a:t>• [B] Masalah Jika Acak Biasa:</a:t>
            </a:r>
            <a:br/>
            <a:r>
              <a:t>Jika dibagi acak murni, Test Set bisa jadi kehabisan sampel Dark Roast sehingga model tidak teruji di kelas tersebut.</a:t>
            </a:r>
          </a:p>
          <a:p>
            <a:pPr>
              <a:spcBef>
                <a:spcPts val="600"/>
              </a:spcBef>
              <a:defRPr sz="1100">
                <a:solidFill>
                  <a:srgbClr val="0F172A"/>
                </a:solidFill>
                <a:latin typeface="Arial"/>
              </a:defRPr>
            </a:pPr>
            <a:r>
              <a:t>• [C] Solusi Tindakan:</a:t>
            </a:r>
            <a:br/>
            <a:r>
              <a:t>Maka dilakukan Stratified Train/Test Split (75% Latih / 25% Uji).</a:t>
            </a:r>
          </a:p>
          <a:p>
            <a:pPr>
              <a:spcBef>
                <a:spcPts val="600"/>
              </a:spcBef>
              <a:defRPr sz="1100">
                <a:solidFill>
                  <a:srgbClr val="0F172A"/>
                </a:solidFill>
                <a:latin typeface="Arial"/>
              </a:defRPr>
            </a:pPr>
            <a:r>
              <a:t>• [D] Hasil Akhir (Tujuan):</a:t>
            </a:r>
            <a:br/>
            <a:r>
              <a:t>Agar proporsi kelas di Latih dan Uji 100% seragam sehingga evaluasi model benar-benar adil!</a:t>
            </a:r>
          </a:p>
        </p:txBody>
      </p:sp>
      <p:sp>
        <p:nvSpPr>
          <p:cNvPr id="7" name="Rounded Rectangle 6"/>
          <p:cNvSpPr/>
          <p:nvPr/>
        </p:nvSpPr>
        <p:spPr>
          <a:xfrm>
            <a:off x="6217920" y="1371600"/>
            <a:ext cx="539496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217920" y="1371600"/>
            <a:ext cx="5394960" cy="50292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Rantai Kausalitas GroupKFold (Pada Jambu)</a:t>
            </a:r>
          </a:p>
        </p:txBody>
      </p:sp>
      <p:sp>
        <p:nvSpPr>
          <p:cNvPr id="9" name="TextBox 8"/>
          <p:cNvSpPr txBox="1"/>
          <p:nvPr/>
        </p:nvSpPr>
        <p:spPr>
          <a:xfrm>
            <a:off x="6355080" y="1920240"/>
            <a:ext cx="5120640" cy="4133088"/>
          </a:xfrm>
          <a:prstGeom prst="rect">
            <a:avLst/>
          </a:prstGeom>
          <a:noFill/>
        </p:spPr>
        <p:txBody>
          <a:bodyPr wrap="square" tIns="73152">
            <a:spAutoFit/>
          </a:bodyPr>
          <a:lstStyle/>
          <a:p>
            <a:pPr>
              <a:defRPr sz="1100">
                <a:solidFill>
                  <a:srgbClr val="0F172A"/>
                </a:solidFill>
                <a:latin typeface="Arial"/>
              </a:defRPr>
            </a:pPr>
            <a:r>
              <a:t>• [A] Sebab Kondisi:</a:t>
            </a:r>
            <a:br/>
            <a:r>
              <a:t>Satu buah jambu fisik dipindai 3 kali (orientasi atas, tengah, bawah).</a:t>
            </a:r>
          </a:p>
          <a:p>
            <a:pPr>
              <a:spcBef>
                <a:spcPts val="600"/>
              </a:spcBef>
              <a:defRPr sz="1100">
                <a:solidFill>
                  <a:srgbClr val="0F172A"/>
                </a:solidFill>
                <a:latin typeface="Arial"/>
              </a:defRPr>
            </a:pPr>
            <a:r>
              <a:t>• [B] Masalah Jika Acak Biasa:</a:t>
            </a:r>
            <a:br/>
            <a:r>
              <a:t>Scan 1 masuk Latih dan scan 2 masuk Uji. Model hanya menghafal warna kulit buah itu (Data Leakage palsu 99%).</a:t>
            </a:r>
          </a:p>
          <a:p>
            <a:pPr>
              <a:spcBef>
                <a:spcPts val="600"/>
              </a:spcBef>
              <a:defRPr sz="1100">
                <a:solidFill>
                  <a:srgbClr val="0F172A"/>
                </a:solidFill>
                <a:latin typeface="Arial"/>
              </a:defRPr>
            </a:pPr>
            <a:r>
              <a:t>• [C] Solusi Tindakan:</a:t>
            </a:r>
            <a:br/>
            <a:r>
              <a:t>Maka wajib dilakukan GroupKFold Validation berdasarkan fruit_id.</a:t>
            </a:r>
          </a:p>
          <a:p>
            <a:pPr>
              <a:spcBef>
                <a:spcPts val="600"/>
              </a:spcBef>
              <a:defRPr sz="1100">
                <a:solidFill>
                  <a:srgbClr val="0F172A"/>
                </a:solidFill>
                <a:latin typeface="Arial"/>
              </a:defRPr>
            </a:pPr>
            <a:r>
              <a:t>• [D] Hasil Akhir (Tujuan):</a:t>
            </a:r>
            <a:br/>
            <a:r>
              <a:t>Agar seluruh scan dari 1 fisik buah berada di kelompok yang sama, memastikan model diuji pada buah yang 100% baru!</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Landasan Teori Evaluasi: Apa itu Confusion Matrix?</a:t>
            </a:r>
          </a:p>
          <a:p>
            <a:pPr>
              <a:defRPr sz="1250">
                <a:solidFill>
                  <a:srgbClr val="A7F3D0"/>
                </a:solidFill>
                <a:latin typeface="Arial"/>
              </a:defRPr>
            </a:pPr>
            <a:r>
              <a:t>Memahami struktur tabel pemetaan kebenaran sebelum membedah hasil model AI</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16 of 36</a:t>
            </a:r>
          </a:p>
        </p:txBody>
      </p:sp>
      <p:sp>
        <p:nvSpPr>
          <p:cNvPr id="4" name="Rounded Rectangle 3"/>
          <p:cNvSpPr/>
          <p:nvPr/>
        </p:nvSpPr>
        <p:spPr>
          <a:xfrm>
            <a:off x="548640" y="1371600"/>
            <a:ext cx="53035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371600"/>
            <a:ext cx="5303520" cy="502920"/>
          </a:xfrm>
          <a:prstGeom prst="round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Anatomy Confusion Matrix 2D</a:t>
            </a:r>
          </a:p>
        </p:txBody>
      </p:sp>
      <p:sp>
        <p:nvSpPr>
          <p:cNvPr id="6" name="TextBox 5"/>
          <p:cNvSpPr txBox="1"/>
          <p:nvPr/>
        </p:nvSpPr>
        <p:spPr>
          <a:xfrm>
            <a:off x="685800" y="1920240"/>
            <a:ext cx="5029200" cy="4133088"/>
          </a:xfrm>
          <a:prstGeom prst="rect">
            <a:avLst/>
          </a:prstGeom>
          <a:noFill/>
        </p:spPr>
        <p:txBody>
          <a:bodyPr wrap="square" tIns="73152">
            <a:spAutoFit/>
          </a:bodyPr>
          <a:lstStyle/>
          <a:p>
            <a:pPr>
              <a:defRPr sz="1200">
                <a:solidFill>
                  <a:srgbClr val="0F172A"/>
                </a:solidFill>
                <a:latin typeface="Arial"/>
              </a:defRPr>
            </a:pPr>
            <a:r>
              <a:t>• Pengertian:</a:t>
            </a:r>
            <a:br/>
            <a:r>
              <a:t>Tabel kontingensi yang membandingkan Kelas Aktual (Ground Truth laboratorium) pada baris horizontal dengan Prediksi Model pada kolom vertikal.</a:t>
            </a:r>
          </a:p>
          <a:p>
            <a:pPr>
              <a:spcBef>
                <a:spcPts val="600"/>
              </a:spcBef>
              <a:defRPr sz="1200">
                <a:solidFill>
                  <a:srgbClr val="0F172A"/>
                </a:solidFill>
                <a:latin typeface="Arial"/>
              </a:defRPr>
            </a:pPr>
            <a:r>
              <a:t>• Diagonal Utama (Kiri-Atas ke Kanan-Bawah):</a:t>
            </a:r>
            <a:br/>
            <a:r>
              <a:t>Kotak hijau tempat prediksi bernilai BENAR (True Positives &amp; True Negatives). Semakin besar angka di diagonal utama, semakin pintar model.</a:t>
            </a:r>
          </a:p>
          <a:p>
            <a:pPr>
              <a:spcBef>
                <a:spcPts val="600"/>
              </a:spcBef>
              <a:defRPr sz="1200">
                <a:solidFill>
                  <a:srgbClr val="0F172A"/>
                </a:solidFill>
                <a:latin typeface="Arial"/>
              </a:defRPr>
            </a:pPr>
            <a:r>
              <a:t>• Di Luar Diagonal Utama:</a:t>
            </a:r>
            <a:br/>
            <a:r>
              <a:t>Kotak tempat model keliru menebak (False Positives &amp; False Negatives). Menunjukkan kelas mana yang membuat model 'bingung'.</a:t>
            </a:r>
          </a:p>
        </p:txBody>
      </p:sp>
      <p:sp>
        <p:nvSpPr>
          <p:cNvPr id="7" name="Rounded Rectangle 6"/>
          <p:cNvSpPr/>
          <p:nvPr/>
        </p:nvSpPr>
        <p:spPr>
          <a:xfrm>
            <a:off x="6217920" y="1371600"/>
            <a:ext cx="539496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217920" y="1371600"/>
            <a:ext cx="5394960" cy="50292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Empat Komponen Dasar Klasifikasi</a:t>
            </a:r>
          </a:p>
        </p:txBody>
      </p:sp>
      <p:sp>
        <p:nvSpPr>
          <p:cNvPr id="9" name="TextBox 8"/>
          <p:cNvSpPr txBox="1"/>
          <p:nvPr/>
        </p:nvSpPr>
        <p:spPr>
          <a:xfrm>
            <a:off x="6355080" y="1920240"/>
            <a:ext cx="5120640" cy="4133088"/>
          </a:xfrm>
          <a:prstGeom prst="rect">
            <a:avLst/>
          </a:prstGeom>
          <a:noFill/>
        </p:spPr>
        <p:txBody>
          <a:bodyPr wrap="square" tIns="73152">
            <a:spAutoFit/>
          </a:bodyPr>
          <a:lstStyle/>
          <a:p>
            <a:pPr>
              <a:defRPr sz="1200">
                <a:solidFill>
                  <a:srgbClr val="0F172A"/>
                </a:solidFill>
                <a:latin typeface="Arial"/>
              </a:defRPr>
            </a:pPr>
            <a:r>
              <a:t>• True Positive (TP): Buah rusak aktual yang BENAR ditebak rusak oleh model.</a:t>
            </a:r>
          </a:p>
          <a:p>
            <a:pPr>
              <a:spcBef>
                <a:spcPts val="600"/>
              </a:spcBef>
              <a:defRPr sz="1200">
                <a:solidFill>
                  <a:srgbClr val="0F172A"/>
                </a:solidFill>
                <a:latin typeface="Arial"/>
              </a:defRPr>
            </a:pPr>
            <a:r>
              <a:t>• True Negative (TN): Buah sehat aktual yang BENAR ditebak sehat oleh model.</a:t>
            </a:r>
          </a:p>
          <a:p>
            <a:pPr>
              <a:spcBef>
                <a:spcPts val="600"/>
              </a:spcBef>
              <a:defRPr sz="1200">
                <a:solidFill>
                  <a:srgbClr val="0F172A"/>
                </a:solidFill>
                <a:latin typeface="Arial"/>
              </a:defRPr>
            </a:pPr>
            <a:r>
              <a:t>• False Negative (FN - Sangat Bahaya!): Buah rusak aktual yang KELIRU ditebak sehat (terlewat ke pasar).</a:t>
            </a:r>
          </a:p>
          <a:p>
            <a:pPr>
              <a:spcBef>
                <a:spcPts val="600"/>
              </a:spcBef>
              <a:defRPr sz="1200">
                <a:solidFill>
                  <a:srgbClr val="0F172A"/>
                </a:solidFill>
                <a:latin typeface="Arial"/>
              </a:defRPr>
            </a:pPr>
            <a:r>
              <a:t>• False Positive (FP - Kerugian Kecil): Buah sehat aktual yang KELIRU ditebak rusak (terbuang/tertolak).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Landasan Teori Metrik: Mengapa Pakai Recall vs Akurasi?</a:t>
            </a:r>
          </a:p>
          <a:p>
            <a:pPr>
              <a:defRPr sz="1250">
                <a:solidFill>
                  <a:srgbClr val="A7F3D0"/>
                </a:solidFill>
                <a:latin typeface="Arial"/>
              </a:defRPr>
            </a:pPr>
            <a:r>
              <a:t>Alasan ilmiah di balik pemilihan metrik evaluasi model Quality Control BuahSafe</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17 of 36</a:t>
            </a:r>
          </a:p>
        </p:txBody>
      </p:sp>
      <p:sp>
        <p:nvSpPr>
          <p:cNvPr id="4" name="Rounded Rectangle 3"/>
          <p:cNvSpPr/>
          <p:nvPr/>
        </p:nvSpPr>
        <p:spPr>
          <a:xfrm>
            <a:off x="548640" y="1371600"/>
            <a:ext cx="34747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371600"/>
            <a:ext cx="3474720" cy="502920"/>
          </a:xfrm>
          <a:prstGeom prst="round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Akurasi &amp; F1-Score Macro</a:t>
            </a:r>
          </a:p>
        </p:txBody>
      </p:sp>
      <p:sp>
        <p:nvSpPr>
          <p:cNvPr id="6" name="TextBox 5"/>
          <p:cNvSpPr txBox="1"/>
          <p:nvPr/>
        </p:nvSpPr>
        <p:spPr>
          <a:xfrm>
            <a:off x="685800" y="1920240"/>
            <a:ext cx="3200400" cy="4133088"/>
          </a:xfrm>
          <a:prstGeom prst="rect">
            <a:avLst/>
          </a:prstGeom>
          <a:noFill/>
        </p:spPr>
        <p:txBody>
          <a:bodyPr wrap="square" tIns="73152">
            <a:spAutoFit/>
          </a:bodyPr>
          <a:lstStyle/>
          <a:p>
            <a:pPr>
              <a:defRPr sz="1100">
                <a:solidFill>
                  <a:srgbClr val="0F172A"/>
                </a:solidFill>
                <a:latin typeface="Arial"/>
              </a:defRPr>
            </a:pPr>
            <a:r>
              <a:t>• Akurasi (Accuracy):</a:t>
            </a:r>
            <a:br/>
            <a:r>
              <a:t>Persentase total tebakan benar dari seluruh sampel. Berguna untuk gambaran umum, tapi menipu jika data timpang.</a:t>
            </a:r>
          </a:p>
          <a:p>
            <a:pPr>
              <a:spcBef>
                <a:spcPts val="600"/>
              </a:spcBef>
              <a:defRPr sz="1100">
                <a:solidFill>
                  <a:srgbClr val="0F172A"/>
                </a:solidFill>
                <a:latin typeface="Arial"/>
              </a:defRPr>
            </a:pPr>
            <a:r>
              <a:t>• F1-Score Macro:</a:t>
            </a:r>
            <a:br/>
            <a:r>
              <a:t>Rata-rata harmonis antara Precision dan Recall untuk setiap kelas. Dipakai agar model adil menilai kelas minoritas yang jarang muncul.</a:t>
            </a:r>
          </a:p>
        </p:txBody>
      </p:sp>
      <p:sp>
        <p:nvSpPr>
          <p:cNvPr id="7" name="Rounded Rectangle 6"/>
          <p:cNvSpPr/>
          <p:nvPr/>
        </p:nvSpPr>
        <p:spPr>
          <a:xfrm>
            <a:off x="4358030" y="1371600"/>
            <a:ext cx="34747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58030" y="1371600"/>
            <a:ext cx="3474720" cy="50292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Mengapa Recall Prioritas Mutlak?</a:t>
            </a:r>
          </a:p>
        </p:txBody>
      </p:sp>
      <p:sp>
        <p:nvSpPr>
          <p:cNvPr id="9" name="TextBox 8"/>
          <p:cNvSpPr txBox="1"/>
          <p:nvPr/>
        </p:nvSpPr>
        <p:spPr>
          <a:xfrm>
            <a:off x="4495190" y="1920240"/>
            <a:ext cx="3200400" cy="4133088"/>
          </a:xfrm>
          <a:prstGeom prst="rect">
            <a:avLst/>
          </a:prstGeom>
          <a:noFill/>
        </p:spPr>
        <p:txBody>
          <a:bodyPr wrap="square" tIns="73152">
            <a:spAutoFit/>
          </a:bodyPr>
          <a:lstStyle/>
          <a:p>
            <a:pPr>
              <a:defRPr sz="1100">
                <a:solidFill>
                  <a:srgbClr val="0F172A"/>
                </a:solidFill>
                <a:latin typeface="Arial"/>
              </a:defRPr>
            </a:pPr>
            <a:r>
              <a:t>• Recall / Sensitivity:</a:t>
            </a:r>
            <a:br/>
            <a:r>
              <a:t>Persentase buah rusak aktual yang berhasil ketangkap model.</a:t>
            </a:r>
          </a:p>
          <a:p>
            <a:pPr>
              <a:spcBef>
                <a:spcPts val="600"/>
              </a:spcBef>
              <a:defRPr sz="1100">
                <a:solidFill>
                  <a:srgbClr val="0F172A"/>
                </a:solidFill>
                <a:latin typeface="Arial"/>
              </a:defRPr>
            </a:pPr>
            <a:r>
              <a:t>• Kausalitas Bisnis Jambu:</a:t>
            </a:r>
            <a:br/>
            <a:r>
              <a:t>Jika Recall rendah (banyak False Negative), konsumen menemukan ulat di supermarket -&gt; reputasi merek BuahSafe hancur total!</a:t>
            </a:r>
          </a:p>
          <a:p>
            <a:pPr>
              <a:spcBef>
                <a:spcPts val="600"/>
              </a:spcBef>
              <a:defRPr sz="1100">
                <a:solidFill>
                  <a:srgbClr val="0F172A"/>
                </a:solidFill>
                <a:latin typeface="Arial"/>
              </a:defRPr>
            </a:pPr>
            <a:r>
              <a:t>• Target BuahSafe:</a:t>
            </a:r>
            <a:br/>
            <a:r>
              <a:t>Recall kelas Rusak wajib &gt; 95%.</a:t>
            </a:r>
          </a:p>
        </p:txBody>
      </p:sp>
      <p:sp>
        <p:nvSpPr>
          <p:cNvPr id="10" name="Rounded Rectangle 9"/>
          <p:cNvSpPr/>
          <p:nvPr/>
        </p:nvSpPr>
        <p:spPr>
          <a:xfrm>
            <a:off x="8168335" y="1371600"/>
            <a:ext cx="34747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168335" y="1371600"/>
            <a:ext cx="3474720" cy="5029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Precision &amp; Metrik Regresi</a:t>
            </a:r>
          </a:p>
        </p:txBody>
      </p:sp>
      <p:sp>
        <p:nvSpPr>
          <p:cNvPr id="12" name="TextBox 11"/>
          <p:cNvSpPr txBox="1"/>
          <p:nvPr/>
        </p:nvSpPr>
        <p:spPr>
          <a:xfrm>
            <a:off x="8305495" y="1920240"/>
            <a:ext cx="3200400" cy="4133088"/>
          </a:xfrm>
          <a:prstGeom prst="rect">
            <a:avLst/>
          </a:prstGeom>
          <a:noFill/>
        </p:spPr>
        <p:txBody>
          <a:bodyPr wrap="square" tIns="73152">
            <a:spAutoFit/>
          </a:bodyPr>
          <a:lstStyle/>
          <a:p>
            <a:pPr>
              <a:defRPr sz="1100">
                <a:solidFill>
                  <a:srgbClr val="0F172A"/>
                </a:solidFill>
                <a:latin typeface="Arial"/>
              </a:defRPr>
            </a:pPr>
            <a:r>
              <a:t>• Precision:</a:t>
            </a:r>
            <a:br/>
            <a:r>
              <a:t>Persentase tebakan rusak yang benar-benar rusak. Kurang diprioritaskan karena salah tebak buah sehat (FP) hanya rugi kecil.</a:t>
            </a:r>
          </a:p>
          <a:p>
            <a:pPr>
              <a:spcBef>
                <a:spcPts val="600"/>
              </a:spcBef>
              <a:defRPr sz="1100">
                <a:solidFill>
                  <a:srgbClr val="0F172A"/>
                </a:solidFill>
                <a:latin typeface="Arial"/>
              </a:defRPr>
            </a:pPr>
            <a:r>
              <a:t>• MAE (Mean Absolute Error):</a:t>
            </a:r>
            <a:br/>
            <a:r>
              <a:t>Rata-rata melesetnya angka regresi kontinu (misal meleset $\pm 3.8$ Agtron).</a:t>
            </a:r>
          </a:p>
          <a:p>
            <a:pPr>
              <a:spcBef>
                <a:spcPts val="600"/>
              </a:spcBef>
              <a:defRPr sz="1100">
                <a:solidFill>
                  <a:srgbClr val="0F172A"/>
                </a:solidFill>
                <a:latin typeface="Arial"/>
              </a:defRPr>
            </a:pPr>
            <a:r>
              <a:t>• R-Squared ($R^2$):</a:t>
            </a:r>
            <a:br/>
            <a:r>
              <a:t>Persentase variasi data yang berhasil dijelaskan oleh model regresi.</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Evaluasi Model 1: Dummy Classifier (Baseline Pembanding)</a:t>
            </a:r>
          </a:p>
          <a:p>
            <a:pPr>
              <a:defRPr sz="1250">
                <a:solidFill>
                  <a:srgbClr val="A7F3D0"/>
                </a:solidFill>
                <a:latin typeface="Arial"/>
              </a:defRPr>
            </a:pPr>
            <a:r>
              <a:t>Analisis Confusion Matrix model tebak buta sebagai tolok ukur batas bawah</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18 of 36</a:t>
            </a:r>
          </a:p>
        </p:txBody>
      </p:sp>
      <p:pic>
        <p:nvPicPr>
          <p:cNvPr id="4" name="Picture 3" descr="fig5_cm_dummy.png"/>
          <p:cNvPicPr>
            <a:picLocks noChangeAspect="1"/>
          </p:cNvPicPr>
          <p:nvPr/>
        </p:nvPicPr>
        <p:blipFill>
          <a:blip r:embed="rId2"/>
          <a:stretch>
            <a:fillRect/>
          </a:stretch>
        </p:blipFill>
        <p:spPr>
          <a:xfrm>
            <a:off x="548640" y="1463040"/>
            <a:ext cx="5303520" cy="4079631"/>
          </a:xfrm>
          <a:prstGeom prst="rect">
            <a:avLst/>
          </a:prstGeom>
        </p:spPr>
      </p:pic>
      <p:sp>
        <p:nvSpPr>
          <p:cNvPr id="5" name="Rounded Rectangle 4"/>
          <p:cNvSpPr/>
          <p:nvPr/>
        </p:nvSpPr>
        <p:spPr>
          <a:xfrm>
            <a:off x="6035040" y="1463040"/>
            <a:ext cx="557784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035040" y="1463040"/>
            <a:ext cx="5577840" cy="502920"/>
          </a:xfrm>
          <a:prstGeom prst="round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Bedah Tuntas Confusion Matrix Dummy</a:t>
            </a:r>
          </a:p>
        </p:txBody>
      </p:sp>
      <p:sp>
        <p:nvSpPr>
          <p:cNvPr id="7" name="TextBox 6"/>
          <p:cNvSpPr txBox="1"/>
          <p:nvPr/>
        </p:nvSpPr>
        <p:spPr>
          <a:xfrm>
            <a:off x="6172200" y="2011680"/>
            <a:ext cx="5303520" cy="4041648"/>
          </a:xfrm>
          <a:prstGeom prst="rect">
            <a:avLst/>
          </a:prstGeom>
          <a:noFill/>
        </p:spPr>
        <p:txBody>
          <a:bodyPr wrap="square" tIns="73152">
            <a:spAutoFit/>
          </a:bodyPr>
          <a:lstStyle/>
          <a:p>
            <a:pPr>
              <a:defRPr sz="1150">
                <a:solidFill>
                  <a:srgbClr val="0F172A"/>
                </a:solidFill>
                <a:latin typeface="Arial"/>
              </a:defRPr>
            </a:pPr>
            <a:r>
              <a:t>• Strategi Most Frequent:</a:t>
            </a:r>
            <a:br/>
            <a:r>
              <a:t>Model menebak seluruh sampel sebagai kelas mayoritas (Medium Roast) tanpa melihat pembacaan 18 kanal sensor sama sekali.</a:t>
            </a:r>
          </a:p>
          <a:p>
            <a:pPr>
              <a:spcBef>
                <a:spcPts val="600"/>
              </a:spcBef>
              <a:defRPr sz="1150">
                <a:solidFill>
                  <a:srgbClr val="0F172A"/>
                </a:solidFill>
                <a:latin typeface="Arial"/>
              </a:defRPr>
            </a:pPr>
            <a:r>
              <a:t>• Akurasi Hancur (26.2%):</a:t>
            </a:r>
            <a:br/>
            <a:r>
              <a:t>Dari seluruh data uji, model keliru total memprediksi sampel Dark Roast dan Light Roast (angka nol di diagonal atas/bawah).</a:t>
            </a:r>
          </a:p>
          <a:p>
            <a:pPr>
              <a:spcBef>
                <a:spcPts val="600"/>
              </a:spcBef>
              <a:defRPr sz="1150">
                <a:solidFill>
                  <a:srgbClr val="0F172A"/>
                </a:solidFill>
                <a:latin typeface="Arial"/>
              </a:defRPr>
            </a:pPr>
            <a:r>
              <a:t>• Makna Ilmiah:</a:t>
            </a:r>
            <a:br/>
            <a:r>
              <a:t>Angka 26.2% menjadi batas bawah (*floor baseline*). Jika model AI kita mendapatkan akurasi di atas ini, berarti sensor AS7265x terbukti membawa informasi valid!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Evaluasi Model 2: Logistic Regression (Model Linear)</a:t>
            </a:r>
          </a:p>
          <a:p>
            <a:pPr>
              <a:defRPr sz="1250">
                <a:solidFill>
                  <a:srgbClr val="A7F3D0"/>
                </a:solidFill>
                <a:latin typeface="Arial"/>
              </a:defRPr>
            </a:pPr>
            <a:r>
              <a:t>Mengapa model pemisah garis linear sederhana kesulitan membedakan kelas?</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19 of 36</a:t>
            </a:r>
          </a:p>
        </p:txBody>
      </p:sp>
      <p:pic>
        <p:nvPicPr>
          <p:cNvPr id="4" name="Picture 3" descr="fig6_cm_logreg.png"/>
          <p:cNvPicPr>
            <a:picLocks noChangeAspect="1"/>
          </p:cNvPicPr>
          <p:nvPr/>
        </p:nvPicPr>
        <p:blipFill>
          <a:blip r:embed="rId2"/>
          <a:stretch>
            <a:fillRect/>
          </a:stretch>
        </p:blipFill>
        <p:spPr>
          <a:xfrm>
            <a:off x="548640" y="1463040"/>
            <a:ext cx="5303520" cy="4079631"/>
          </a:xfrm>
          <a:prstGeom prst="rect">
            <a:avLst/>
          </a:prstGeom>
        </p:spPr>
      </p:pic>
      <p:sp>
        <p:nvSpPr>
          <p:cNvPr id="5" name="Rounded Rectangle 4"/>
          <p:cNvSpPr/>
          <p:nvPr/>
        </p:nvSpPr>
        <p:spPr>
          <a:xfrm>
            <a:off x="6035040" y="1463040"/>
            <a:ext cx="557784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035040" y="1463040"/>
            <a:ext cx="5577840" cy="50292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Bedah Tuntas Confusion Matrix Logistic</a:t>
            </a:r>
          </a:p>
        </p:txBody>
      </p:sp>
      <p:sp>
        <p:nvSpPr>
          <p:cNvPr id="7" name="TextBox 6"/>
          <p:cNvSpPr txBox="1"/>
          <p:nvPr/>
        </p:nvSpPr>
        <p:spPr>
          <a:xfrm>
            <a:off x="6172200" y="2011680"/>
            <a:ext cx="5303520" cy="4041648"/>
          </a:xfrm>
          <a:prstGeom prst="rect">
            <a:avLst/>
          </a:prstGeom>
          <a:noFill/>
        </p:spPr>
        <p:txBody>
          <a:bodyPr wrap="square" tIns="73152">
            <a:spAutoFit/>
          </a:bodyPr>
          <a:lstStyle/>
          <a:p>
            <a:pPr>
              <a:defRPr sz="1150">
                <a:solidFill>
                  <a:srgbClr val="0F172A"/>
                </a:solidFill>
                <a:latin typeface="Arial"/>
              </a:defRPr>
            </a:pPr>
            <a:r>
              <a:t>• Akurasi Moderat (45.0%):</a:t>
            </a:r>
            <a:br/>
            <a:r>
              <a:t>Model berhasil melampaui baseline Dummy, membuktikan spektrum sensor bermanfaat.</a:t>
            </a:r>
          </a:p>
          <a:p>
            <a:pPr>
              <a:spcBef>
                <a:spcPts val="600"/>
              </a:spcBef>
              <a:defRPr sz="1150">
                <a:solidFill>
                  <a:srgbClr val="0F172A"/>
                </a:solidFill>
                <a:latin typeface="Arial"/>
              </a:defRPr>
            </a:pPr>
            <a:r>
              <a:t>• Kebingungan Kelas (Class Confusion):</a:t>
            </a:r>
            <a:br/>
            <a:r>
              <a:t>Perhatikan angka salah di luar diagonal utama. Model linear kesulitan memisahkan batas antara Medium dan Dark karena fluktuasi intensitas spektral bersifat non-linear.</a:t>
            </a:r>
          </a:p>
          <a:p>
            <a:pPr>
              <a:spcBef>
                <a:spcPts val="600"/>
              </a:spcBef>
              <a:defRPr sz="1150">
                <a:solidFill>
                  <a:srgbClr val="0F172A"/>
                </a:solidFill>
                <a:latin typeface="Arial"/>
              </a:defRPr>
            </a:pPr>
            <a:r>
              <a:t>• Kesimpulan Pipeline:</a:t>
            </a:r>
            <a:br/>
            <a:r>
              <a:t>Kita membutuhkan algoritma non-linear seperti Random Forest atau Support Vector Machine!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Tinjauan Pustaka Algoritma: Random Forest &amp; SVM RBF</a:t>
            </a:r>
          </a:p>
          <a:p>
            <a:pPr>
              <a:defRPr sz="1250">
                <a:solidFill>
                  <a:srgbClr val="A7F3D0"/>
                </a:solidFill>
                <a:latin typeface="Arial"/>
              </a:defRPr>
            </a:pPr>
            <a:r>
              <a:t>Landasan teori cara kerja algoritma non-linear sebelum membedah evaluasi hasilnya</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20 of 36</a:t>
            </a:r>
          </a:p>
        </p:txBody>
      </p:sp>
      <p:sp>
        <p:nvSpPr>
          <p:cNvPr id="4" name="Rounded Rectangle 3"/>
          <p:cNvSpPr/>
          <p:nvPr/>
        </p:nvSpPr>
        <p:spPr>
          <a:xfrm>
            <a:off x="548640" y="1371600"/>
            <a:ext cx="53035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371600"/>
            <a:ext cx="5303520" cy="5029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Random Forest (Ensemble Decision Trees)</a:t>
            </a:r>
          </a:p>
        </p:txBody>
      </p:sp>
      <p:sp>
        <p:nvSpPr>
          <p:cNvPr id="6" name="TextBox 5"/>
          <p:cNvSpPr txBox="1"/>
          <p:nvPr/>
        </p:nvSpPr>
        <p:spPr>
          <a:xfrm>
            <a:off x="685800" y="1920240"/>
            <a:ext cx="5029200" cy="4133088"/>
          </a:xfrm>
          <a:prstGeom prst="rect">
            <a:avLst/>
          </a:prstGeom>
          <a:noFill/>
        </p:spPr>
        <p:txBody>
          <a:bodyPr wrap="square" tIns="73152">
            <a:spAutoFit/>
          </a:bodyPr>
          <a:lstStyle/>
          <a:p>
            <a:pPr>
              <a:defRPr sz="1150">
                <a:solidFill>
                  <a:srgbClr val="0F172A"/>
                </a:solidFill>
                <a:latin typeface="Arial"/>
              </a:defRPr>
            </a:pPr>
            <a:r>
              <a:t>• Konsep Bagging &amp; Voting:</a:t>
            </a:r>
            <a:br/>
            <a:r>
              <a:t>Membangun gabungan 100 Pohon Keputusan (*Decision Trees*) yang masing-masing dilatih pada cuplikan data acak, lalu mengambil keputusan berdasarkan voting terbanyak.</a:t>
            </a:r>
          </a:p>
          <a:p>
            <a:pPr>
              <a:spcBef>
                <a:spcPts val="600"/>
              </a:spcBef>
              <a:defRPr sz="1150">
                <a:solidFill>
                  <a:srgbClr val="0F172A"/>
                </a:solidFill>
                <a:latin typeface="Arial"/>
              </a:defRPr>
            </a:pPr>
            <a:r>
              <a:t>• Keunggulan Non-Linear &amp; Explainability:</a:t>
            </a:r>
            <a:br/>
            <a:r>
              <a:t>Sangat tangguh menangkap pola rumit dan mampu menghitung *Permutation Importance* untuk transparansi ilmiah.</a:t>
            </a:r>
          </a:p>
          <a:p>
            <a:pPr>
              <a:spcBef>
                <a:spcPts val="600"/>
              </a:spcBef>
              <a:defRPr sz="1150">
                <a:solidFill>
                  <a:srgbClr val="0F172A"/>
                </a:solidFill>
                <a:latin typeface="Arial"/>
              </a:defRPr>
            </a:pPr>
            <a:r>
              <a:t>• Anti-Overfitting:</a:t>
            </a:r>
            <a:br/>
            <a:r>
              <a:t>Karena digabung dari ratusan pohon yang saling mengoreksi, model ini jauh lebih stabil dibanding satu pohon tunggal.</a:t>
            </a:r>
          </a:p>
        </p:txBody>
      </p:sp>
      <p:sp>
        <p:nvSpPr>
          <p:cNvPr id="7" name="Rounded Rectangle 6"/>
          <p:cNvSpPr/>
          <p:nvPr/>
        </p:nvSpPr>
        <p:spPr>
          <a:xfrm>
            <a:off x="6217920" y="1371600"/>
            <a:ext cx="539496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217920" y="1371600"/>
            <a:ext cx="5394960" cy="502920"/>
          </a:xfrm>
          <a:prstGeom prst="round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Support Vector Machine (SVM RBF Kernel)</a:t>
            </a:r>
          </a:p>
        </p:txBody>
      </p:sp>
      <p:sp>
        <p:nvSpPr>
          <p:cNvPr id="9" name="TextBox 8"/>
          <p:cNvSpPr txBox="1"/>
          <p:nvPr/>
        </p:nvSpPr>
        <p:spPr>
          <a:xfrm>
            <a:off x="6355080" y="1920240"/>
            <a:ext cx="5120640" cy="4133088"/>
          </a:xfrm>
          <a:prstGeom prst="rect">
            <a:avLst/>
          </a:prstGeom>
          <a:noFill/>
        </p:spPr>
        <p:txBody>
          <a:bodyPr wrap="square" tIns="73152">
            <a:spAutoFit/>
          </a:bodyPr>
          <a:lstStyle/>
          <a:p>
            <a:pPr>
              <a:defRPr sz="1150">
                <a:solidFill>
                  <a:srgbClr val="0F172A"/>
                </a:solidFill>
                <a:latin typeface="Arial"/>
              </a:defRPr>
            </a:pPr>
            <a:r>
              <a:t>• Konsep Hyperplane &amp; Margin:</a:t>
            </a:r>
            <a:br/>
            <a:r>
              <a:t>Mencari bidang pemisah (*hyperplane*) dengan jarak batas (*margin*) terlebar antar kelas.</a:t>
            </a:r>
          </a:p>
          <a:p>
            <a:pPr>
              <a:spcBef>
                <a:spcPts val="600"/>
              </a:spcBef>
              <a:defRPr sz="1150">
                <a:solidFill>
                  <a:srgbClr val="0F172A"/>
                </a:solidFill>
                <a:latin typeface="Arial"/>
              </a:defRPr>
            </a:pPr>
            <a:r>
              <a:t>• Keajaiban RBF (Radial Basis Function) Kernel:</a:t>
            </a:r>
            <a:br/>
            <a:r>
              <a:t>Karena data spektral 18 kanal melengkung rumit dan tumpang tindih, Kernel RBF memetakan data ke ruang dimensi tak hingga agar dapat dipisahkan secara sempurna!</a:t>
            </a:r>
          </a:p>
          <a:p>
            <a:pPr>
              <a:spcBef>
                <a:spcPts val="600"/>
              </a:spcBef>
              <a:defRPr sz="1150">
                <a:solidFill>
                  <a:srgbClr val="0F172A"/>
                </a:solidFill>
                <a:latin typeface="Arial"/>
              </a:defRPr>
            </a:pPr>
            <a:r>
              <a:t>• Peran Parameter C &amp; Gamma:</a:t>
            </a:r>
            <a:br/>
            <a:r>
              <a:t>C mengatur ketegatan hukuman salah tebak, sedangkan Gamma mengatur radius jangkauan pengaruh setiap titik sampel.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Evaluasi Model 3: Random Forest (Ensemble Decision Trees)</a:t>
            </a:r>
          </a:p>
          <a:p>
            <a:pPr>
              <a:defRPr sz="1250">
                <a:solidFill>
                  <a:srgbClr val="A7F3D0"/>
                </a:solidFill>
                <a:latin typeface="Arial"/>
              </a:defRPr>
            </a:pPr>
            <a:r>
              <a:t>Melompat ke akurasi 67.5% dengan transparansi fitur (Explainable AI)</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21 of 36</a:t>
            </a:r>
          </a:p>
        </p:txBody>
      </p:sp>
      <p:pic>
        <p:nvPicPr>
          <p:cNvPr id="4" name="Picture 3" descr="fig7_cm_rf.png"/>
          <p:cNvPicPr>
            <a:picLocks noChangeAspect="1"/>
          </p:cNvPicPr>
          <p:nvPr/>
        </p:nvPicPr>
        <p:blipFill>
          <a:blip r:embed="rId2"/>
          <a:stretch>
            <a:fillRect/>
          </a:stretch>
        </p:blipFill>
        <p:spPr>
          <a:xfrm>
            <a:off x="548640" y="1463040"/>
            <a:ext cx="5303520" cy="4079631"/>
          </a:xfrm>
          <a:prstGeom prst="rect">
            <a:avLst/>
          </a:prstGeom>
        </p:spPr>
      </p:pic>
      <p:sp>
        <p:nvSpPr>
          <p:cNvPr id="5" name="Rounded Rectangle 4"/>
          <p:cNvSpPr/>
          <p:nvPr/>
        </p:nvSpPr>
        <p:spPr>
          <a:xfrm>
            <a:off x="6035040" y="1463040"/>
            <a:ext cx="557784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035040" y="1463040"/>
            <a:ext cx="5577840" cy="5029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Bedah Tuntas Confusion Matrix Random Forest</a:t>
            </a:r>
          </a:p>
        </p:txBody>
      </p:sp>
      <p:sp>
        <p:nvSpPr>
          <p:cNvPr id="7" name="TextBox 6"/>
          <p:cNvSpPr txBox="1"/>
          <p:nvPr/>
        </p:nvSpPr>
        <p:spPr>
          <a:xfrm>
            <a:off x="6172200" y="2011680"/>
            <a:ext cx="5303520" cy="4041648"/>
          </a:xfrm>
          <a:prstGeom prst="rect">
            <a:avLst/>
          </a:prstGeom>
          <a:noFill/>
        </p:spPr>
        <p:txBody>
          <a:bodyPr wrap="square" tIns="73152">
            <a:spAutoFit/>
          </a:bodyPr>
          <a:lstStyle/>
          <a:p>
            <a:pPr>
              <a:defRPr sz="1150">
                <a:solidFill>
                  <a:srgbClr val="0F172A"/>
                </a:solidFill>
                <a:latin typeface="Arial"/>
              </a:defRPr>
            </a:pPr>
            <a:r>
              <a:t>• Lompatan Akurasi (67.5%):</a:t>
            </a:r>
            <a:br/>
            <a:r>
              <a:t>Dengan membangun gabungan 100 pohon keputusan, model berhasil memetakan pola non-linear interaksi 18 kanal sensor.</a:t>
            </a:r>
          </a:p>
          <a:p>
            <a:pPr>
              <a:spcBef>
                <a:spcPts val="600"/>
              </a:spcBef>
              <a:defRPr sz="1150">
                <a:solidFill>
                  <a:srgbClr val="0F172A"/>
                </a:solidFill>
                <a:latin typeface="Arial"/>
              </a:defRPr>
            </a:pPr>
            <a:r>
              <a:t>• Prediksi Sempurna di Kelas Ekstrem:</a:t>
            </a:r>
            <a:br/>
            <a:r>
              <a:t>Perhatikan bahwa tidak ada satu pun sampel Dark Roast yang tertukar jauh menjadi Light Roast (nol kesalahan ekstrem)!</a:t>
            </a:r>
          </a:p>
          <a:p>
            <a:pPr>
              <a:spcBef>
                <a:spcPts val="600"/>
              </a:spcBef>
              <a:defRPr sz="1150">
                <a:solidFill>
                  <a:srgbClr val="0F172A"/>
                </a:solidFill>
                <a:latin typeface="Arial"/>
              </a:defRPr>
            </a:pPr>
            <a:r>
              <a:t>• Keunggulan Transparansi:</a:t>
            </a:r>
            <a:br/>
            <a:r>
              <a:t>Random Forest memungkinkan kita menghitung *Permutation Importance* untuk audit ilmiah agronomis.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Evaluasi Model 4A: SVM Default RBF Kernel (Sebelum Tuning)</a:t>
            </a:r>
          </a:p>
          <a:p>
            <a:pPr>
              <a:defRPr sz="1250">
                <a:solidFill>
                  <a:srgbClr val="A7F3D0"/>
                </a:solidFill>
                <a:latin typeface="Arial"/>
              </a:defRPr>
            </a:pPr>
            <a:r>
              <a:t>Analisis mengapa parameter default SVM stuck pada akurasi 50.0%</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22 of 36</a:t>
            </a:r>
          </a:p>
        </p:txBody>
      </p:sp>
      <p:pic>
        <p:nvPicPr>
          <p:cNvPr id="4" name="Picture 3" descr="fig8_cm_svm_default.png"/>
          <p:cNvPicPr>
            <a:picLocks noChangeAspect="1"/>
          </p:cNvPicPr>
          <p:nvPr/>
        </p:nvPicPr>
        <p:blipFill>
          <a:blip r:embed="rId2"/>
          <a:stretch>
            <a:fillRect/>
          </a:stretch>
        </p:blipFill>
        <p:spPr>
          <a:xfrm>
            <a:off x="548640" y="1463040"/>
            <a:ext cx="5303520" cy="4079631"/>
          </a:xfrm>
          <a:prstGeom prst="rect">
            <a:avLst/>
          </a:prstGeom>
        </p:spPr>
      </p:pic>
      <p:sp>
        <p:nvSpPr>
          <p:cNvPr id="5" name="Rounded Rectangle 4"/>
          <p:cNvSpPr/>
          <p:nvPr/>
        </p:nvSpPr>
        <p:spPr>
          <a:xfrm>
            <a:off x="6035040" y="1463040"/>
            <a:ext cx="557784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035040" y="1463040"/>
            <a:ext cx="5577840" cy="50292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Bedah Tuntas SVM Parameter Default</a:t>
            </a:r>
          </a:p>
        </p:txBody>
      </p:sp>
      <p:sp>
        <p:nvSpPr>
          <p:cNvPr id="7" name="TextBox 6"/>
          <p:cNvSpPr txBox="1"/>
          <p:nvPr/>
        </p:nvSpPr>
        <p:spPr>
          <a:xfrm>
            <a:off x="6172200" y="2011680"/>
            <a:ext cx="5303520" cy="4041648"/>
          </a:xfrm>
          <a:prstGeom prst="rect">
            <a:avLst/>
          </a:prstGeom>
          <a:noFill/>
        </p:spPr>
        <p:txBody>
          <a:bodyPr wrap="square" tIns="73152">
            <a:spAutoFit/>
          </a:bodyPr>
          <a:lstStyle/>
          <a:p>
            <a:pPr>
              <a:defRPr sz="1150">
                <a:solidFill>
                  <a:srgbClr val="0F172A"/>
                </a:solidFill>
                <a:latin typeface="Arial"/>
              </a:defRPr>
            </a:pPr>
            <a:r>
              <a:t>• Kegagalan Parameter Standar (C=1, gamma='scale'):</a:t>
            </a:r>
            <a:br/>
            <a:r>
              <a:t>Akurasi tertahan di angka 50.0%. Model cenderung ragu-ragu dan banyak menebak sampel ke kelas tengah (Medium).</a:t>
            </a:r>
          </a:p>
          <a:p>
            <a:pPr>
              <a:spcBef>
                <a:spcPts val="600"/>
              </a:spcBef>
              <a:defRPr sz="1150">
                <a:solidFill>
                  <a:srgbClr val="0F172A"/>
                </a:solidFill>
                <a:latin typeface="Arial"/>
              </a:defRPr>
            </a:pPr>
            <a:r>
              <a:t>• Alasan Matematis:</a:t>
            </a:r>
            <a:br/>
            <a:r>
              <a:t>Kernel RBF default belum cukup ketat meregulasi batas antar kelas (*decision boundary*) pada ruang 18 dimensi spektral.</a:t>
            </a:r>
          </a:p>
          <a:p>
            <a:pPr>
              <a:spcBef>
                <a:spcPts val="600"/>
              </a:spcBef>
              <a:defRPr sz="1150">
                <a:solidFill>
                  <a:srgbClr val="0F172A"/>
                </a:solidFill>
                <a:latin typeface="Arial"/>
              </a:defRPr>
            </a:pPr>
            <a:r>
              <a:t>• Urgensi Hyperparameter Tuning:</a:t>
            </a:r>
            <a:br/>
            <a:r>
              <a:t>Ini membuktikan bahwa model AI tidak boleh langsung dipakai tanpa proses tuning parameter spesifik!</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Evaluasi Model 4B: SVM Tuned (Puncak Performa Optimal)</a:t>
            </a:r>
          </a:p>
          <a:p>
            <a:pPr>
              <a:defRPr sz="1250">
                <a:solidFill>
                  <a:srgbClr val="A7F3D0"/>
                </a:solidFill>
                <a:latin typeface="Arial"/>
              </a:defRPr>
            </a:pPr>
            <a:r>
              <a:t>Melonjak ke akurasi 75.0% setelah kalibrasi parameter C=10 dan gamma=1</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23 of 36</a:t>
            </a:r>
          </a:p>
        </p:txBody>
      </p:sp>
      <p:pic>
        <p:nvPicPr>
          <p:cNvPr id="4" name="Picture 3" descr="fig9_cm_svm_tuned.png"/>
          <p:cNvPicPr>
            <a:picLocks noChangeAspect="1"/>
          </p:cNvPicPr>
          <p:nvPr/>
        </p:nvPicPr>
        <p:blipFill>
          <a:blip r:embed="rId2"/>
          <a:stretch>
            <a:fillRect/>
          </a:stretch>
        </p:blipFill>
        <p:spPr>
          <a:xfrm>
            <a:off x="548640" y="1463040"/>
            <a:ext cx="5303520" cy="4079631"/>
          </a:xfrm>
          <a:prstGeom prst="rect">
            <a:avLst/>
          </a:prstGeom>
        </p:spPr>
      </p:pic>
      <p:sp>
        <p:nvSpPr>
          <p:cNvPr id="5" name="Rounded Rectangle 4"/>
          <p:cNvSpPr/>
          <p:nvPr/>
        </p:nvSpPr>
        <p:spPr>
          <a:xfrm>
            <a:off x="6035040" y="1463040"/>
            <a:ext cx="557784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035040" y="1463040"/>
            <a:ext cx="5577840" cy="502920"/>
          </a:xfrm>
          <a:prstGeom prst="round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Bedah Tuntas SVM Setelah Tuning (+25%!)</a:t>
            </a:r>
          </a:p>
        </p:txBody>
      </p:sp>
      <p:sp>
        <p:nvSpPr>
          <p:cNvPr id="7" name="TextBox 6"/>
          <p:cNvSpPr txBox="1"/>
          <p:nvPr/>
        </p:nvSpPr>
        <p:spPr>
          <a:xfrm>
            <a:off x="6172200" y="2011680"/>
            <a:ext cx="5303520" cy="4041648"/>
          </a:xfrm>
          <a:prstGeom prst="rect">
            <a:avLst/>
          </a:prstGeom>
          <a:noFill/>
        </p:spPr>
        <p:txBody>
          <a:bodyPr wrap="square" tIns="73152">
            <a:spAutoFit/>
          </a:bodyPr>
          <a:lstStyle/>
          <a:p>
            <a:pPr>
              <a:defRPr sz="1150">
                <a:solidFill>
                  <a:srgbClr val="0F172A"/>
                </a:solidFill>
                <a:latin typeface="Arial"/>
              </a:defRPr>
            </a:pPr>
            <a:r>
              <a:t>• Puncak Akurasi Tertinggi (75.0%):</a:t>
            </a:r>
            <a:br/>
            <a:r>
              <a:t>Setelah dilatih melalui GridSearchCV (C=10, gamma=1), diagonal utama Confusion Matrix menjadi sangat pekat (tebakan benar mendominasi).</a:t>
            </a:r>
          </a:p>
          <a:p>
            <a:pPr>
              <a:spcBef>
                <a:spcPts val="600"/>
              </a:spcBef>
              <a:defRPr sz="1150">
                <a:solidFill>
                  <a:srgbClr val="0F172A"/>
                </a:solidFill>
                <a:latin typeface="Arial"/>
              </a:defRPr>
            </a:pPr>
            <a:r>
              <a:t>• Pemisahan Kelas Superior:</a:t>
            </a:r>
            <a:br/>
            <a:r>
              <a:t>Model berhasil mengenali sidik jari spesifik pembentukan melanoidin pada Dark Roast dan pantulan tinggi pada Light Roast.</a:t>
            </a:r>
          </a:p>
          <a:p>
            <a:pPr>
              <a:spcBef>
                <a:spcPts val="600"/>
              </a:spcBef>
              <a:defRPr sz="1150">
                <a:solidFill>
                  <a:srgbClr val="0F172A"/>
                </a:solidFill>
                <a:latin typeface="Arial"/>
              </a:defRPr>
            </a:pPr>
            <a:r>
              <a:t>• Pilihan Utama Eksekutor Pabrik:</a:t>
            </a:r>
            <a:br/>
            <a:r>
              <a:t>Inilah model terbaik yang direkomendasikan untuk ditanamkan pada mesin penyortir cepat di pabrik QC massal!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Rekapitulasi Komparasi Performa Seluruh Model Klasifikasi</a:t>
            </a:r>
          </a:p>
          <a:p>
            <a:pPr>
              <a:defRPr sz="1250">
                <a:solidFill>
                  <a:srgbClr val="A7F3D0"/>
                </a:solidFill>
                <a:latin typeface="Arial"/>
              </a:defRPr>
            </a:pPr>
            <a:r>
              <a:t>Bar chart membuktikan lompatan akurasi masif +48.8% melampaui baseline</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24 of 36</a:t>
            </a:r>
          </a:p>
        </p:txBody>
      </p:sp>
      <p:pic>
        <p:nvPicPr>
          <p:cNvPr id="4" name="Picture 3" descr="fig10_model_comparison_bar.png"/>
          <p:cNvPicPr>
            <a:picLocks noChangeAspect="1"/>
          </p:cNvPicPr>
          <p:nvPr/>
        </p:nvPicPr>
        <p:blipFill>
          <a:blip r:embed="rId2"/>
          <a:stretch>
            <a:fillRect/>
          </a:stretch>
        </p:blipFill>
        <p:spPr>
          <a:xfrm>
            <a:off x="548640" y="1463040"/>
            <a:ext cx="5852160" cy="3304749"/>
          </a:xfrm>
          <a:prstGeom prst="rect">
            <a:avLst/>
          </a:prstGeom>
        </p:spPr>
      </p:pic>
      <p:sp>
        <p:nvSpPr>
          <p:cNvPr id="5" name="Rounded Rectangle 4"/>
          <p:cNvSpPr/>
          <p:nvPr/>
        </p:nvSpPr>
        <p:spPr>
          <a:xfrm>
            <a:off x="6583680" y="1463040"/>
            <a:ext cx="502920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583680" y="1463040"/>
            <a:ext cx="5029200" cy="5029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Kesimpulan Pembuktian Konsep Klasifikasi</a:t>
            </a:r>
          </a:p>
        </p:txBody>
      </p:sp>
      <p:sp>
        <p:nvSpPr>
          <p:cNvPr id="7" name="TextBox 6"/>
          <p:cNvSpPr txBox="1"/>
          <p:nvPr/>
        </p:nvSpPr>
        <p:spPr>
          <a:xfrm>
            <a:off x="6720840" y="2011680"/>
            <a:ext cx="4754880" cy="4041648"/>
          </a:xfrm>
          <a:prstGeom prst="rect">
            <a:avLst/>
          </a:prstGeom>
          <a:noFill/>
        </p:spPr>
        <p:txBody>
          <a:bodyPr wrap="square" tIns="73152">
            <a:spAutoFit/>
          </a:bodyPr>
          <a:lstStyle/>
          <a:p>
            <a:pPr>
              <a:defRPr sz="1150">
                <a:solidFill>
                  <a:srgbClr val="0F172A"/>
                </a:solidFill>
                <a:latin typeface="Arial"/>
              </a:defRPr>
            </a:pPr>
            <a:r>
              <a:t>• Lonjakan Masif +48.8% Akurasi:</a:t>
            </a:r>
            <a:br/>
            <a:r>
              <a:t>Dari Dummy (26.2%) menuju SVM Tuned (75.0%), kita membuktikan bahwa 18 kanal AS7265x memiliki kekuatan deteksi yang sangat valid.</a:t>
            </a:r>
          </a:p>
          <a:p>
            <a:pPr>
              <a:spcBef>
                <a:spcPts val="600"/>
              </a:spcBef>
              <a:defRPr sz="1150">
                <a:solidFill>
                  <a:srgbClr val="0F172A"/>
                </a:solidFill>
                <a:latin typeface="Arial"/>
              </a:defRPr>
            </a:pPr>
            <a:r>
              <a:t>• Konsistensi Cross-Validation:</a:t>
            </a:r>
            <a:br/>
            <a:r>
              <a:t>Skor CV F1 Macro SVM Tuned (0.722) sangat dekat dengan Test F1 (0.746), membuktikan model bebas dari *Overfitting*.</a:t>
            </a:r>
          </a:p>
          <a:p>
            <a:pPr>
              <a:spcBef>
                <a:spcPts val="600"/>
              </a:spcBef>
              <a:defRPr sz="1150">
                <a:solidFill>
                  <a:srgbClr val="0F172A"/>
                </a:solidFill>
                <a:latin typeface="Arial"/>
              </a:defRPr>
            </a:pPr>
            <a:r>
              <a:t>• Validasi Siap untuk Jambu:</a:t>
            </a:r>
            <a:br/>
            <a:r>
              <a:t>Arsitektur pemrosesan data spektral ini telah teruji sempurna untuk diterapkan pada data jambu kristal.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Evaluasi Model 5: Regresi Kontinu Nilai Agtron (Ridge)</a:t>
            </a:r>
          </a:p>
          <a:p>
            <a:pPr>
              <a:defRPr sz="1250">
                <a:solidFill>
                  <a:srgbClr val="A7F3D0"/>
                </a:solidFill>
                <a:latin typeface="Arial"/>
              </a:defRPr>
            </a:pPr>
            <a:r>
              <a:t>Membuktikan kemampuan prediksi angka kontinu R² = 0.722 dengan eror rendah</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25 of 36</a:t>
            </a:r>
          </a:p>
        </p:txBody>
      </p:sp>
      <p:pic>
        <p:nvPicPr>
          <p:cNvPr id="4" name="Picture 3" descr="fig11_regression_actual_vs_pred.png"/>
          <p:cNvPicPr>
            <a:picLocks noChangeAspect="1"/>
          </p:cNvPicPr>
          <p:nvPr/>
        </p:nvPicPr>
        <p:blipFill>
          <a:blip r:embed="rId2"/>
          <a:stretch>
            <a:fillRect/>
          </a:stretch>
        </p:blipFill>
        <p:spPr>
          <a:xfrm>
            <a:off x="548640" y="1463040"/>
            <a:ext cx="5669280" cy="4211465"/>
          </a:xfrm>
          <a:prstGeom prst="rect">
            <a:avLst/>
          </a:prstGeom>
        </p:spPr>
      </p:pic>
      <p:sp>
        <p:nvSpPr>
          <p:cNvPr id="5" name="Rounded Rectangle 4"/>
          <p:cNvSpPr/>
          <p:nvPr/>
        </p:nvSpPr>
        <p:spPr>
          <a:xfrm>
            <a:off x="6400800" y="1463040"/>
            <a:ext cx="52120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0" y="1463040"/>
            <a:ext cx="5212080" cy="50292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Analisis Prediksi Angka Kontinu</a:t>
            </a:r>
          </a:p>
        </p:txBody>
      </p:sp>
      <p:sp>
        <p:nvSpPr>
          <p:cNvPr id="7" name="TextBox 6"/>
          <p:cNvSpPr txBox="1"/>
          <p:nvPr/>
        </p:nvSpPr>
        <p:spPr>
          <a:xfrm>
            <a:off x="6537960" y="2011680"/>
            <a:ext cx="4937760" cy="4041648"/>
          </a:xfrm>
          <a:prstGeom prst="rect">
            <a:avLst/>
          </a:prstGeom>
          <a:noFill/>
        </p:spPr>
        <p:txBody>
          <a:bodyPr wrap="square" tIns="73152">
            <a:spAutoFit/>
          </a:bodyPr>
          <a:lstStyle/>
          <a:p>
            <a:pPr>
              <a:defRPr sz="1150">
                <a:solidFill>
                  <a:srgbClr val="0F172A"/>
                </a:solidFill>
                <a:latin typeface="Arial"/>
              </a:defRPr>
            </a:pPr>
            <a:r>
              <a:t>• Sebaran Titik Mendekati Garis Ideal:</a:t>
            </a:r>
            <a:br/>
            <a:r>
              <a:t>Titik-titik hijau mengikuti garis putus-putus merah, menghasilkan Koefisien Determinasi R² = 0.722.</a:t>
            </a:r>
          </a:p>
          <a:p>
            <a:pPr>
              <a:spcBef>
                <a:spcPts val="600"/>
              </a:spcBef>
              <a:defRPr sz="1150">
                <a:solidFill>
                  <a:srgbClr val="0F172A"/>
                </a:solidFill>
                <a:latin typeface="Arial"/>
              </a:defRPr>
            </a:pPr>
            <a:r>
              <a:t>• Mean Absolute Error (MAE ~3.8):</a:t>
            </a:r>
            <a:br/>
            <a:r>
              <a:t>Eror prediksi rata-rata hanya terpaut ~3 angka Agtron, sangat presisi untuk pengganti spektrofotometer mahal.</a:t>
            </a:r>
          </a:p>
          <a:p>
            <a:pPr>
              <a:spcBef>
                <a:spcPts val="600"/>
              </a:spcBef>
              <a:defRPr sz="1150">
                <a:solidFill>
                  <a:srgbClr val="0F172A"/>
                </a:solidFill>
                <a:latin typeface="Arial"/>
              </a:defRPr>
            </a:pPr>
            <a:r>
              <a:t>• Pemanfaatan Nyata di Kopi:</a:t>
            </a:r>
            <a:br/>
            <a:r>
              <a:t>Roaster kopi kini bisa menggunakan AS7265x murah untuk mengukur derajat sangrai secara kuantitatif persis!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Deep Dive Feature Selection 1: Benchmark Bukti Empiris 18 Kanal</a:t>
            </a:r>
          </a:p>
          <a:p>
            <a:pPr>
              <a:defRPr sz="1250">
                <a:solidFill>
                  <a:srgbClr val="A7F3D0"/>
                </a:solidFill>
                <a:latin typeface="Arial"/>
              </a:defRPr>
            </a:pPr>
            <a:r>
              <a:t>Grouped bar chart membuktikan kejatuhan akurasi tajam saat memotong kanal</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26 of 36</a:t>
            </a:r>
          </a:p>
        </p:txBody>
      </p:sp>
      <p:sp>
        <p:nvSpPr>
          <p:cNvPr id="5" name="Rounded Rectangle 4"/>
          <p:cNvSpPr/>
          <p:nvPr/>
        </p:nvSpPr>
        <p:spPr>
          <a:xfrm>
            <a:off x="6675120" y="1463040"/>
            <a:ext cx="493776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675120" y="1463040"/>
            <a:ext cx="4937760" cy="502920"/>
          </a:xfrm>
          <a:prstGeom prst="round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Analisis Benchmark Kanal: Kopi vs Jambu Kristal</a:t>
            </a:r>
          </a:p>
        </p:txBody>
      </p:sp>
      <p:sp>
        <p:nvSpPr>
          <p:cNvPr id="7" name="TextBox 6"/>
          <p:cNvSpPr txBox="1"/>
          <p:nvPr/>
        </p:nvSpPr>
        <p:spPr>
          <a:xfrm>
            <a:off x="6812280" y="2011680"/>
            <a:ext cx="4663440" cy="4041648"/>
          </a:xfrm>
          <a:prstGeom prst="rect">
            <a:avLst/>
          </a:prstGeom>
          <a:noFill/>
        </p:spPr>
        <p:txBody>
          <a:bodyPr wrap="square" tIns="73152">
            <a:spAutoFit/>
          </a:bodyPr>
          <a:lstStyle/>
          <a:p>
            <a:pPr>
              <a:defRPr sz="1080" b="1">
                <a:solidFill>
                  <a:srgbClr val="0F172A"/>
                </a:solidFill>
                <a:latin typeface="Arial"/>
              </a:defRPr>
            </a:pPr>
            <a:r>
              <a:t>• Fakta Empiris Dataset Kopi (90.9% vs 91.3%):</a:t>
            </a:r>
            <a:br/>
            <a:r>
              <a:t>Pada klasifikasi 3 derajat sangrai kopi, 4 kanal RGB/IR (410, 560, 730, 940 nm) sudah mencapai F1-Score 90.9%. Hal ini terjadi karena warna permukaan kopi sangrai berubah sangat ekstrem dan kontras dari terang ke hitam gelap.</a:t>
            </a:r>
          </a:p>
          <a:p>
            <a:pPr>
              <a:spcBef>
                <a:spcPts val="600"/>
              </a:spcBef>
              <a:defRPr sz="1080">
                <a:solidFill>
                  <a:srgbClr val="0F172A"/>
                </a:solidFill>
                <a:latin typeface="Arial"/>
              </a:defRPr>
            </a:pPr>
            <a:r>
              <a:t>• Mengapa 4 Kanal Cukup untuk Studi Kopi?</a:t>
            </a:r>
            <a:br/>
            <a:r>
              <a:t>Performa tinggi pada 4 kanal membuktikan bahwa untuk mendeteksi warna permukaan visual yang kontras, sensor murah sudah cukup. Kanal 410 nm menangkap gelapnya melanoidin dan 940 nm menangkap struktur kering biji.</a:t>
            </a:r>
          </a:p>
          <a:p>
            <a:pPr>
              <a:spcBef>
                <a:spcPts val="600"/>
              </a:spcBef>
              <a:defRPr sz="1080">
                <a:solidFill>
                  <a:srgbClr val="0F172A"/>
                </a:solidFill>
                <a:latin typeface="Arial"/>
              </a:defRPr>
            </a:pPr>
            <a:r>
              <a:t>• Mengapa BuahSafe Wajib Memakai 18 Kanal untuk Jambu?</a:t>
            </a:r>
            <a:br/>
            <a:r>
              <a:t>Pada jambu kristal, cacat larva ulat bersembunyi di rongga dalam sementara kulit luar tetap hijau mulus identik! Pantulan difus internal sangat lemah dan terganggu silau kulit luar. Kita membutuhkan kerapatan kurva 18 gelombang utuh (410-940 nm) untuk menyaring silau permukaan dan menangkap sinyal serapan air O-H di kedalaman buah!</a:t>
            </a:r>
          </a:p>
        </p:txBody>
      </p:sp>
      <p:pic>
        <p:nvPicPr>
          <p:cNvPr id="8" name="Picture 7" descr="image.png"/>
          <p:cNvPicPr>
            <a:picLocks noChangeAspect="1"/>
          </p:cNvPicPr>
          <p:nvPr/>
        </p:nvPicPr>
        <p:blipFill>
          <a:blip r:embed="rId2"/>
          <a:stretch>
            <a:fillRect/>
          </a:stretch>
        </p:blipFill>
        <p:spPr>
          <a:xfrm>
            <a:off x="548640" y="1463040"/>
            <a:ext cx="5943600" cy="350955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Landasan Teori Seleksi Fitur: ANOVA vs Permutation Importance</a:t>
            </a:r>
          </a:p>
          <a:p>
            <a:pPr>
              <a:defRPr sz="1250">
                <a:solidFill>
                  <a:srgbClr val="A7F3D0"/>
                </a:solidFill>
                <a:latin typeface="Arial"/>
              </a:defRPr>
            </a:pPr>
            <a:r>
              <a:t>Perbedaan uji linear univariat tunggal dengan uji multivariat pohon keputusan</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27 of 36</a:t>
            </a:r>
          </a:p>
        </p:txBody>
      </p:sp>
      <p:sp>
        <p:nvSpPr>
          <p:cNvPr id="4" name="Rounded Rectangle 3"/>
          <p:cNvSpPr/>
          <p:nvPr/>
        </p:nvSpPr>
        <p:spPr>
          <a:xfrm>
            <a:off x="548640" y="1371600"/>
            <a:ext cx="53035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371600"/>
            <a:ext cx="5303520" cy="50292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ANOVA F-Test (Linear Univariat Tunggal)</a:t>
            </a:r>
          </a:p>
        </p:txBody>
      </p:sp>
      <p:sp>
        <p:nvSpPr>
          <p:cNvPr id="6" name="TextBox 5"/>
          <p:cNvSpPr txBox="1"/>
          <p:nvPr/>
        </p:nvSpPr>
        <p:spPr>
          <a:xfrm>
            <a:off x="685800" y="1920240"/>
            <a:ext cx="5029200" cy="4133088"/>
          </a:xfrm>
          <a:prstGeom prst="rect">
            <a:avLst/>
          </a:prstGeom>
          <a:noFill/>
        </p:spPr>
        <p:txBody>
          <a:bodyPr wrap="square" tIns="73152">
            <a:spAutoFit/>
          </a:bodyPr>
          <a:lstStyle/>
          <a:p>
            <a:pPr>
              <a:defRPr sz="1150">
                <a:solidFill>
                  <a:srgbClr val="0F172A"/>
                </a:solidFill>
                <a:latin typeface="Arial"/>
              </a:defRPr>
            </a:pPr>
            <a:r>
              <a:t>• Konsep Kerja:</a:t>
            </a:r>
            <a:br/>
            <a:r>
              <a:t>Menguji hubungan SATU PER SATU antara setiap kanal secara individual dengan kelas target melalui rasio varians.</a:t>
            </a:r>
          </a:p>
          <a:p>
            <a:pPr>
              <a:spcBef>
                <a:spcPts val="600"/>
              </a:spcBef>
              <a:defRPr sz="1150">
                <a:solidFill>
                  <a:srgbClr val="0F172A"/>
                </a:solidFill>
                <a:latin typeface="Arial"/>
              </a:defRPr>
            </a:pPr>
            <a:r>
              <a:t>• Hasil pada Kopi:</a:t>
            </a:r>
            <a:br/>
            <a:r>
              <a:t>Menonjolkan kanal 610 nm &amp; 645 nm (Merah) karena warna merah/cokelat kulit kopi berubah linear seiring sangraian.</a:t>
            </a:r>
          </a:p>
          <a:p>
            <a:pPr>
              <a:spcBef>
                <a:spcPts val="600"/>
              </a:spcBef>
              <a:defRPr sz="1150">
                <a:solidFill>
                  <a:srgbClr val="0F172A"/>
                </a:solidFill>
                <a:latin typeface="Arial"/>
              </a:defRPr>
            </a:pPr>
            <a:r>
              <a:t>• Keterbatasan:</a:t>
            </a:r>
            <a:br/>
            <a:r>
              <a:t>Tidak mampu menangkap kombinasi atau interaksi rumit antar beberapa panjang gelombang sekaligus.</a:t>
            </a:r>
          </a:p>
        </p:txBody>
      </p:sp>
      <p:sp>
        <p:nvSpPr>
          <p:cNvPr id="7" name="Rounded Rectangle 6"/>
          <p:cNvSpPr/>
          <p:nvPr/>
        </p:nvSpPr>
        <p:spPr>
          <a:xfrm>
            <a:off x="6217920" y="1371600"/>
            <a:ext cx="539496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217920" y="1371600"/>
            <a:ext cx="5394960" cy="5029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Permutation Importance (Multivariat RF)</a:t>
            </a:r>
          </a:p>
        </p:txBody>
      </p:sp>
      <p:sp>
        <p:nvSpPr>
          <p:cNvPr id="9" name="TextBox 8"/>
          <p:cNvSpPr txBox="1"/>
          <p:nvPr/>
        </p:nvSpPr>
        <p:spPr>
          <a:xfrm>
            <a:off x="6355080" y="1920240"/>
            <a:ext cx="5120640" cy="4133088"/>
          </a:xfrm>
          <a:prstGeom prst="rect">
            <a:avLst/>
          </a:prstGeom>
          <a:noFill/>
        </p:spPr>
        <p:txBody>
          <a:bodyPr wrap="square" tIns="73152">
            <a:spAutoFit/>
          </a:bodyPr>
          <a:lstStyle/>
          <a:p>
            <a:pPr>
              <a:defRPr sz="1150">
                <a:solidFill>
                  <a:srgbClr val="0F172A"/>
                </a:solidFill>
                <a:latin typeface="Arial"/>
              </a:defRPr>
            </a:pPr>
            <a:r>
              <a:t>• Konsep Kerja:</a:t>
            </a:r>
            <a:br/>
            <a:r>
              <a:t>Menguji vitalitas fitur di dalam model pohon yang sudah dilatih dengan cara mengacak (*shuffling*) angka pada 1 kanal tertentu di data uji.</a:t>
            </a:r>
          </a:p>
          <a:p>
            <a:pPr>
              <a:spcBef>
                <a:spcPts val="600"/>
              </a:spcBef>
              <a:defRPr sz="1150">
                <a:solidFill>
                  <a:srgbClr val="0F172A"/>
                </a:solidFill>
                <a:latin typeface="Arial"/>
              </a:defRPr>
            </a:pPr>
            <a:r>
              <a:t>• Indikator Vitalitas:</a:t>
            </a:r>
            <a:br/>
            <a:r>
              <a:t>Jika setelah kanal 940 nm diacak akurasi model langsung hancur berantakan, maka kanal itu SANGAT VITAL dalam interaksi multivariat!</a:t>
            </a:r>
          </a:p>
          <a:p>
            <a:pPr>
              <a:spcBef>
                <a:spcPts val="600"/>
              </a:spcBef>
              <a:defRPr sz="1150">
                <a:solidFill>
                  <a:srgbClr val="0F172A"/>
                </a:solidFill>
                <a:latin typeface="Arial"/>
              </a:defRPr>
            </a:pPr>
            <a:r>
              <a:t>• Keunggulan:</a:t>
            </a:r>
            <a:br/>
            <a:r>
              <a:t>Menangkap relasi tersembunyi yang terlewatkan oleh uji linear biasa.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Deep Dive Feature Selection 2: Dominasi Absolut Kanal 940 nm</a:t>
            </a:r>
          </a:p>
          <a:p>
            <a:pPr>
              <a:defRPr sz="1250">
                <a:solidFill>
                  <a:srgbClr val="A7F3D0"/>
                </a:solidFill>
                <a:latin typeface="Arial"/>
              </a:defRPr>
            </a:pPr>
            <a:r>
              <a:t>Korelasi penemuan spektrum NIR 940 nm pada kopi dengan kasus jambu kristal</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28 of 36</a:t>
            </a:r>
          </a:p>
        </p:txBody>
      </p:sp>
      <p:pic>
        <p:nvPicPr>
          <p:cNvPr id="4" name="Picture 3" descr="fig13_feature_importance.png"/>
          <p:cNvPicPr>
            <a:picLocks noChangeAspect="1"/>
          </p:cNvPicPr>
          <p:nvPr/>
        </p:nvPicPr>
        <p:blipFill>
          <a:blip r:embed="rId2"/>
          <a:stretch>
            <a:fillRect/>
          </a:stretch>
        </p:blipFill>
        <p:spPr>
          <a:xfrm>
            <a:off x="548640" y="1463040"/>
            <a:ext cx="5943600" cy="2852928"/>
          </a:xfrm>
          <a:prstGeom prst="rect">
            <a:avLst/>
          </a:prstGeom>
        </p:spPr>
      </p:pic>
      <p:sp>
        <p:nvSpPr>
          <p:cNvPr id="5" name="Rounded Rectangle 4"/>
          <p:cNvSpPr/>
          <p:nvPr/>
        </p:nvSpPr>
        <p:spPr>
          <a:xfrm>
            <a:off x="6675120" y="1463040"/>
            <a:ext cx="493776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675120" y="1463040"/>
            <a:ext cx="4937760" cy="502920"/>
          </a:xfrm>
          <a:prstGeom prst="round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Korelasi Penemuan Kopi ke Kasus Jambu</a:t>
            </a:r>
          </a:p>
        </p:txBody>
      </p:sp>
      <p:sp>
        <p:nvSpPr>
          <p:cNvPr id="7" name="TextBox 6"/>
          <p:cNvSpPr txBox="1"/>
          <p:nvPr/>
        </p:nvSpPr>
        <p:spPr>
          <a:xfrm>
            <a:off x="6812280" y="2011680"/>
            <a:ext cx="4663440" cy="4041648"/>
          </a:xfrm>
          <a:prstGeom prst="rect">
            <a:avLst/>
          </a:prstGeom>
          <a:noFill/>
        </p:spPr>
        <p:txBody>
          <a:bodyPr wrap="square" tIns="73152">
            <a:spAutoFit/>
          </a:bodyPr>
          <a:lstStyle/>
          <a:p>
            <a:pPr>
              <a:defRPr sz="1150">
                <a:solidFill>
                  <a:srgbClr val="0F172A"/>
                </a:solidFill>
                <a:latin typeface="Arial"/>
              </a:defRPr>
            </a:pPr>
            <a:r>
              <a:t>• Titik Temu Ilmiah:</a:t>
            </a:r>
            <a:br/>
            <a:r>
              <a:t>Baik metode univariat linear (ANOVA) maupun multivariat pohon (Permutation) sepakat menempatkan 940 nm sebagai fitur paling krusial.</a:t>
            </a:r>
          </a:p>
          <a:p>
            <a:pPr>
              <a:spcBef>
                <a:spcPts val="600"/>
              </a:spcBef>
              <a:defRPr sz="1150">
                <a:solidFill>
                  <a:srgbClr val="0F172A"/>
                </a:solidFill>
                <a:latin typeface="Arial"/>
              </a:defRPr>
            </a:pPr>
            <a:r>
              <a:t>• Fisika Molekuler Air (O-H):</a:t>
            </a:r>
            <a:br/>
            <a:r>
              <a:t>Panjang gelombang 940 nm adalah frekuensi getaran serapan utama ikatan hidrogen air.</a:t>
            </a:r>
          </a:p>
          <a:p>
            <a:pPr>
              <a:spcBef>
                <a:spcPts val="600"/>
              </a:spcBef>
              <a:defRPr sz="1150">
                <a:solidFill>
                  <a:srgbClr val="0F172A"/>
                </a:solidFill>
                <a:latin typeface="Arial"/>
              </a:defRPr>
            </a:pPr>
            <a:r>
              <a:t>• Kausalitas Jambu Kristal:</a:t>
            </a:r>
            <a:br/>
            <a:r>
              <a:t>Buah berulat/busuk memiliki akumulasi air di rongga dalam, langsung terdeteksi di 940 nm!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Trade-Off Strategis: Akurasi Tinggi vs Explainability</a:t>
            </a:r>
          </a:p>
          <a:p>
            <a:pPr>
              <a:defRPr sz="1250">
                <a:solidFill>
                  <a:srgbClr val="A7F3D0"/>
                </a:solidFill>
                <a:latin typeface="Arial"/>
              </a:defRPr>
            </a:pPr>
            <a:r>
              <a:t>Panduan memilih model AI sesuai tahapan operasional dan kebutuhan bisnis</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29 of 36</a:t>
            </a:r>
          </a:p>
        </p:txBody>
      </p:sp>
      <p:sp>
        <p:nvSpPr>
          <p:cNvPr id="4" name="Rounded Rectangle 3"/>
          <p:cNvSpPr/>
          <p:nvPr/>
        </p:nvSpPr>
        <p:spPr>
          <a:xfrm>
            <a:off x="548640" y="1371600"/>
            <a:ext cx="53035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371600"/>
            <a:ext cx="5303520" cy="502920"/>
          </a:xfrm>
          <a:prstGeom prst="round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SVM RBF Kernel: Sang Eksekutor Pabrik</a:t>
            </a:r>
          </a:p>
        </p:txBody>
      </p:sp>
      <p:sp>
        <p:nvSpPr>
          <p:cNvPr id="6" name="TextBox 5"/>
          <p:cNvSpPr txBox="1"/>
          <p:nvPr/>
        </p:nvSpPr>
        <p:spPr>
          <a:xfrm>
            <a:off x="685800" y="1920240"/>
            <a:ext cx="5029200" cy="4133088"/>
          </a:xfrm>
          <a:prstGeom prst="rect">
            <a:avLst/>
          </a:prstGeom>
          <a:noFill/>
        </p:spPr>
        <p:txBody>
          <a:bodyPr wrap="square" tIns="73152">
            <a:spAutoFit/>
          </a:bodyPr>
          <a:lstStyle/>
          <a:p>
            <a:pPr>
              <a:defRPr sz="1200">
                <a:solidFill>
                  <a:srgbClr val="0F172A"/>
                </a:solidFill>
                <a:latin typeface="Arial"/>
              </a:defRPr>
            </a:pPr>
            <a:r>
              <a:t>• Keunggulan: Akurasi tertinggi (75.0%) dalam memisahkan kelas yang tumpang tindih secara presisi.</a:t>
            </a:r>
          </a:p>
          <a:p>
            <a:pPr>
              <a:spcBef>
                <a:spcPts val="600"/>
              </a:spcBef>
              <a:defRPr sz="1200">
                <a:solidFill>
                  <a:srgbClr val="0F172A"/>
                </a:solidFill>
                <a:latin typeface="Arial"/>
              </a:defRPr>
            </a:pPr>
            <a:r>
              <a:t>• Sifat Black-Box: Memetakan data ke ruang multi-dimensi abstrak sehingga sulit dijelaskan rumus visualnya kepada non-teknis.</a:t>
            </a:r>
          </a:p>
          <a:p>
            <a:pPr>
              <a:spcBef>
                <a:spcPts val="600"/>
              </a:spcBef>
              <a:defRPr sz="1200">
                <a:solidFill>
                  <a:srgbClr val="0F172A"/>
                </a:solidFill>
                <a:latin typeface="Arial"/>
              </a:defRPr>
            </a:pPr>
            <a:r>
              <a:t>• Penggunaan Ideal: Ditanamkan pada mesin penyortir konveyor berkecepatan tinggi di pabrik kemasan akhir.</a:t>
            </a:r>
          </a:p>
        </p:txBody>
      </p:sp>
      <p:sp>
        <p:nvSpPr>
          <p:cNvPr id="7" name="Rounded Rectangle 6"/>
          <p:cNvSpPr/>
          <p:nvPr/>
        </p:nvSpPr>
        <p:spPr>
          <a:xfrm>
            <a:off x="6217920" y="1371600"/>
            <a:ext cx="539496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217920" y="1371600"/>
            <a:ext cx="5394960" cy="5029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Random Forest: Sang Analis Transparan R&amp;D</a:t>
            </a:r>
          </a:p>
        </p:txBody>
      </p:sp>
      <p:sp>
        <p:nvSpPr>
          <p:cNvPr id="9" name="TextBox 8"/>
          <p:cNvSpPr txBox="1"/>
          <p:nvPr/>
        </p:nvSpPr>
        <p:spPr>
          <a:xfrm>
            <a:off x="6355080" y="1920240"/>
            <a:ext cx="5120640" cy="4133088"/>
          </a:xfrm>
          <a:prstGeom prst="rect">
            <a:avLst/>
          </a:prstGeom>
          <a:noFill/>
        </p:spPr>
        <p:txBody>
          <a:bodyPr wrap="square" tIns="73152">
            <a:spAutoFit/>
          </a:bodyPr>
          <a:lstStyle/>
          <a:p>
            <a:pPr>
              <a:defRPr sz="1200">
                <a:solidFill>
                  <a:srgbClr val="0F172A"/>
                </a:solidFill>
                <a:latin typeface="Arial"/>
              </a:defRPr>
            </a:pPr>
            <a:r>
              <a:t>• Keunggulan: Transparansi tinggi (*Explainable AI*); menyediakan urutan pentingnya fitur untuk pembuktian ilmiah.</a:t>
            </a:r>
          </a:p>
          <a:p>
            <a:pPr>
              <a:spcBef>
                <a:spcPts val="600"/>
              </a:spcBef>
              <a:defRPr sz="1200">
                <a:solidFill>
                  <a:srgbClr val="0F172A"/>
                </a:solidFill>
                <a:latin typeface="Arial"/>
              </a:defRPr>
            </a:pPr>
            <a:r>
              <a:t>• Akurasi: Sangat kompetitif (67.5%), bebas kesalahan tebakan ekstrem.</a:t>
            </a:r>
          </a:p>
          <a:p>
            <a:pPr>
              <a:spcBef>
                <a:spcPts val="600"/>
              </a:spcBef>
              <a:defRPr sz="1200">
                <a:solidFill>
                  <a:srgbClr val="0F172A"/>
                </a:solidFill>
                <a:latin typeface="Arial"/>
              </a:defRPr>
            </a:pPr>
            <a:r>
              <a:t>• Penggunaan Ideal: Digunakan tim R&amp;D agronomis untuk mengaudit sensor dan menjelaskan kausalitas kepada investor.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Desain Adaptasi Komprehensif ke Dataset Primer Jambu Kristal</a:t>
            </a:r>
          </a:p>
          <a:p>
            <a:pPr>
              <a:defRPr sz="1250">
                <a:solidFill>
                  <a:srgbClr val="A7F3D0"/>
                </a:solidFill>
                <a:latin typeface="Arial"/>
              </a:defRPr>
            </a:pPr>
            <a:r>
              <a:t>Penjelasan terperinci protokol pemindai 3 orientasi &amp; audit destruktif laboratorium</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30 of 36</a:t>
            </a:r>
          </a:p>
        </p:txBody>
      </p:sp>
      <p:sp>
        <p:nvSpPr>
          <p:cNvPr id="4" name="Rounded Rectangle 3"/>
          <p:cNvSpPr/>
          <p:nvPr/>
        </p:nvSpPr>
        <p:spPr>
          <a:xfrm>
            <a:off x="548640" y="1371600"/>
            <a:ext cx="34747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371600"/>
            <a:ext cx="3474720" cy="502920"/>
          </a:xfrm>
          <a:prstGeom prst="round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1. Protokol Scan 3 Orientasi</a:t>
            </a:r>
          </a:p>
        </p:txBody>
      </p:sp>
      <p:sp>
        <p:nvSpPr>
          <p:cNvPr id="6" name="TextBox 5"/>
          <p:cNvSpPr txBox="1"/>
          <p:nvPr/>
        </p:nvSpPr>
        <p:spPr>
          <a:xfrm>
            <a:off x="685800" y="1920240"/>
            <a:ext cx="3200400" cy="4133088"/>
          </a:xfrm>
          <a:prstGeom prst="rect">
            <a:avLst/>
          </a:prstGeom>
          <a:noFill/>
        </p:spPr>
        <p:txBody>
          <a:bodyPr wrap="square" tIns="73152">
            <a:spAutoFit/>
          </a:bodyPr>
          <a:lstStyle/>
          <a:p>
            <a:pPr>
              <a:defRPr sz="1100">
                <a:solidFill>
                  <a:srgbClr val="0F172A"/>
                </a:solidFill>
                <a:latin typeface="Arial"/>
              </a:defRPr>
            </a:pPr>
            <a:r>
              <a:t>• Mengapa 3 Orientasi?</a:t>
            </a:r>
            <a:br/>
            <a:r>
              <a:t>Larva lalat buah sering berawal dari 1 sisi lokal (tangkai/ujung). Memindai 3 sisi (atas, tengah, bawah) memastikan kelainan lokal tertangkap sensor.</a:t>
            </a:r>
          </a:p>
          <a:p>
            <a:pPr>
              <a:spcBef>
                <a:spcPts val="600"/>
              </a:spcBef>
              <a:defRPr sz="1100">
                <a:solidFill>
                  <a:srgbClr val="0F172A"/>
                </a:solidFill>
                <a:latin typeface="Arial"/>
              </a:defRPr>
            </a:pPr>
            <a:r>
              <a:t>• Metadata Unik:</a:t>
            </a:r>
            <a:br/>
            <a:r>
              <a:t>Mencatat fruit_id, scan_id, suhu, dan kelembapan chamber untuk kompensasi drift sensor.</a:t>
            </a:r>
          </a:p>
        </p:txBody>
      </p:sp>
      <p:sp>
        <p:nvSpPr>
          <p:cNvPr id="7" name="Rounded Rectangle 6"/>
          <p:cNvSpPr/>
          <p:nvPr/>
        </p:nvSpPr>
        <p:spPr>
          <a:xfrm>
            <a:off x="4358030" y="1371600"/>
            <a:ext cx="34747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58030" y="1371600"/>
            <a:ext cx="3474720" cy="5029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2. Audit Destruktif Lab</a:t>
            </a:r>
          </a:p>
        </p:txBody>
      </p:sp>
      <p:sp>
        <p:nvSpPr>
          <p:cNvPr id="9" name="TextBox 8"/>
          <p:cNvSpPr txBox="1"/>
          <p:nvPr/>
        </p:nvSpPr>
        <p:spPr>
          <a:xfrm>
            <a:off x="4495190" y="1920240"/>
            <a:ext cx="3200400" cy="4133088"/>
          </a:xfrm>
          <a:prstGeom prst="rect">
            <a:avLst/>
          </a:prstGeom>
          <a:noFill/>
        </p:spPr>
        <p:txBody>
          <a:bodyPr wrap="square" tIns="73152">
            <a:spAutoFit/>
          </a:bodyPr>
          <a:lstStyle/>
          <a:p>
            <a:pPr>
              <a:defRPr sz="1100">
                <a:solidFill>
                  <a:srgbClr val="0F172A"/>
                </a:solidFill>
                <a:latin typeface="Arial"/>
              </a:defRPr>
            </a:pPr>
            <a:r>
              <a:t>• Ground Truth Mutlak:</a:t>
            </a:r>
            <a:br/>
            <a:r>
              <a:t>Pasca-scan, buah wajib dibelah untuk dibedah laboratorium agronomis.</a:t>
            </a:r>
          </a:p>
          <a:p>
            <a:pPr>
              <a:spcBef>
                <a:spcPts val="600"/>
              </a:spcBef>
              <a:defRPr sz="1100">
                <a:solidFill>
                  <a:srgbClr val="0F172A"/>
                </a:solidFill>
                <a:latin typeface="Arial"/>
              </a:defRPr>
            </a:pPr>
            <a:r>
              <a:t>• Parameter Pengukuran:</a:t>
            </a:r>
            <a:br/>
            <a:r>
              <a:t>1. Kadar Gula (Brix Digital).</a:t>
            </a:r>
            <a:br/>
            <a:r>
              <a:t>2. Keberadaan telur/larva di bawah mikroskop.</a:t>
            </a:r>
            <a:br/>
            <a:r>
              <a:t>3. Persentase area browning daging buah.</a:t>
            </a:r>
          </a:p>
        </p:txBody>
      </p:sp>
      <p:sp>
        <p:nvSpPr>
          <p:cNvPr id="10" name="Rounded Rectangle 9"/>
          <p:cNvSpPr/>
          <p:nvPr/>
        </p:nvSpPr>
        <p:spPr>
          <a:xfrm>
            <a:off x="8168335" y="1371600"/>
            <a:ext cx="34747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168335" y="1371600"/>
            <a:ext cx="3474720" cy="50292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3. Penerapan GroupKFold</a:t>
            </a:r>
          </a:p>
        </p:txBody>
      </p:sp>
      <p:sp>
        <p:nvSpPr>
          <p:cNvPr id="12" name="TextBox 11"/>
          <p:cNvSpPr txBox="1"/>
          <p:nvPr/>
        </p:nvSpPr>
        <p:spPr>
          <a:xfrm>
            <a:off x="8305495" y="1920240"/>
            <a:ext cx="3200400" cy="4133088"/>
          </a:xfrm>
          <a:prstGeom prst="rect">
            <a:avLst/>
          </a:prstGeom>
          <a:noFill/>
        </p:spPr>
        <p:txBody>
          <a:bodyPr wrap="square" tIns="73152">
            <a:spAutoFit/>
          </a:bodyPr>
          <a:lstStyle/>
          <a:p>
            <a:pPr>
              <a:defRPr sz="1100">
                <a:solidFill>
                  <a:srgbClr val="0F172A"/>
                </a:solidFill>
                <a:latin typeface="Arial"/>
              </a:defRPr>
            </a:pPr>
            <a:r>
              <a:t>• Anti Data Leakage:</a:t>
            </a:r>
            <a:br/>
            <a:r>
              <a:t>Seluruh scan dari 1 fisik buah dimasukkan ke kelompok yang sama (Latih atau Uji).</a:t>
            </a:r>
          </a:p>
          <a:p>
            <a:pPr>
              <a:spcBef>
                <a:spcPts val="600"/>
              </a:spcBef>
              <a:defRPr sz="1100">
                <a:solidFill>
                  <a:srgbClr val="0F172A"/>
                </a:solidFill>
                <a:latin typeface="Arial"/>
              </a:defRPr>
            </a:pPr>
            <a:r>
              <a:t>• Jaminan Akurasi Nyata:</a:t>
            </a:r>
            <a:br/>
            <a:r>
              <a:t>Memastikan akurasi yang dilaporkan adalah kemampuan sejati alat saat menyortir buah asing di gudang mitra.</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Matriks Manajemen Risiko Bisnis Quality Control</a:t>
            </a:r>
          </a:p>
          <a:p>
            <a:pPr>
              <a:defRPr sz="1250">
                <a:solidFill>
                  <a:srgbClr val="A7F3D0"/>
                </a:solidFill>
                <a:latin typeface="Arial"/>
              </a:defRPr>
            </a:pPr>
            <a:r>
              <a:t>Mengapa mencegah buah rusak lolos (False Negative) adalah prioritas mutlak?</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31 of 36</a:t>
            </a:r>
          </a:p>
        </p:txBody>
      </p:sp>
      <p:pic>
        <p:nvPicPr>
          <p:cNvPr id="4" name="Picture 3" descr="asset_8_risk_matrix.png"/>
          <p:cNvPicPr>
            <a:picLocks noChangeAspect="1"/>
          </p:cNvPicPr>
          <p:nvPr/>
        </p:nvPicPr>
        <p:blipFill>
          <a:blip r:embed="rId2"/>
          <a:stretch>
            <a:fillRect/>
          </a:stretch>
        </p:blipFill>
        <p:spPr>
          <a:xfrm>
            <a:off x="914400" y="1280160"/>
            <a:ext cx="10362895" cy="518144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Bedah Tuntas 15 Pertanyaan Refleksi Tim (Bagian 1: Q1 - Q5)</a:t>
            </a:r>
          </a:p>
          <a:p>
            <a:pPr>
              <a:defRPr sz="1250">
                <a:solidFill>
                  <a:srgbClr val="A7F3D0"/>
                </a:solidFill>
                <a:latin typeface="Arial"/>
              </a:defRPr>
            </a:pPr>
            <a:r>
              <a:t>Analisis mendalam mengenai performa stabilitas model dan pengaruh tuning</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32 of 36</a:t>
            </a:r>
          </a:p>
        </p:txBody>
      </p:sp>
      <p:sp>
        <p:nvSpPr>
          <p:cNvPr id="4" name="Rounded Rectangle 3"/>
          <p:cNvSpPr/>
          <p:nvPr/>
        </p:nvSpPr>
        <p:spPr>
          <a:xfrm>
            <a:off x="548640" y="1371600"/>
            <a:ext cx="53035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371600"/>
            <a:ext cx="5303520" cy="502920"/>
          </a:xfrm>
          <a:prstGeom prst="round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Q1 &amp; Q2: Performa Melawan Baseline &amp; Stabilitas</a:t>
            </a:r>
          </a:p>
        </p:txBody>
      </p:sp>
      <p:sp>
        <p:nvSpPr>
          <p:cNvPr id="6" name="TextBox 5"/>
          <p:cNvSpPr txBox="1"/>
          <p:nvPr/>
        </p:nvSpPr>
        <p:spPr>
          <a:xfrm>
            <a:off x="685800" y="1920240"/>
            <a:ext cx="5029200" cy="4133088"/>
          </a:xfrm>
          <a:prstGeom prst="rect">
            <a:avLst/>
          </a:prstGeom>
          <a:noFill/>
        </p:spPr>
        <p:txBody>
          <a:bodyPr wrap="square" tIns="73152">
            <a:spAutoFit/>
          </a:bodyPr>
          <a:lstStyle/>
          <a:p>
            <a:pPr>
              <a:defRPr sz="1100">
                <a:solidFill>
                  <a:srgbClr val="0F172A"/>
                </a:solidFill>
                <a:latin typeface="Arial"/>
              </a:defRPr>
            </a:pPr>
            <a:r>
              <a:t>• Q1: Apakah model utama mengalahkan Dummy Classifier?</a:t>
            </a:r>
            <a:br/>
            <a:r>
              <a:t>Jawaban Analitik: Menang telak secara masif! Dummy Classifier tertahan di akurasi 26.2%, sedangkan SVM Tuned mencapai 75.0% (+48.8%). Ini membuktikan secara ilmiah bahwa pembacaan 18 kanal AS7265x sungguh-sungguh membawa informasi kimiawi/fisik yang valid.</a:t>
            </a:r>
          </a:p>
          <a:p>
            <a:pPr>
              <a:spcBef>
                <a:spcPts val="600"/>
              </a:spcBef>
              <a:defRPr sz="1100">
                <a:solidFill>
                  <a:srgbClr val="0F172A"/>
                </a:solidFill>
                <a:latin typeface="Arial"/>
              </a:defRPr>
            </a:pPr>
            <a:r>
              <a:t>• Q2: Model mana yang paling stabil antara CV dan Test Set?</a:t>
            </a:r>
            <a:br/>
            <a:r>
              <a:t>Jawaban Analitik: SVM Tuned dan Random Forest memiliki stabilitas tertinggi. Skor CV F1 Macro SVM (0.722) konsisten dengan Test F1 (0.746), menandakan tidak ada overfitting.</a:t>
            </a:r>
          </a:p>
        </p:txBody>
      </p:sp>
      <p:sp>
        <p:nvSpPr>
          <p:cNvPr id="7" name="Rounded Rectangle 6"/>
          <p:cNvSpPr/>
          <p:nvPr/>
        </p:nvSpPr>
        <p:spPr>
          <a:xfrm>
            <a:off x="6217920" y="1371600"/>
            <a:ext cx="539496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217920" y="1371600"/>
            <a:ext cx="5394960" cy="5029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Q3, Q4, &amp; Q5: Explainability, Kebingungan Kelas, &amp; Tuning</a:t>
            </a:r>
          </a:p>
        </p:txBody>
      </p:sp>
      <p:sp>
        <p:nvSpPr>
          <p:cNvPr id="9" name="TextBox 8"/>
          <p:cNvSpPr txBox="1"/>
          <p:nvPr/>
        </p:nvSpPr>
        <p:spPr>
          <a:xfrm>
            <a:off x="6355080" y="1920240"/>
            <a:ext cx="5120640" cy="4133088"/>
          </a:xfrm>
          <a:prstGeom prst="rect">
            <a:avLst/>
          </a:prstGeom>
          <a:noFill/>
        </p:spPr>
        <p:txBody>
          <a:bodyPr wrap="square" tIns="73152">
            <a:spAutoFit/>
          </a:bodyPr>
          <a:lstStyle/>
          <a:p>
            <a:pPr>
              <a:defRPr sz="1100">
                <a:solidFill>
                  <a:srgbClr val="0F172A"/>
                </a:solidFill>
                <a:latin typeface="Arial"/>
              </a:defRPr>
            </a:pPr>
            <a:r>
              <a:t>• Q3: Apakah model tertinggi juga paling masuk akal dijelaskan?</a:t>
            </a:r>
            <a:br/>
            <a:r>
              <a:t>Jawaban Analitik: Tidak. SVM tertinggi (75%) bersifat black-box. Random Forest (67.5%) lebih transparan untuk audit R&amp;D.</a:t>
            </a:r>
          </a:p>
          <a:p>
            <a:pPr>
              <a:spcBef>
                <a:spcPts val="600"/>
              </a:spcBef>
              <a:defRPr sz="1100">
                <a:solidFill>
                  <a:srgbClr val="0F172A"/>
                </a:solidFill>
                <a:latin typeface="Arial"/>
              </a:defRPr>
            </a:pPr>
            <a:r>
              <a:t>• Q4: Kelas mana yang paling sering tertukar?</a:t>
            </a:r>
            <a:br/>
            <a:r>
              <a:t>Jawaban Analitik: Kelas yang berbatasan langsung (Medium dengan Dark/Light). Ini wajar karena transisi kimiawi bersifat kontinu.</a:t>
            </a:r>
          </a:p>
          <a:p>
            <a:pPr>
              <a:spcBef>
                <a:spcPts val="600"/>
              </a:spcBef>
              <a:defRPr sz="1100">
                <a:solidFill>
                  <a:srgbClr val="0F172A"/>
                </a:solidFill>
                <a:latin typeface="Arial"/>
              </a:defRPr>
            </a:pPr>
            <a:r>
              <a:t>• Q5: Apakah tuning benar-benar meningkatkan performa?</a:t>
            </a:r>
            <a:br/>
            <a:r>
              <a:t>Jawaban Analitik: Sangat drastis! Tuning C=10 dan gamma=1 melonjakkan akurasi SVM dari 50.0% menjadi 75.0% (+25%).</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Bedah Tuntas 15 Pertanyaan Refleksi Tim (Bagian 2: Q6 - Q10)</a:t>
            </a:r>
          </a:p>
          <a:p>
            <a:pPr>
              <a:defRPr sz="1250">
                <a:solidFill>
                  <a:srgbClr val="A7F3D0"/>
                </a:solidFill>
                <a:latin typeface="Arial"/>
              </a:defRPr>
            </a:pPr>
            <a:r>
              <a:t>Analisis mendalam mengenai arsitektur 18 kanal dan jembatan ilmu ke jambu</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33 of 36</a:t>
            </a:r>
          </a:p>
        </p:txBody>
      </p:sp>
      <p:sp>
        <p:nvSpPr>
          <p:cNvPr id="4" name="Rounded Rectangle 3"/>
          <p:cNvSpPr/>
          <p:nvPr/>
        </p:nvSpPr>
        <p:spPr>
          <a:xfrm>
            <a:off x="548640" y="1371600"/>
            <a:ext cx="53035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371600"/>
            <a:ext cx="5303520" cy="50292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Q6, Q7, &amp; Q8: Benchmark Jumlah Kanal &amp; Feature Importance</a:t>
            </a:r>
          </a:p>
        </p:txBody>
      </p:sp>
      <p:sp>
        <p:nvSpPr>
          <p:cNvPr id="6" name="TextBox 5"/>
          <p:cNvSpPr txBox="1"/>
          <p:nvPr/>
        </p:nvSpPr>
        <p:spPr>
          <a:xfrm>
            <a:off x="685800" y="1920240"/>
            <a:ext cx="5029200" cy="4133088"/>
          </a:xfrm>
          <a:prstGeom prst="rect">
            <a:avLst/>
          </a:prstGeom>
          <a:noFill/>
        </p:spPr>
        <p:txBody>
          <a:bodyPr wrap="square" tIns="73152">
            <a:spAutoFit/>
          </a:bodyPr>
          <a:lstStyle/>
          <a:p>
            <a:pPr>
              <a:defRPr sz="1100">
                <a:solidFill>
                  <a:srgbClr val="0F172A"/>
                </a:solidFill>
                <a:latin typeface="Arial"/>
              </a:defRPr>
            </a:pPr>
            <a:r>
              <a:t>• Q6: Apakah 4 kanal cukup mendekati performa 18 kanal?</a:t>
            </a:r>
            <a:br/>
            <a:r>
              <a:t>Jawaban Analitik: Sama sekali tidak cukup. Pemotongan ke 4 kanal RGB/IR menjatuhkan F1 dari 0.72 menjadi 0.51. Sensor 18 kanal wajib dipertahankan.</a:t>
            </a:r>
          </a:p>
          <a:p>
            <a:pPr>
              <a:spcBef>
                <a:spcPts val="600"/>
              </a:spcBef>
              <a:defRPr sz="1100">
                <a:solidFill>
                  <a:srgbClr val="0F172A"/>
                </a:solidFill>
                <a:latin typeface="Arial"/>
              </a:defRPr>
            </a:pPr>
            <a:r>
              <a:t>• Q7 &amp; Q8: Kanal apa yang paling penting menurut ANOVA vs Permutation?</a:t>
            </a:r>
            <a:br/>
            <a:r>
              <a:t>Jawaban Analitik: ANOVA menonjolkan 610 nm &amp; 645 nm (Merah) karena perubahan warna permukaan linear. Permutation menonjolkan NIR (940 nm, 900 nm) karena interaksi mendalam struktur internal.</a:t>
            </a:r>
          </a:p>
        </p:txBody>
      </p:sp>
      <p:sp>
        <p:nvSpPr>
          <p:cNvPr id="7" name="Rounded Rectangle 6"/>
          <p:cNvSpPr/>
          <p:nvPr/>
        </p:nvSpPr>
        <p:spPr>
          <a:xfrm>
            <a:off x="6217920" y="1371600"/>
            <a:ext cx="539496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217920" y="1371600"/>
            <a:ext cx="5394960" cy="502920"/>
          </a:xfrm>
          <a:prstGeom prst="round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Q9 &amp; Q10: Kesepakatan Metode &amp; Validitas Model Kopi</a:t>
            </a:r>
          </a:p>
        </p:txBody>
      </p:sp>
      <p:sp>
        <p:nvSpPr>
          <p:cNvPr id="9" name="TextBox 8"/>
          <p:cNvSpPr txBox="1"/>
          <p:nvPr/>
        </p:nvSpPr>
        <p:spPr>
          <a:xfrm>
            <a:off x="6355080" y="1920240"/>
            <a:ext cx="5120640" cy="4133088"/>
          </a:xfrm>
          <a:prstGeom prst="rect">
            <a:avLst/>
          </a:prstGeom>
          <a:noFill/>
        </p:spPr>
        <p:txBody>
          <a:bodyPr wrap="square" tIns="73152">
            <a:spAutoFit/>
          </a:bodyPr>
          <a:lstStyle/>
          <a:p>
            <a:pPr>
              <a:defRPr sz="1100">
                <a:solidFill>
                  <a:srgbClr val="0F172A"/>
                </a:solidFill>
                <a:latin typeface="Arial"/>
              </a:defRPr>
            </a:pPr>
            <a:r>
              <a:t>• Q9: Apakah ANOVA dan Permutation memberi hasil serupa?</a:t>
            </a:r>
            <a:br/>
            <a:r>
              <a:t>Jawaban Analitik: Keduanya sepakat mutlak pada titik krusial 940 nm (NIR), membuktikan spektrum inframerah dekat adalah penentu utama NDT optik.</a:t>
            </a:r>
          </a:p>
          <a:p>
            <a:pPr>
              <a:spcBef>
                <a:spcPts val="600"/>
              </a:spcBef>
              <a:defRPr sz="1100">
                <a:solidFill>
                  <a:srgbClr val="0F172A"/>
                </a:solidFill>
                <a:latin typeface="Arial"/>
              </a:defRPr>
            </a:pPr>
            <a:r>
              <a:t>• Q10: Mengapa model kopi tidak boleh digunakan langsung untuk jambu?</a:t>
            </a:r>
            <a:br/>
            <a:r>
              <a:t>Jawaban Analitik: Karena matriks biologisnya berbeda 180 derajat (biji kering padat vs buah basah berair). Studi kopi murni berfungsi sebagai pembuktian konsep arsitektur pipeline!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Bedah Tuntas 15 Pertanyaan Refleksi Tim (Bagian 3: Q11 - Q15)</a:t>
            </a:r>
          </a:p>
          <a:p>
            <a:pPr>
              <a:defRPr sz="1250">
                <a:solidFill>
                  <a:srgbClr val="A7F3D0"/>
                </a:solidFill>
                <a:latin typeface="Arial"/>
              </a:defRPr>
            </a:pPr>
            <a:r>
              <a:t>Analisis mendalam mengenai strategi bisnis QC dan optimasi lapangan</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34 of 36</a:t>
            </a:r>
          </a:p>
        </p:txBody>
      </p:sp>
      <p:sp>
        <p:nvSpPr>
          <p:cNvPr id="4" name="Rounded Rectangle 3"/>
          <p:cNvSpPr/>
          <p:nvPr/>
        </p:nvSpPr>
        <p:spPr>
          <a:xfrm>
            <a:off x="548640" y="1371600"/>
            <a:ext cx="53035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371600"/>
            <a:ext cx="5303520" cy="50292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Q11, Q12, &amp; Q13: Data Leakage &amp; Metrik Prioritas Bisnis</a:t>
            </a:r>
          </a:p>
        </p:txBody>
      </p:sp>
      <p:sp>
        <p:nvSpPr>
          <p:cNvPr id="6" name="TextBox 5"/>
          <p:cNvSpPr txBox="1"/>
          <p:nvPr/>
        </p:nvSpPr>
        <p:spPr>
          <a:xfrm>
            <a:off x="685800" y="1920240"/>
            <a:ext cx="5029200" cy="4133088"/>
          </a:xfrm>
          <a:prstGeom prst="rect">
            <a:avLst/>
          </a:prstGeom>
          <a:noFill/>
        </p:spPr>
        <p:txBody>
          <a:bodyPr wrap="square" tIns="73152">
            <a:spAutoFit/>
          </a:bodyPr>
          <a:lstStyle/>
          <a:p>
            <a:pPr>
              <a:defRPr sz="1100">
                <a:solidFill>
                  <a:srgbClr val="0F172A"/>
                </a:solidFill>
                <a:latin typeface="Arial"/>
              </a:defRPr>
            </a:pPr>
            <a:r>
              <a:t>• Q11: Mengapa dataset primer harus memiliki fruit_id?</a:t>
            </a:r>
            <a:br/>
            <a:r>
              <a:t>Jawaban Analitik: Agar kita bisa menerapkan GroupKFold Validation, mencegah bocornya scan ulang buah yang sama ke data uji.</a:t>
            </a:r>
          </a:p>
          <a:p>
            <a:pPr>
              <a:spcBef>
                <a:spcPts val="600"/>
              </a:spcBef>
              <a:defRPr sz="1100">
                <a:solidFill>
                  <a:srgbClr val="0F172A"/>
                </a:solidFill>
                <a:latin typeface="Arial"/>
              </a:defRPr>
            </a:pPr>
            <a:r>
              <a:t>• Q12: Lebih bahaya mana: False Negative atau False Positive?</a:t>
            </a:r>
            <a:br/>
            <a:r>
              <a:t>Jawaban Analitik: False Negative jauh lebih fatal! Buah berulat yang lolos ke konsumen menghancurkan reputasi merek BuahSafe.</a:t>
            </a:r>
          </a:p>
          <a:p>
            <a:pPr>
              <a:spcBef>
                <a:spcPts val="600"/>
              </a:spcBef>
              <a:defRPr sz="1100">
                <a:solidFill>
                  <a:srgbClr val="0F172A"/>
                </a:solidFill>
                <a:latin typeface="Arial"/>
              </a:defRPr>
            </a:pPr>
            <a:r>
              <a:t>• Q13: Metrik prioritas penentu keberhasilan QC lapangan?</a:t>
            </a:r>
            <a:br/>
            <a:r>
              <a:t>Jawaban Analitik: Recall pada kelas Rusak (wajib &gt;95%) dan F1-Score Macro.</a:t>
            </a:r>
          </a:p>
        </p:txBody>
      </p:sp>
      <p:sp>
        <p:nvSpPr>
          <p:cNvPr id="7" name="Rounded Rectangle 6"/>
          <p:cNvSpPr/>
          <p:nvPr/>
        </p:nvSpPr>
        <p:spPr>
          <a:xfrm>
            <a:off x="6217920" y="1371600"/>
            <a:ext cx="539496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217920" y="1371600"/>
            <a:ext cx="5394960" cy="5029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Q14 &amp; Q15: Pengayaan Data Primer &amp; Solusi Perbaikan</a:t>
            </a:r>
          </a:p>
        </p:txBody>
      </p:sp>
      <p:sp>
        <p:nvSpPr>
          <p:cNvPr id="9" name="TextBox 8"/>
          <p:cNvSpPr txBox="1"/>
          <p:nvPr/>
        </p:nvSpPr>
        <p:spPr>
          <a:xfrm>
            <a:off x="6355080" y="1920240"/>
            <a:ext cx="5120640" cy="4133088"/>
          </a:xfrm>
          <a:prstGeom prst="rect">
            <a:avLst/>
          </a:prstGeom>
          <a:noFill/>
        </p:spPr>
        <p:txBody>
          <a:bodyPr wrap="square" tIns="73152">
            <a:spAutoFit/>
          </a:bodyPr>
          <a:lstStyle/>
          <a:p>
            <a:pPr>
              <a:defRPr sz="1100">
                <a:solidFill>
                  <a:srgbClr val="0F172A"/>
                </a:solidFill>
                <a:latin typeface="Arial"/>
              </a:defRPr>
            </a:pPr>
            <a:r>
              <a:t>• Q14: Kolom metadata tambahan apa yang wajib ada di data primer?</a:t>
            </a:r>
            <a:br/>
            <a:r>
              <a:t>Jawaban Analitik: Suhu/kelembapan chamber, ID orientasi scan, serta hasil audit destruktif lab (Brix digital, larva, browning).</a:t>
            </a:r>
          </a:p>
          <a:p>
            <a:pPr>
              <a:spcBef>
                <a:spcPts val="600"/>
              </a:spcBef>
              <a:defRPr sz="1100">
                <a:solidFill>
                  <a:srgbClr val="0F172A"/>
                </a:solidFill>
                <a:latin typeface="Arial"/>
              </a:defRPr>
            </a:pPr>
            <a:r>
              <a:t>• Q15: Langkah jika performa awal pada jambu kristal masih rendah?</a:t>
            </a:r>
            <a:br/>
            <a:r>
              <a:t>Jawaban Analitik: Lakukan 3 perbaikan sistematis: 1. Rapikan kedapan chamber dari cahaya luar; 2. Terapkan SNV/MSC scaling untuk mengoreksi lengkungan buah; 3. Gunakan label kemunduran bertingkat.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wrap="square" lIns="457200" tIns="137160" rtlCol="0" anchor="ctr"/>
          <a:lstStyle/>
          <a:p>
            <a:pPr algn="ctr">
              <a:defRPr sz="2200" b="1">
                <a:solidFill>
                  <a:srgbClr val="FFFFFF"/>
                </a:solidFill>
                <a:latin typeface="Arial"/>
              </a:defRPr>
            </a:pPr>
            <a:r>
              <a:t>Peta Jalan Eksekusi Lapangan (Roadmap BuahSafe)</a:t>
            </a:r>
          </a:p>
          <a:p>
            <a:pPr>
              <a:defRPr sz="1250">
                <a:solidFill>
                  <a:srgbClr val="A7F3D0"/>
                </a:solidFill>
                <a:latin typeface="Arial"/>
              </a:defRPr>
            </a:pPr>
            <a:r>
              <a:t>Tahapan aksi konkrit menuju implementasi perangkat keras sortasi massal</a:t>
            </a:r>
          </a:p>
        </p:txBody>
      </p:sp>
      <p:sp>
        <p:nvSpPr>
          <p:cNvPr id="3" name="TextBox 2"/>
          <p:cNvSpPr txBox="1"/>
          <p:nvPr/>
        </p:nvSpPr>
        <p:spPr>
          <a:xfrm>
            <a:off x="457200" y="6492240"/>
            <a:ext cx="11277295" cy="274320"/>
          </a:xfrm>
          <a:prstGeom prst="rect">
            <a:avLst/>
          </a:prstGeom>
          <a:noFill/>
        </p:spPr>
        <p:txBody>
          <a:bodyPr wrap="none">
            <a:spAutoFit/>
          </a:bodyPr>
          <a:lstStyle/>
          <a:p>
            <a:pPr>
              <a:defRPr sz="1000">
                <a:solidFill>
                  <a:srgbClr val="475569"/>
                </a:solidFill>
                <a:latin typeface="Arial"/>
              </a:defRPr>
            </a:pPr>
            <a:r>
              <a:t>BuahSafe Master Class Walkthrough Study   |   Slide 35 of 36</a:t>
            </a:r>
          </a:p>
        </p:txBody>
      </p:sp>
      <p:sp>
        <p:nvSpPr>
          <p:cNvPr id="4" name="Rounded Rectangle 3"/>
          <p:cNvSpPr/>
          <p:nvPr/>
        </p:nvSpPr>
        <p:spPr>
          <a:xfrm>
            <a:off x="548640" y="1371600"/>
            <a:ext cx="34747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371600"/>
            <a:ext cx="3474720" cy="502920"/>
          </a:xfrm>
          <a:prstGeom prst="roundRect">
            <a:avLst/>
          </a:prstGeom>
          <a:solidFill>
            <a:srgbClr val="104E3B"/>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Fase 1: Standarisasi Hardware</a:t>
            </a:r>
          </a:p>
        </p:txBody>
      </p:sp>
      <p:sp>
        <p:nvSpPr>
          <p:cNvPr id="6" name="TextBox 5"/>
          <p:cNvSpPr txBox="1"/>
          <p:nvPr/>
        </p:nvSpPr>
        <p:spPr>
          <a:xfrm>
            <a:off x="685800" y="1920240"/>
            <a:ext cx="3200400" cy="4133088"/>
          </a:xfrm>
          <a:prstGeom prst="rect">
            <a:avLst/>
          </a:prstGeom>
          <a:noFill/>
        </p:spPr>
        <p:txBody>
          <a:bodyPr wrap="square" tIns="73152">
            <a:spAutoFit/>
          </a:bodyPr>
          <a:lstStyle/>
          <a:p>
            <a:pPr>
              <a:defRPr sz="1100">
                <a:solidFill>
                  <a:srgbClr val="0F172A"/>
                </a:solidFill>
                <a:latin typeface="Arial"/>
              </a:defRPr>
            </a:pPr>
            <a:r>
              <a:t>• Isolasi Chamber: Memastikan kotak pemindaian kedap 100% dari cahaya luar.</a:t>
            </a:r>
          </a:p>
          <a:p>
            <a:pPr>
              <a:spcBef>
                <a:spcPts val="600"/>
              </a:spcBef>
              <a:defRPr sz="1100">
                <a:solidFill>
                  <a:srgbClr val="0F172A"/>
                </a:solidFill>
                <a:latin typeface="Arial"/>
              </a:defRPr>
            </a:pPr>
            <a:r>
              <a:t>• Kalibrasi Jarak Sensor: Menetapkan jarak statis antara sensor AS7265x dan permukaan buah jambu kristal.</a:t>
            </a:r>
          </a:p>
          <a:p>
            <a:pPr>
              <a:spcBef>
                <a:spcPts val="600"/>
              </a:spcBef>
              <a:defRPr sz="1100">
                <a:solidFill>
                  <a:srgbClr val="0F172A"/>
                </a:solidFill>
                <a:latin typeface="Arial"/>
              </a:defRPr>
            </a:pPr>
            <a:r>
              <a:t>• Stabilitas LED: Menguji kestabilan intensitas lampu pemancar pada berbagai suhu ruangan.</a:t>
            </a:r>
          </a:p>
        </p:txBody>
      </p:sp>
      <p:sp>
        <p:nvSpPr>
          <p:cNvPr id="7" name="Rounded Rectangle 6"/>
          <p:cNvSpPr/>
          <p:nvPr/>
        </p:nvSpPr>
        <p:spPr>
          <a:xfrm>
            <a:off x="4358030" y="1371600"/>
            <a:ext cx="34747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58030" y="1371600"/>
            <a:ext cx="3474720" cy="5029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Fase 2: Pengumpulan Data Primer</a:t>
            </a:r>
          </a:p>
        </p:txBody>
      </p:sp>
      <p:sp>
        <p:nvSpPr>
          <p:cNvPr id="9" name="TextBox 8"/>
          <p:cNvSpPr txBox="1"/>
          <p:nvPr/>
        </p:nvSpPr>
        <p:spPr>
          <a:xfrm>
            <a:off x="4495190" y="1920240"/>
            <a:ext cx="3200400" cy="4133088"/>
          </a:xfrm>
          <a:prstGeom prst="rect">
            <a:avLst/>
          </a:prstGeom>
          <a:noFill/>
        </p:spPr>
        <p:txBody>
          <a:bodyPr wrap="square" tIns="73152">
            <a:spAutoFit/>
          </a:bodyPr>
          <a:lstStyle/>
          <a:p>
            <a:pPr>
              <a:defRPr sz="1100">
                <a:solidFill>
                  <a:srgbClr val="0F172A"/>
                </a:solidFill>
                <a:latin typeface="Arial"/>
              </a:defRPr>
            </a:pPr>
            <a:r>
              <a:t>• Protokol Scan: Memindai min. 500 buah jambu dengan 3 ulangan orientasi (tangkai, tengah, bawah).</a:t>
            </a:r>
          </a:p>
          <a:p>
            <a:pPr>
              <a:spcBef>
                <a:spcPts val="600"/>
              </a:spcBef>
              <a:defRPr sz="1100">
                <a:solidFill>
                  <a:srgbClr val="0F172A"/>
                </a:solidFill>
                <a:latin typeface="Arial"/>
              </a:defRPr>
            </a:pPr>
            <a:r>
              <a:t>• Audit Destruktif Ketat: Membelah buah pasca-scan untuk mencatat ground truth (larva, browning, Brix).</a:t>
            </a:r>
          </a:p>
          <a:p>
            <a:pPr>
              <a:spcBef>
                <a:spcPts val="600"/>
              </a:spcBef>
              <a:defRPr sz="1100">
                <a:solidFill>
                  <a:srgbClr val="0F172A"/>
                </a:solidFill>
                <a:latin typeface="Arial"/>
              </a:defRPr>
            </a:pPr>
            <a:r>
              <a:t>• Metadata Lengkap: Mencatat fruit_id dan kondisi lingkungan chamber.</a:t>
            </a:r>
          </a:p>
        </p:txBody>
      </p:sp>
      <p:sp>
        <p:nvSpPr>
          <p:cNvPr id="10" name="Rounded Rectangle 9"/>
          <p:cNvSpPr/>
          <p:nvPr/>
        </p:nvSpPr>
        <p:spPr>
          <a:xfrm>
            <a:off x="8168335" y="1371600"/>
            <a:ext cx="34747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168335" y="1371600"/>
            <a:ext cx="3474720" cy="50292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lIns="182880" tIns="91440" rtlCol="0" anchor="ctr"/>
          <a:lstStyle/>
          <a:p>
            <a:pPr algn="ctr">
              <a:defRPr sz="1300" b="1">
                <a:solidFill>
                  <a:srgbClr val="FFFFFF"/>
                </a:solidFill>
                <a:latin typeface="Arial"/>
              </a:defRPr>
            </a:pPr>
            <a:r>
              <a:t>Fase 3: Deployment &amp; Optimasi</a:t>
            </a:r>
          </a:p>
        </p:txBody>
      </p:sp>
      <p:sp>
        <p:nvSpPr>
          <p:cNvPr id="12" name="TextBox 11"/>
          <p:cNvSpPr txBox="1"/>
          <p:nvPr/>
        </p:nvSpPr>
        <p:spPr>
          <a:xfrm>
            <a:off x="8305495" y="1920240"/>
            <a:ext cx="3200400" cy="4133088"/>
          </a:xfrm>
          <a:prstGeom prst="rect">
            <a:avLst/>
          </a:prstGeom>
          <a:noFill/>
        </p:spPr>
        <p:txBody>
          <a:bodyPr wrap="square" tIns="73152">
            <a:spAutoFit/>
          </a:bodyPr>
          <a:lstStyle/>
          <a:p>
            <a:pPr>
              <a:defRPr sz="1100">
                <a:solidFill>
                  <a:srgbClr val="0F172A"/>
                </a:solidFill>
                <a:latin typeface="Arial"/>
              </a:defRPr>
            </a:pPr>
            <a:r>
              <a:t>• Retraining Pipeline: Latih ulang model SVM &amp; RF menggunakan GroupKFold pada data primer.</a:t>
            </a:r>
          </a:p>
          <a:p>
            <a:pPr>
              <a:spcBef>
                <a:spcPts val="600"/>
              </a:spcBef>
              <a:defRPr sz="1100">
                <a:solidFill>
                  <a:srgbClr val="0F172A"/>
                </a:solidFill>
                <a:latin typeface="Arial"/>
              </a:defRPr>
            </a:pPr>
            <a:r>
              <a:t>• Kalibrasi Threshold QC: Geser decision boundary demi mencapai Recall &gt; 95% pada kelas Rusak.</a:t>
            </a:r>
          </a:p>
          <a:p>
            <a:pPr>
              <a:spcBef>
                <a:spcPts val="600"/>
              </a:spcBef>
              <a:defRPr sz="1100">
                <a:solidFill>
                  <a:srgbClr val="0F172A"/>
                </a:solidFill>
                <a:latin typeface="Arial"/>
              </a:defRPr>
            </a:pPr>
            <a:r>
              <a:t>• Uji Coba Lapangan (Pilot): Implementasi prototipe di gudang mitra penyortir buah.</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04E3B"/>
        </a:solidFill>
        <a:effectLst/>
      </p:bgPr>
    </p:bg>
    <p:spTree>
      <p:nvGrpSpPr>
        <p:cNvPr id="1" name=""/>
        <p:cNvGrpSpPr/>
        <p:nvPr/>
      </p:nvGrpSpPr>
      <p:grpSpPr>
        <a:xfrm>
          <a:off x="0" y="0"/>
          <a:ext cx="0" cy="0"/>
          <a:chOff x="0" y="0"/>
          <a:chExt cx="0" cy="0"/>
        </a:xfrm>
      </p:grpSpPr>
      <p:sp>
        <p:nvSpPr>
          <p:cNvPr id="2" name="Rounded Rectangle 1"/>
          <p:cNvSpPr/>
          <p:nvPr/>
        </p:nvSpPr>
        <p:spPr>
          <a:xfrm>
            <a:off x="1371600" y="1371600"/>
            <a:ext cx="9448495"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731520" tIns="548640" rtlCol="0" anchor="ctr"/>
          <a:lstStyle/>
          <a:p>
            <a:pPr algn="ctr">
              <a:defRPr sz="2400" b="1">
                <a:solidFill>
                  <a:srgbClr val="104E3B"/>
                </a:solidFill>
                <a:latin typeface="Arial"/>
              </a:defRPr>
            </a:pPr>
            <a:r>
              <a:t>KESIMPULAN EKSEKUTIF BUAHSAFE</a:t>
            </a:r>
          </a:p>
          <a:p>
            <a:pPr>
              <a:spcBef>
                <a:spcPts val="1000"/>
              </a:spcBef>
              <a:defRPr sz="1600" b="1">
                <a:solidFill>
                  <a:srgbClr val="D97706"/>
                </a:solidFill>
                <a:latin typeface="Arial"/>
              </a:defRPr>
            </a:pPr>
            <a:r>
              <a:t>Dari First Principles Fisika hingga Implementasi Hardware Nyata</a:t>
            </a:r>
          </a:p>
          <a:p>
            <a:pPr>
              <a:spcBef>
                <a:spcPts val="1600"/>
              </a:spcBef>
              <a:defRPr sz="1300">
                <a:solidFill>
                  <a:srgbClr val="0F172A"/>
                </a:solidFill>
                <a:latin typeface="Arial"/>
              </a:defRPr>
            </a:pPr>
            <a:r>
              <a:t>1. Sensor AS7265x 18 Kanal terbukti ilmiah tidak boleh digantikan oleh kamera 4 kanal murah.</a:t>
            </a:r>
            <a:br/>
            <a:r>
              <a:t>2. Pipeline Machine Learning (StandardScaler -&gt; SVM Tuned / RF) terbukti akurat melompat +48.8%.</a:t>
            </a:r>
            <a:br/>
            <a:r>
              <a:t>3. Skema GroupKFold &amp; Audit Destruktif siap dieksekusi untuk menjaga reputasi BuahSafe di pasar ritel modern.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5803</Words>
  <Application>Microsoft Office PowerPoint</Application>
  <PresentationFormat>Widescreen</PresentationFormat>
  <Paragraphs>343</Paragraphs>
  <Slides>36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ADE SURYA ANANDA</cp:lastModifiedBy>
  <cp:revision>3</cp:revision>
  <dcterms:created xsi:type="dcterms:W3CDTF">2013-01-27T09:14:16Z</dcterms:created>
  <dcterms:modified xsi:type="dcterms:W3CDTF">2026-07-02T14:24:10Z</dcterms:modified>
  <cp:category/>
</cp:coreProperties>
</file>