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548640"/>
          <a:lstStyle/>
          <a:p>
            <a:pPr algn="ctr">
              <a:defRPr sz="2500" b="1">
                <a:solidFill>
                  <a:srgbClr val="104E3B"/>
                </a:solidFill>
                <a:latin typeface="Arial"/>
              </a:defRPr>
            </a:pPr>
            <a:r>
              <a:t>BUAHSAFE: DEEP DIVE PIPELINE &amp; STUDI KASUS</a:t>
            </a:r>
          </a:p>
          <a:p>
            <a:pPr>
              <a:spcBef>
                <a:spcPts val="1200"/>
              </a:spcBef>
              <a:defRPr sz="1600" b="1">
                <a:solidFill>
                  <a:srgbClr val="D97706"/>
                </a:solidFill>
                <a:latin typeface="Arial"/>
              </a:defRPr>
            </a:pPr>
            <a:r>
              <a:t>Bedah Tuntas Kausalitas Konsep, EDA, Matriks Korelasi, Preprocessing, Evaluasi Seluruh Model,</a:t>
            </a:r>
            <a:br/>
            <a:r>
              <a:t>hingga Jembatan Pemahaman Pembuktian Konsep Kopi ke Deteksi Jambu Kristal</a:t>
            </a:r>
          </a:p>
          <a:p>
            <a:pPr>
              <a:spcBef>
                <a:spcPts val="1600"/>
              </a:spcBef>
              <a:defRPr sz="1350">
                <a:solidFill>
                  <a:srgbClr val="475569"/>
                </a:solidFill>
                <a:latin typeface="Arial"/>
              </a:defRPr>
            </a:pPr>
            <a:r>
              <a:t>Menggunakan 13 Grafik Diagnostik Nyata Hasil Eksekusi Notebook &amp; Ilustrasi Ilmiah,</a:t>
            </a:r>
            <a:br/>
            <a:r>
              <a:t>dengan Tata Letak Modular Tanpa Redundansi &amp; Rasio Aspek Sempurna.</a:t>
            </a:r>
          </a:p>
          <a:p>
            <a:pPr>
              <a:spcBef>
                <a:spcPts val="2200"/>
              </a:spcBef>
              <a:defRPr sz="1200" i="1">
                <a:solidFill>
                  <a:srgbClr val="059669"/>
                </a:solidFill>
                <a:latin typeface="Arial"/>
              </a:defRPr>
            </a:pPr>
            <a:r>
              <a:t>Panduan Ekstensif 28 Slide untuk Data Scientist, Agronomis, Insinyur Hardware, &amp; Investor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Kamus Istilah Lengkap Bagian 1: Fisika &amp; Spektroskopi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Penjelasan harfiah bahasa manusia untuk memahami interaksi cahaya dengan objek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2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Spektroskopi &amp; Cahaya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Spektroskopi: Ilmu fisika tentang bagaimana cahaya berinteraksi dengan materi atau molekul biologis.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Foton: Partikel/paket energi terkecil penyusun cahaya.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Nanometer (nm): Satuan ukuran panjang gelombang (1 nm = sepermiliar meter). Warna berbeda punya nm berbeda.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Visible Light (400-700 nm): Cahaya yang tampak oleh mata manusia (Merah, Jingga, Kuning, Hijau, Biru).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NIR &amp; Red-Edge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Near-Infrared / NIR (700-1100 nm): Inframerah dekat yang TIDAK terlihat mata, tapi ajaibnya mampu menembus ke dalam jaringan daging buah.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Red-Edge (680-730 nm): Daerah transisi cepat antara merah dan NIR yang menjadi penentu stres sel tumbuhan.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Sensor AS7265x: Spektrometer miniatur 18 kanal pembaca cahaya 410-940 nm.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Reflektansi &amp; Hamburan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Reflektansi: Persentase cahaya pantul dibanding cahaya total lampu LED.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Absorpsi (Penyerapan): Cahaya diserap molekul air/pigmen dan hilang menjadi getaran energi.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Refleksi Spekular: Pantulan silau cermin di kulit luar.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Hamburan Difus (Sub-surface Scattering): Cahaya menembus masuk, memantul di dalam daging buah, lalu keluar membawa info cacat internal!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Kamus Istilah Lengkap Bagian 2: Biologi, Kimia, &amp; Kopi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Penjelasan konsep kimiawi pada kopi sangrai dan biologi pada buah jambu kristal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3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Kimiawi Kopi Sangrai (Dataset PoC)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Agtron Value: Skala numerik standar internasional (0-100) industri kopi untuk mengukur derajat sangrai menggunakan alat khusus Agtron. Angka tinggi (&gt;70) = sangrai muda (Light); Angka rendah (&lt;40) = gelap (Dark).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Reaksi Maillard: Reaksi kimiawi antara asam amino dan gula pereduksi akibat panas pemanggangan kopi.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Melanoidin: Senyawa pigmen cokelat gelap yang terbentuk dari Reaksi Maillard saat kopi disangrai.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Kadar Air Kopi: Biji mentah punya air ~12%, saat disangrai matang menguap hilang menyisakan &lt;3%.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Biologi Jambu Kristal (Dataset Primer)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1206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Klorofil: Pigmen hijau alami pada kulit jambu kristal segar.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Ikatan Hidrogen Air (O-H): Ikatan kimiawi molekul air di dalam daging buah yang menyerap kuat foton cahaya NIR pada 940 nm.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Oksidasi Fenolik (Browning): Pembusukan daging buah menjadi kecokelatan saat sel rusak terkena udara.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Larva Lalat Buah (Bactrocera carambolae): Ulat hama yang bertelur lewat lubang jarum mikroskopis; kulit luar mulus, bagian tengah hancur berulat.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Kamus Istilah Lengkap Bagian 3: Machine Learning &amp; Statistik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Istilah pemodelan AI yang diterjemahkan ke bahasa sehari-hari yang mudah dipahami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4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Dasar Algoritma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Fitur (X): 18 kolom angka dari sensor AS7265x (indra mata model).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Label/Target (y): Jawaban benar yang ingin ditebak model (kategori sangrai / status busuk).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Klasifikasi: Memilah ke dalam kelas tegas (Normal vs Rusak).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Regresi: Menebak angka numerik kontinu tepat (misal Agtron 58.4).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Data Latih vs Uji: Soal latihan vs soal ujian akhir.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Evaluasi &amp; Validasi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Overfitting: Penyakit model 'menghafal mati' soal latihan (100%), tapi hancur saat menemui buah baru.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Cross-Validation (CV): Ujian berulang dengan membagi data agar yakin akurasi model konsisten.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GroupKFold: Mengelompokkan semua scan ulang dari 1 buah fisik yang sama agar tidak dipisah latih/uji (mencegah manipulasi akurasi).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Confusion Matrix: Tabel rincian tebakan benar dan salah.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Metrik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False Negative (FN): Bahaya fatal buah rusak keliru ditebak normal.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False Positive (FP): Buah sehat keliru ditebak rusak.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StandardScaler: Rumus menyetarakan skala agar angka ribuan tidak menindas angka puluhan.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Permutation Importance: Menguji vitalitas kolom dengan mengacak angkanya; jika akurasi hancur, kolom itu vital.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Latar Belakang &amp; Masalah Bisnis Quality Control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cara sortasi manual tradisional gagal dan membahayakan bisnis buah premium?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5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1. Kelemahan Sortasi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Subjektivitas Tinggi: Penilaian visual &amp; ketukan jari sangat bergantung pada mood/pengalaman pekerja.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Kelelahan Manusia: Mata pekerja mengalami penurunan fokus setelah jam kerja panjang, memicu human error.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Inkonsistensi Standar: Kualitas pengiriman antar-batch ke supermarket tidak pernah stabil seragam.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2. Ancaman Cacat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Serangan Lalat Buah: Betina menaruh telur lewat lubang mikroskopis pada kulit luar yang normal.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Luar Mulus, Dalam Busuk: Secara visual luar buah tampak sempurna mulus, tetapi daging tengahnya hancur berulat.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Kegagalan Kamera RGB: Kamera biasa atau mata manusia tidak mampu menembus ke bawah kulit buah.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3. Risiko Finansial &amp; Reputasi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Komplain Fatal Konsumen: Pembeli menemukan ulat di buah bermerek BuahSafe -&gt; kepercayaan hancur.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Putus Kontrak Supermarket: Manajemen ritel modern dapat memutus pasokan permanen akibat cacat mutu.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Biaya False Negative Tinggi: Meloloskan buah rusak jauh lebih merugikan daripada menolak buah sehat.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First Principles Spektroskopi &amp; Hamburan Difus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Ilustrasi visual bagaimana foton NIR menembus ke bawah kulit buah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6 of 28</a:t>
            </a:r>
          </a:p>
        </p:txBody>
      </p:sp>
      <p:pic>
        <p:nvPicPr>
          <p:cNvPr id="4" name="Picture 3" descr="asset_1_subsurface_scat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943600" cy="32689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371600"/>
            <a:ext cx="49377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93776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Analisis Kausalitas Fisika NDT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920240"/>
            <a:ext cx="46634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1. Absorpsi (Penyerapan Molekuler):</a:t>
            </a:r>
            <a:br/>
            <a:r>
              <a:t>Foton diserap oleh ikatan kimia spesifik (O-H pada air, C-H pada gula, klorofil) untuk menggetarkan molekul.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2. Refleksi Spekular (Pantulan Permukaan):</a:t>
            </a:r>
            <a:br/>
            <a:r>
              <a:t>Cahaya memantul langsung di permukaan lilin kulit luar seperti cermin (tidak membawa informasi internal).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3. Hamburan Difus (Sub-Surface Scattering):</a:t>
            </a:r>
            <a:br/>
            <a:r>
              <a:t>Cahaya menembus masuk ke jaringan bawah kulit, memantul berulang kali di antara dinding sel daging buah, lalu keluar kembali membawa 'rekam sidik jari' struktur internal menuju sensor!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Alur Kausalitas Fisika - Kimia - Biologi Kerusakan Buah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Diagram alur mengapa buah berulat/busuk merubah pembacaan sensor optik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7 of 28</a:t>
            </a:r>
          </a:p>
        </p:txBody>
      </p:sp>
      <p:pic>
        <p:nvPicPr>
          <p:cNvPr id="4" name="Picture 3" descr="asset_2_causali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62895" cy="33161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66344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4663440"/>
            <a:ext cx="256032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1. Sebab Biologi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212080"/>
            <a:ext cx="2286000" cy="10241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Larva lalat buah memakan jaringan daging buah di tengah, atau infeksi jamur membusukkan sel.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66344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4663440"/>
            <a:ext cx="25603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2. Sebab Kimiawi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5212080"/>
            <a:ext cx="2286000" cy="10241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Dinding sel pecah berair, ikatan hidrogen air (O-H) berkumpul di rongga busuk, &amp; oksidasi pigmen.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6344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4663440"/>
            <a:ext cx="25603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3. Penyerapan Foton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212080"/>
            <a:ext cx="2286000" cy="10241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Cahaya NIR menembus daging buah. Ikatan air (O-H) menyerap foton 940 nm secara intens.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66344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4663440"/>
            <a:ext cx="25603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4. Rekam Jejak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5212080"/>
            <a:ext cx="2286000" cy="10241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Arial"/>
              </a:defRPr>
            </a:pPr>
            <a:r>
              <a:t>Pantulan difus balik ke sensor AS7265x mengalami penurunan intensitas drastis di kanal 940 nm!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STUDI VALIDASI: Mengapa Pakai Kopi &amp; Ukur Agtron?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Membuktikan pemanfaatan nyata di industri kopi sebelum dihubungkan ke jambu kristal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8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Manfaat Nyata Jika Diterapkan di Dunia Kopi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Masalah Roaster Kopi: Alat standar pengukur derajat sangrai (Agtron Spectrophotometer) harganya ratusan juta rupiah.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Inovasi AS7265x: Kita membuktikan sensor miniatur 18-kanal murah mampu memprediksi kelas sangrai (akurasi 75%) &amp; menebak angka Agtron (regresi) secara presisi!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Kausalitas Fisika Kopi: Panas sangrai menguapkan air sampai habis (&lt;3%) dan memicu Reaksi Maillard membentuk pigmen gelap Melanoidin.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Kesimpulan Kopi: Hardware &amp; pipeline ML kita terbukti bernilai komersial nyata sebagai alat kontrol mutu sangrai non-destruktif murah!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Tujuan Proof of Concept (PoC) bagi BuahSafe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1206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Validasi Arsitektur Software: Sebelum chamber primer selesai dirakit, kita wajib memvalidasi alur kerja pengolahan data sensor AS7265x.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Uji End-to-End Pipeline: Membuktikan dari data mentah sensor dapat dibangun model klasifikasi, tuning, feature selection, dan regresi.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Inovasi Rekayasa Data: Normalisasi otomatis nama file &amp; resolusi blokir HTTP (403 Forbidden) saat mengunduh data dari IPFS Pinata.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JEMBATAN ILMU: Dari Kopi Sangrai ke Jambu Kristal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Infografis komparasi kausalitas fisika yang menghubungkan PoC ke target primer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9 of 28</a:t>
            </a:r>
          </a:p>
        </p:txBody>
      </p:sp>
      <p:pic>
        <p:nvPicPr>
          <p:cNvPr id="4" name="Picture 3" descr="asset_4_coffee_to_guava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2895" cy="46633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Deep Dive Pipeline Langkah 1: EDA Distribusi Nilai Agtron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Analisis histogram nyata dataset penentu batas kelas pemanggangan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10 of 28</a:t>
            </a:r>
          </a:p>
        </p:txBody>
      </p:sp>
      <p:pic>
        <p:nvPicPr>
          <p:cNvPr id="4" name="Picture 3" descr="fig1_eda_agtron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760720" cy="3600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512064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Bedah Tuntas Distribusi Agtron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011680"/>
            <a:ext cx="484632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Fakta Dataset Asli:</a:t>
            </a:r>
            <a:br/>
            <a:r>
              <a:t>Dataset kopi AS7265x memiliki rentang nilai Agtron kontinu yang menyebar secara unimodal berpusat di sekitar angka 60.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Justifikasi Pembagian 3 Kelas:</a:t>
            </a:r>
            <a:br/>
            <a:r>
              <a:t>1. Dark Roast (Agtron &lt; 50): Sangrai gelap, melanoidin sangat pekat.</a:t>
            </a:r>
            <a:br/>
            <a:r>
              <a:t>2. Medium Roast (Agtron 50–70): Sangrai seimbang standar kafe.</a:t>
            </a:r>
            <a:br/>
            <a:r>
              <a:t>3. Light Roast (Agtron &gt; 70): Sangrai terang dominan asam.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Makna untuk BuahSafe:</a:t>
            </a:r>
            <a:br/>
            <a:r>
              <a:t>Sama seperti mengelompokkan Agtron, pada jambu kita membagi ambang batas tingkat kemanisan (Brix) atau tingkat kebusukan secara bertingkat.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Deep Dive Pipeline Langkah 2: EDA Profil Spektral 18 Kanal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kurva reflektansi berbeda antara Light, Medium, dan Dark Roast?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11 of 28</a:t>
            </a:r>
          </a:p>
        </p:txBody>
      </p:sp>
      <p:pic>
        <p:nvPicPr>
          <p:cNvPr id="4" name="Picture 3" descr="fig2_eda_spectr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330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9377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0" y="1463040"/>
            <a:ext cx="493776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Analisis Kausalitas Kurva Spektral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011680"/>
            <a:ext cx="466344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Zona Visible Light (410–680 nm):</a:t>
            </a:r>
            <a:br/>
            <a:r>
              <a:t>Kurva Dark Roast (hitam) memiliki intensitas pantulan paling terdepres (rendah) karena pigmen melanoidin menyerap hampir seluruh foton cahaya tampak.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Zona Red-Edge &amp; NIR (680–940 nm):</a:t>
            </a:r>
            <a:br/>
            <a:r>
              <a:t>Terjadi kenaikan pantulan tajam karena cahaya menembus matriks padatan berserat kopi.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Bukti Sinyal Optik:</a:t>
            </a:r>
            <a:br/>
            <a:r>
              <a:t>Perbedaan jarak antar kurva membuktikan sensor AS7265x berhasil membaca perubahan kimiawi di dalam sampel!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Deep Dive Pipeline Langkah 3: Matriks Korelasi Antarkanal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Analisis heatmap 18x18 menyingkap multikolinearitas antar panjang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12 of 28</a:t>
            </a:r>
          </a:p>
        </p:txBody>
      </p:sp>
      <p:pic>
        <p:nvPicPr>
          <p:cNvPr id="4" name="Picture 3" descr="fig3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45182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Bedah Tuntas Heatmap Korelasi Pearson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920240"/>
            <a:ext cx="51206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Multikolinearitas Tinggi di Blok Visible:</a:t>
            </a:r>
            <a:br/>
            <a:r>
              <a:t>Kanal 410 nm hingga 585 nm saling berkorelasi positif sangat kuat (warna kuning terang r &gt; 0.85). Artinya saat permukaan menjadi gelap, semua kanal warna turun bersamaan.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Pemisahan Sinyal di Blok NIR:</a:t>
            </a:r>
            <a:br/>
            <a:r>
              <a:t>Kanal inframerah dekat (810–940 nm) membentuk blok korelasi tersendiri yang berbeda dengan wilayah cahaya tampak.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Justifikasi Algoritma ML:</a:t>
            </a:r>
            <a:br/>
            <a:r>
              <a:t>Korelasi tinggi antar fitur menyebabkan model regresi sederhana mudah bias/stabil. Butuh algoritma tangguh seperti SVM RBF Kernel atau Random Forest!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Deep Dive Pipeline Langkah 4: Kausalitas Preprocessing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kita wajib melakukan StandardScaler sebelum melatih model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13 of 28</a:t>
            </a:r>
          </a:p>
        </p:txBody>
      </p:sp>
      <p:pic>
        <p:nvPicPr>
          <p:cNvPr id="4" name="Picture 3" descr="fig4_preprocessing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26746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9377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0" y="1463040"/>
            <a:ext cx="493776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Kausalitas Matematis StandardScaler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011680"/>
            <a:ext cx="466344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Masalah Dominasi Angka Mentah (Kiri):</a:t>
            </a:r>
            <a:br/>
            <a:r>
              <a:t>Pada pembacaan mentah, kanal 940 nm memiliki nilai puluhan ribu (~30.000), sedangkan kanal 410 nm hanya puluhan (~30). Model Pythagoras akan mengabaikan total kanal 410 nm!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Solusi Z-Score Scaling (Kanan):</a:t>
            </a:r>
            <a:br/>
            <a:r>
              <a:t>Rumus Z = (X - mean) / std menyetarakan semua 18 kanal ke mean=0 dan std=1.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Pencegahan Data Leakage:</a:t>
            </a:r>
            <a:br/>
            <a:r>
              <a:t>Scaling dihitung HANYA dari data Latih, lalu diterapkan ke data Uji.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Deep Dive Pipeline Langkah 5: Pembagian Dataset &amp; Validasi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kita menerapkan Stratified Split pada kopi dan GroupKFold pada jambu?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14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Stratified Train/Test Split (75% / 25%)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Pembagian Data Jujur: 75% data digunakan untuk latihan, 25% disembunyikan sebagai ujian akhir (Test Set).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Alasan Stratifikasi: Memastikan proporsi kelas Light, Medium, dan Dark seimbang persis antara data latih dan data uji agar evaluasi tidak bias ke kelas mayoritas.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Cross-Validation 3-Fold: Melakukan pengujian silang berulang di dalam data latih untuk mengukur kestabilan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Adaptasi Mandatori ke Jambu: GroupKFold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1206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Masalah Pemindaian Ulang Buah:</a:t>
            </a:r>
            <a:br/>
            <a:r>
              <a:t>Saat 1 buah jambu dipindai 3 kali (orientasi atas, tengah, bawah), jika dibagi acak biasa, scan 1 masuk latih dan scan 2 masuk uji.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Bahaya Kebocoran Data (Leakage):</a:t>
            </a:r>
            <a:br/>
            <a:r>
              <a:t>Model hanya menghafal warna kulit buah tersebut, menghasilkan akurasi palsu 99% tetapi hancur di lapangan!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Solusi GroupKFold berdasarkan fruit_id:</a:t>
            </a:r>
            <a:br/>
            <a:r>
              <a:t>Memastikan seluruh pemindaian dari 1 buah fisik berada di kelompok Latih semua atau Uji semua.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Evaluasi Model 1: Dummy Classifier (Baseline Pembanding)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Analisis Confusion Matrix model tebak buta sebagai tolok ukur batas bawah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15 of 28</a:t>
            </a:r>
          </a:p>
        </p:txBody>
      </p:sp>
      <p:pic>
        <p:nvPicPr>
          <p:cNvPr id="4" name="Picture 3" descr="fig5_cm_dum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03520" cy="40796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463040"/>
            <a:ext cx="5577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57784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Bedah Tuntas Confusion Matrix Dummy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011680"/>
            <a:ext cx="530352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Strategi Most Frequent:</a:t>
            </a:r>
            <a:br/>
            <a:r>
              <a:t>Model menebak seluruh sampel sebagai kelas mayoritas (Medium Roast) tanpa melihat pembacaan 18 kanal sensor sama sekali.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Akurasi Hancur (26.2%):</a:t>
            </a:r>
            <a:br/>
            <a:r>
              <a:t>Dari seluruh data uji, model keliru total memprediksi sampel Dark Roast dan Light Roast (angka nol di diagonal atas/bawah).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Makna Ilmiah:</a:t>
            </a:r>
            <a:br/>
            <a:r>
              <a:t>Angka 26.2% menjadi batas bawah (*floor baseline*). Jika model AI kita mendapatkan akurasi di atas ini, berarti sensor AS7265x terbukti membawa informasi valid!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Evaluasi Model 2: Logistic Regression (Model Linear)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model pemisah garis linear sederhana kesulitan membedakan kelas?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16 of 28</a:t>
            </a:r>
          </a:p>
        </p:txBody>
      </p:sp>
      <p:pic>
        <p:nvPicPr>
          <p:cNvPr id="4" name="Picture 3" descr="fig6_cm_lo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03520" cy="40796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463040"/>
            <a:ext cx="5577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5778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Bedah Tuntas Confusion Matrix Logistic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011680"/>
            <a:ext cx="530352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Akurasi Moderat (45.0%):</a:t>
            </a:r>
            <a:br/>
            <a:r>
              <a:t>Model berhasil melampaui baseline Dummy, membuktikan spektrum sensor bermanfaat.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Kebingungan Kelas (Class Confusion):</a:t>
            </a:r>
            <a:br/>
            <a:r>
              <a:t>Perhatikan angka salah di luar diagonal utama. Model linear kesulitan memisahkan batas antara Medium dan Dark karena fluktuasi intensitas spektral bersifat non-linear.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Kesimpulan Pipeline:</a:t>
            </a:r>
            <a:br/>
            <a:r>
              <a:t>Kita membutuhkan algoritma non-linear seperti Random Forest atau Support Vector Machine!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Evaluasi Model 3: Random Forest (Ensemble Decision Trees)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Melompat ke akurasi 67.5% dengan transparansi fitur (Explainable 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17 of 28</a:t>
            </a:r>
          </a:p>
        </p:txBody>
      </p:sp>
      <p:pic>
        <p:nvPicPr>
          <p:cNvPr id="4" name="Picture 3" descr="fig7_cm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03520" cy="40796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463040"/>
            <a:ext cx="5577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57784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Bedah Tuntas Confusion Matrix 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011680"/>
            <a:ext cx="530352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Lompatan Akurasi (67.5%):</a:t>
            </a:r>
            <a:br/>
            <a:r>
              <a:t>Dengan membangun gabungan 100 pohon keputusan, model berhasil memetakan pola non-linear interaksi 18 kanal sensor.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Prediksi Sempurna di Kelas Ekstrem:</a:t>
            </a:r>
            <a:br/>
            <a:r>
              <a:t>Perhatikan bahwa tidak ada satu pun sampel Dark Roast yang tertukar jauh menjadi Light Roast (nol kesalahan ekstrem)!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Keunggulan Transparansi:</a:t>
            </a:r>
            <a:br/>
            <a:r>
              <a:t>Random Forest memungkinkan kita menghitung *Permutation Importance* untuk audit ilmiah agronomis.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Evaluasi Model 4A: SVM Default RBF Kernel (Sebelum Tuning)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Analisis mengapa parameter default SVM stuck pada akurasi 50.0%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18 of 28</a:t>
            </a:r>
          </a:p>
        </p:txBody>
      </p:sp>
      <p:pic>
        <p:nvPicPr>
          <p:cNvPr id="4" name="Picture 3" descr="fig8_cm_svm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03520" cy="40796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463040"/>
            <a:ext cx="5577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57784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Bedah Tuntas SVM Parameter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011680"/>
            <a:ext cx="530352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Kegagalan Parameter Standar (C=1, gamma='scale'):</a:t>
            </a:r>
            <a:br/>
            <a:r>
              <a:t>Akurasi tertahan di angka 50.0%. Model cenderung ragu-ragu dan banyak menebak sampel ke kelas tengah (Medium).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Alasan Matematis:</a:t>
            </a:r>
            <a:br/>
            <a:r>
              <a:t>Kernel RBF default belum cukup ketat meregulasi batas antar kelas (*decision boundary*) pada ruang 18 dimensi spektral.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Urgensi Hyperparameter Tuning:</a:t>
            </a:r>
            <a:br/>
            <a:r>
              <a:t>Ini membuktikan bahwa model AI tidak boleh langsung dipakai tanpa proses tuning parameter spesifik!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Evaluasi Model 4B: SVM Tuned (Puncak Performa Optimal)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Melonjak ke akurasi 75.0% setelah kalibrasi parameter C=10 dan gamma=1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19 of 28</a:t>
            </a:r>
          </a:p>
        </p:txBody>
      </p:sp>
      <p:pic>
        <p:nvPicPr>
          <p:cNvPr id="4" name="Picture 3" descr="fig9_cm_svm_tu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03520" cy="40796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35040" y="1463040"/>
            <a:ext cx="5577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557784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Bedah Tuntas SVM Setelah Tuning (+25%!)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011680"/>
            <a:ext cx="530352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Puncak Akurasi Tertinggi (75.0%):</a:t>
            </a:r>
            <a:br/>
            <a:r>
              <a:t>Setelah dilatih melalui GridSearchCV (C=10, gamma=1), diagonal utama Confusion Matrix menjadi sangat pekat (tebakan benar mendominasi).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Pemisahan Kelas Superior:</a:t>
            </a:r>
            <a:br/>
            <a:r>
              <a:t>Model berhasil mengenali sidik jari spesifik pembentukan melanoidin pada Dark Roast dan pantulan tinggi pada Light Roast.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Pilihan Utama Eksekutor Pabrik:</a:t>
            </a:r>
            <a:br/>
            <a:r>
              <a:t>Inilah model terbaik yang direkomendasikan untuk ditanamkan pada mesin penyortir cepat di pabrik QC massal!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Rekapitulasi Komparasi Performa Seluruh Model Klasifikasi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Bar chart membuktikan lompatan akurasi masif +48.8% melampaui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20 of 28</a:t>
            </a:r>
          </a:p>
        </p:txBody>
      </p:sp>
      <p:pic>
        <p:nvPicPr>
          <p:cNvPr id="4" name="Picture 3" descr="fig10_model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852160" cy="33047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463040"/>
            <a:ext cx="50292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50292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Kesimpulan Pembuktian Konsep Klasifikasi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011680"/>
            <a:ext cx="475488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Lonjakan Masif +48.8% Akurasi:</a:t>
            </a:r>
            <a:br/>
            <a:r>
              <a:t>Dari Dummy (26.2%) menuju SVM Tuned (75.0%), kita membuktikan bahwa 18 kanal AS7265x memiliki kekuatan deteksi yang sangat valid.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Konsistensi Cross-Validation:</a:t>
            </a:r>
            <a:br/>
            <a:r>
              <a:t>Skor CV F1 Macro SVM Tuned (0.722) sangat dekat dengan Test F1 (0.746), membuktikan model bebas dari *Overfitting*.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Validasi Siap untuk Jambu:</a:t>
            </a:r>
            <a:br/>
            <a:r>
              <a:t>Arsitektur pemrosesan data spektral ini telah teruji sempurna untuk diterapkan pada data jambu kristal.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Evaluasi Model 5: Regresi Kontinu Nilai Agtron (Ridge)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Membuktikan kemampuan prediksi angka kontinu R² = 0.722 dengan eror rendah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21 of 28</a:t>
            </a:r>
          </a:p>
        </p:txBody>
      </p:sp>
      <p:pic>
        <p:nvPicPr>
          <p:cNvPr id="4" name="Picture 3" descr="fig11_regression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669280" cy="421146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21208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Analisis Prediksi Angka Kontinu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93776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Sebaran Titik Mendekati Garis Ideal:</a:t>
            </a:r>
            <a:br/>
            <a:r>
              <a:t>Titik-titik hijau mengikuti garis putus-putus merah, menghasilkan Koefisien Determinasi R² = 0.722.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Mean Absolute Error (MAE ~3.8):</a:t>
            </a:r>
            <a:br/>
            <a:r>
              <a:t>Eror prediksi rata-rata hanya terpaut ~3 angka Agtron, sangat presisi untuk pengganti spektrofotometer mahal.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Pemanfaatan Nyata di Kopi:</a:t>
            </a:r>
            <a:br/>
            <a:r>
              <a:t>Roaster kopi kini bisa menggunakan AS7265x murah untuk mengukur derajat sangrai secara kuantitatif persis!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Deep Dive Feature Selection 1: Benchmark Jumlah Kanal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Grafik membuktikan kejatuhan akurasi tajam saat menggunakan sensor 4 kanal murah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22 of 28</a:t>
            </a:r>
          </a:p>
        </p:txBody>
      </p:sp>
      <p:pic>
        <p:nvPicPr>
          <p:cNvPr id="4" name="Picture 3" descr="fig12_channe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852160" cy="33047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463040"/>
            <a:ext cx="50292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502920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Justifikasi Arsitektur Hardware BuahSafe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011680"/>
            <a:ext cx="475488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Jurang Kejatuhan (Accuracy Cliff):</a:t>
            </a:r>
            <a:br/>
            <a:r>
              <a:t>Saat kanal dipotong ke 4 kanal RGB/IR murah, F1-Score jatuh drastis dari 0.722 ke 0.519.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Kompleksitas Matriks Buah:</a:t>
            </a:r>
            <a:br/>
            <a:r>
              <a:t>Kerusakan internal buah diliputi oleh hamburan cahaya kulit. Butuh resolusi rapat 18 kanal untuk memisahkan gangguan kulit dengan cacat daging buah.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Keputusan Hardware Mutlak:</a:t>
            </a:r>
            <a:br/>
            <a:r>
              <a:t>Pemilihan sensor AS7265x oleh tim BuahSafe sangat ilmiah dan wajib dipertahankan!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Deep Dive Feature Selection 2: ANOVA vs Permutation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Grafik membuktikan konsistensi kanal 940 nm (NIR) sebagai detektor air terkuat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23 of 28</a:t>
            </a:r>
          </a:p>
        </p:txBody>
      </p:sp>
      <p:pic>
        <p:nvPicPr>
          <p:cNvPr id="4" name="Picture 3" descr="fig1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28529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463040"/>
            <a:ext cx="49377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0" y="1463040"/>
            <a:ext cx="493776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Dominasi Absolut Kanal 940 nm (NIR)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011680"/>
            <a:ext cx="4663440" cy="404164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Titik Temu Ilmiah:</a:t>
            </a:r>
            <a:br/>
            <a:r>
              <a:t>Baik metode univariat linear (ANOVA) maupun multivariat pohon (Permutation) sepakat menempatkan 940 nm sebagai fitur paling krusial.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Fisika Molekuler Air (O-H):</a:t>
            </a:r>
            <a:br/>
            <a:r>
              <a:t>Panjang gelombang 940 nm adalah frekuensi getaran serapan utama ikatan hidrogen air.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Kausalitas Jambu Kristal:</a:t>
            </a:r>
            <a:br/>
            <a:r>
              <a:t>Buah berulat/busuk memiliki akumulasi air di rongga dalam, langsung terdeteksi di 940 nm!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Trade-Off Strategis: Akurasi Tinggi vs Explainability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Panduan memilih model AI sesuai tahapan operasional dan kebutuhan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24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SVM RBF Kernel: Sang Eksekutor Pabrik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Keunggulan: Akurasi tertinggi (75.0%) dalam memisahkan kelas yang tumpang tindih secara presisi.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Sifat Black-Box: Memetakan data ke ruang multi-dimensi abstrak sehingga sulit dijelaskan rumus visualnya kepada non-teknis.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Penggunaan Ideal: Ditanamkan pada mesin penyortir konveyor berkecepatan tinggi di pabrik kemasan akhir.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Random Forest: Sang Analis Transparan R&amp;D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1206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Keunggulan: Transparansi tinggi (*Explainable AI*); menyediakan urutan pentingnya fitur untuk pembuktian ilmiah.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Akurasi: Sangat kompetitif (67.5%), bebas kesalahan tebakan ekstrem.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Penggunaan Ideal: Digunakan tim R&amp;D agronomis untuk mengaudit sensor dan menjelaskan kausalitas kepada investor.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Desain Adaptasi ke Dataset Primer Jambu Kristal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Standar metadata pemindai dan protokol pengujian sampel buah asli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25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Struktur Kolom Metadata BuahSafe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Identitas: fruit_id (ID unik buah) &amp; scan_id (nomor ulangan orientasi pemindai).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Pembacaan Sensor: 18 kolom intensitas 410 nm hingga 940 nm.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Lingkungan: Suhu &amp; kelembapan chamber saat pemindaian.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Audit Destruktif (Ground Truth): Kadar kemanisan (Brix), keberadaan larva lalat buah, rongga internal, dan persentase browning.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Penerapan GroupKFold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1206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Mencegah Data Leakage:</a:t>
            </a:r>
            <a:br/>
            <a:r>
              <a:t>Memastikan 3 kali scan dari 1 buah yang sama tidak terpecah antara kelompok Latih dan Uji.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Evaluasi Realistik:</a:t>
            </a:r>
            <a:br/>
            <a:r>
              <a:t>Menjamin akurasi model yang dilaporkan adalah kemampuan nyata sistem saat memilah buah baru yang belum pernah dilihat sebelumnya di gudang mitra.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Matriks Manajemen Risiko Bisnis Quality Control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mencegah buah rusak lolos (False Negative) adalah prioritas mutlak?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26 of 28</a:t>
            </a:r>
          </a:p>
        </p:txBody>
      </p:sp>
      <p:pic>
        <p:nvPicPr>
          <p:cNvPr id="4" name="Picture 3" descr="asset_8_ris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62895" cy="51814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Rangkuman Eksekutif 15 Pertanyaan Refleksi Tim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Menyamakan visi antara data scientist, agronomis, dan manajemen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27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Teknis &amp; Performa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Q1: Menang dari Dummy? Ya telak (75% vs 26%). Sinyal spektral valid.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Q2: Paling Stabil? SVM Tuned &amp; RF konsisten antara CV dan Test.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Q3: Tertinggi = Explainable? Tidak. SVM akurat, RF transparan.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Q4: Sering Tertukar? Kelas berbatasan (borderline awal cacat).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Q5: Tuning Berguna? Sangat drastis (+25% pada SVM).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Arsitektur &amp; Kausalitas Fisika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Q6: 4 Kanal Cukup? Tidak (F1 jatuh ke 0.51). 18 kanal mutlak.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Q7-8: Kanal Penting? ANOVA pilih Merah; Permutation pilih NIR 940 nm.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Q9: Hasil Serupa? Sepakat di NIR 940 nm penyerapan air.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Q10: Pakai Model Kopi? Tidak boleh, beda matriks biologi.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Q11: Kenapa fruit_id? Mencegah Data Leakage via GroupKFold.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Strategi Bisnis &amp; QC Lapangan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Q12: Lebih Bahaya Mana? Buah rusak lolos fatal bagi reputasi.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Q13: Metrik Prioritas? Recall kelas Rusak (&gt;95%) &amp; F1-Score.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Q14: Data Primer Tambahan? Suhu chamber, posisi, &amp; audit Brix/larva.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Q15: Jika Performa Rendah? Perbaiki kedapan chamber, SNV scaling, &amp; label bertingkat.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Peta Jalan Eksekusi Lapangan (Roadmap BuahSafe)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Tahapan aksi konkrit menuju implementasi perangkat keras sortasi massal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Deep Dive Pipeline Walkthrough Study   |   Slide 28 of 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Fase 1: Standarisasi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Isolasi Chamber: Memastikan kotak pemindaian kedap 100% dari cahaya luar.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Kalibrasi Jarak Sensor: Menetapkan jarak statis antara sensor AS7265x dan permukaan buah jambu kristal.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Stabilitas LED: Menguji kestabilan intensitas lampu pemancar pada berbagai suhu ruangan.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Fase 2: Pengumpulan Data Primer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Protokol Scan: Memindai min. 500 buah jambu dengan 3 ulangan orientasi (tangkai, tengah, bawah).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Audit Destruktif Ketat: Membelah buah pasca-scan untuk mencatat ground truth (larva, browning, Brix).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Metadata Lengkap: Mencatat fruit_id dan kondisi lingkungan chamber.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Fase 3: Deployment &amp; Optimasi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Retraining Pipeline: Latih ulang model SVM &amp; RF menggunakan GroupKFold pada data primer.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Kalibrasi Threshold QC: Geser decision boundary demi mencapai Recall &gt; 95% pada kelas Rusak.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Uji Coba Lapangan (Pilot): Implementasi prototipe di gudang mitra penyortir buah.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