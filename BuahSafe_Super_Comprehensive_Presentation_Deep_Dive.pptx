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4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457200" rtlCol="0" anchor="ctr"/>
          <a:lstStyle/>
          <a:p>
            <a:pPr algn="ctr">
              <a:defRPr sz="2400" b="1">
                <a:solidFill>
                  <a:srgbClr val="104E3B"/>
                </a:solidFill>
                <a:latin typeface="Arial"/>
              </a:defRPr>
            </a:pPr>
            <a:r>
              <a:rPr dirty="0"/>
              <a:t>BUAHSAFE: DEEP DIVE PIPELINE &amp; MASTER WALKTHROUGH</a:t>
            </a:r>
          </a:p>
          <a:p>
            <a:pPr>
              <a:spcBef>
                <a:spcPts val="1200"/>
              </a:spcBef>
              <a:defRPr sz="1550" b="1">
                <a:solidFill>
                  <a:srgbClr val="D97706"/>
                </a:solidFill>
                <a:latin typeface="Arial"/>
              </a:defRPr>
            </a:pPr>
            <a:r>
              <a:rPr dirty="0"/>
              <a:t>Panduan </a:t>
            </a:r>
            <a:r>
              <a:rPr dirty="0" err="1"/>
              <a:t>Ekstensif</a:t>
            </a:r>
            <a:r>
              <a:rPr dirty="0"/>
              <a:t> 36 Slide </a:t>
            </a:r>
            <a:r>
              <a:rPr dirty="0" err="1"/>
              <a:t>Membedah</a:t>
            </a:r>
            <a:r>
              <a:rPr dirty="0"/>
              <a:t> </a:t>
            </a:r>
            <a:r>
              <a:rPr dirty="0" err="1"/>
              <a:t>Tuntas</a:t>
            </a:r>
            <a:r>
              <a:rPr dirty="0"/>
              <a:t> First Principles, Teori </a:t>
            </a:r>
            <a:r>
              <a:rPr dirty="0" err="1"/>
              <a:t>Statistik</a:t>
            </a:r>
            <a:r>
              <a:rPr dirty="0"/>
              <a:t> &amp; </a:t>
            </a:r>
            <a:r>
              <a:rPr dirty="0" err="1"/>
              <a:t>Algoritma</a:t>
            </a:r>
            <a:r>
              <a:rPr dirty="0"/>
              <a:t>,</a:t>
            </a:r>
            <a:br>
              <a:rPr dirty="0"/>
            </a:br>
            <a:r>
              <a:rPr dirty="0"/>
              <a:t>EDA, </a:t>
            </a:r>
            <a:r>
              <a:rPr dirty="0" err="1"/>
              <a:t>Matriks</a:t>
            </a:r>
            <a:r>
              <a:rPr dirty="0"/>
              <a:t> </a:t>
            </a:r>
            <a:r>
              <a:rPr dirty="0" err="1"/>
              <a:t>Korelasi</a:t>
            </a:r>
            <a:r>
              <a:rPr dirty="0"/>
              <a:t>, Preprocessing, </a:t>
            </a:r>
            <a:r>
              <a:rPr dirty="0" err="1"/>
              <a:t>hingga</a:t>
            </a:r>
            <a:r>
              <a:rPr dirty="0"/>
              <a:t> </a:t>
            </a:r>
            <a:r>
              <a:rPr dirty="0" err="1"/>
              <a:t>Evaluasi</a:t>
            </a:r>
            <a:r>
              <a:rPr dirty="0"/>
              <a:t> </a:t>
            </a:r>
            <a:r>
              <a:rPr dirty="0" err="1"/>
              <a:t>Komprehensif</a:t>
            </a:r>
            <a:r>
              <a:rPr dirty="0"/>
              <a:t> </a:t>
            </a:r>
            <a:r>
              <a:rPr dirty="0" err="1"/>
              <a:t>Seluruh</a:t>
            </a:r>
            <a:r>
              <a:rPr dirty="0"/>
              <a:t> Model</a:t>
            </a:r>
          </a:p>
          <a:p>
            <a:pPr>
              <a:spcBef>
                <a:spcPts val="14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rPr dirty="0" err="1"/>
              <a:t>Dilengkapi</a:t>
            </a:r>
            <a:r>
              <a:rPr dirty="0"/>
              <a:t> </a:t>
            </a:r>
            <a:r>
              <a:rPr dirty="0" err="1"/>
              <a:t>Landasan</a:t>
            </a:r>
            <a:r>
              <a:rPr dirty="0"/>
              <a:t> Teori </a:t>
            </a:r>
            <a:r>
              <a:rPr dirty="0" err="1"/>
              <a:t>Metrik</a:t>
            </a:r>
            <a:r>
              <a:rPr dirty="0"/>
              <a:t> (Recall vs Accuracy), </a:t>
            </a:r>
            <a:r>
              <a:rPr dirty="0" err="1"/>
              <a:t>Kausalitas</a:t>
            </a:r>
            <a:r>
              <a:rPr dirty="0"/>
              <a:t> </a:t>
            </a:r>
            <a:r>
              <a:rPr dirty="0" err="1"/>
              <a:t>Pembagian</a:t>
            </a:r>
            <a:r>
              <a:rPr dirty="0"/>
              <a:t> Dataset,</a:t>
            </a:r>
            <a:br>
              <a:rPr dirty="0"/>
            </a:br>
            <a:r>
              <a:rPr dirty="0" err="1"/>
              <a:t>Analisis</a:t>
            </a:r>
            <a:r>
              <a:rPr dirty="0"/>
              <a:t> ANOVA vs Permutation, </a:t>
            </a:r>
            <a:r>
              <a:rPr dirty="0" err="1"/>
              <a:t>serta</a:t>
            </a:r>
            <a:r>
              <a:rPr dirty="0"/>
              <a:t> </a:t>
            </a:r>
            <a:r>
              <a:rPr dirty="0" err="1"/>
              <a:t>Bedah</a:t>
            </a:r>
            <a:r>
              <a:rPr dirty="0"/>
              <a:t> </a:t>
            </a:r>
            <a:r>
              <a:rPr dirty="0" err="1"/>
              <a:t>Tuntas</a:t>
            </a:r>
            <a:r>
              <a:rPr dirty="0"/>
              <a:t> 15 </a:t>
            </a:r>
            <a:r>
              <a:rPr dirty="0" err="1"/>
              <a:t>Pertanyaan</a:t>
            </a:r>
            <a:r>
              <a:rPr dirty="0"/>
              <a:t> </a:t>
            </a:r>
            <a:r>
              <a:rPr dirty="0" err="1"/>
              <a:t>Refleksi</a:t>
            </a:r>
            <a:r>
              <a:rPr dirty="0"/>
              <a:t> Tim.</a:t>
            </a:r>
          </a:p>
          <a:p>
            <a:pPr>
              <a:spcBef>
                <a:spcPts val="2000"/>
              </a:spcBef>
              <a:defRPr sz="1200" i="1">
                <a:solidFill>
                  <a:srgbClr val="059669"/>
                </a:solidFill>
                <a:latin typeface="Arial"/>
              </a:defRPr>
            </a:pPr>
            <a:r>
              <a:rPr dirty="0" err="1"/>
              <a:t>Disusun</a:t>
            </a:r>
            <a:r>
              <a:rPr dirty="0"/>
              <a:t> </a:t>
            </a:r>
            <a:r>
              <a:rPr dirty="0" err="1"/>
              <a:t>secara</a:t>
            </a:r>
            <a:r>
              <a:rPr dirty="0"/>
              <a:t> </a:t>
            </a:r>
            <a:r>
              <a:rPr dirty="0" err="1"/>
              <a:t>Presisi</a:t>
            </a:r>
            <a:r>
              <a:rPr dirty="0"/>
              <a:t> </a:t>
            </a:r>
            <a:r>
              <a:rPr dirty="0" err="1"/>
              <a:t>Menggunakan</a:t>
            </a:r>
            <a:r>
              <a:rPr dirty="0"/>
              <a:t> </a:t>
            </a:r>
            <a:r>
              <a:rPr dirty="0" err="1"/>
              <a:t>Grafik</a:t>
            </a:r>
            <a:r>
              <a:rPr dirty="0"/>
              <a:t> </a:t>
            </a:r>
            <a:r>
              <a:rPr dirty="0" err="1"/>
              <a:t>Otentik</a:t>
            </a:r>
            <a:r>
              <a:rPr dirty="0"/>
              <a:t> Notebook </a:t>
            </a:r>
            <a:r>
              <a:rPr dirty="0" err="1"/>
              <a:t>Tanpa</a:t>
            </a:r>
            <a:r>
              <a:rPr dirty="0"/>
              <a:t> Overlap </a:t>
            </a:r>
            <a:r>
              <a:rPr dirty="0" err="1"/>
              <a:t>atau</a:t>
            </a:r>
            <a:r>
              <a:rPr dirty="0"/>
              <a:t> </a:t>
            </a:r>
            <a:r>
              <a:rPr dirty="0" err="1"/>
              <a:t>Redundansi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Kamus Istilah Bagian 1: Fisika &amp; Spektroskopi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Penjelasan harfiah bahasa manusia untuk memahami interaksi cahaya dengan materi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Spektroskopi &amp; Cahaya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Spektroskopi: Ilmu fisika tentang bagaimana cahaya berinteraksi dengan materi biologis.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Foton: Partikel/paket energi terkecil penyusun cahaya.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Nanometer (nm): Satuan ukuran panjang gelombang cahaya (1 nm = sepermiliar meter).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Visible Light (400-700 nm): Cahaya yang tampak oleh mata manusia (Merah, Kuning, Hijau, Biru).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NIR &amp; Red-Edge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Near-Infrared / NIR (700-1100 nm): Inframerah dekat yang tidak terlihat mata, tetapi mampu menembus ke dalam jaringan daging buah.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Red-Edge (680-730 nm): Daerah transisi antara merah dan NIR penentu stres sel tumbuhan.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Sensor AS7265x: Spektrometer miniatur 18 kanal pembaca cahaya 410-940 nm.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Reflektansi &amp; Hamburan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Reflektansi: Persentase cahaya pantul dibanding cahaya total lampu LED.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Absorpsi (Penyerapan): Cahaya diserap oleh molekul air/pigmen dan hilang menjadi energi.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Refleksi Spekular: Pantulan silau cermin di kulit luar.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Hamburan Difus: Cahaya menembus masuk, memantul di dalam daging buah, lalu keluar membawa info cacat internal!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Kamus Istilah Bagian 2: Biologi, Kimia, &amp; Kopi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Penjelasan konsep kimiawi pada kopi sangrai dan biologi pada buah jambu kristal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Kimiawi Kopi Sangrai (Dataset PoC)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Agtron Value: Skala numerik standar internasional (0-100) industri kopi untuk mengukur derajat sangrai menggunakan alat khusus Agtron. Angka tinggi (&gt;70) = sangrai muda (Light); Angka rendah (&lt;50) = gelap (Dark).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Reaksi Maillard: Reaksi kimiawi antara asam amino dan gula pereduksi akibat panas pemanggangan.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Melanoidin: Senyawa pigmen cokelat gelap yang terbentuk dari Reaksi Maillard saat kopi disangrai.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Kadar Air Kopi: Biji mentah punya air ~12%, saat disangrai matang menguap hilang menyisakan &lt;3%.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Biologi Jambu Kristal (Dataset Primer)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Klorofil: Pigmen hijau alami pada kulit jambu kristal segar.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Ikatan Hidrogen Air (O-H): Ikatan kimiawi molekul air di dalam daging buah yang menyerap kuat foton cahaya NIR pada gelombang 940 nm.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Oksidasi Fenolik (Browning): Pembusukan daging buah menjadi kecokelatan saat sel rusak terkena udara.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Larva Lalat Buah (Bactrocera): Ulat hama yang bertelur lewat lubang jarum mikroskopis; kulit luar mulus, bagian tengah hancur berulat.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Kamus Istilah Bagian 3: Machine Learning &amp; Statistik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Istilah pemodelan AI yang diterjemahkan ke bahasa sehari-hari yang mudah dipahami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4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Dasar Algoritma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Fitur (X): 18 kolom angka dari sensor AS7265x (indra mata model).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Label/Target (y): Jawaban benar yang ingin ditebak model (kategori sangrai / status busuk).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Klasifikasi: Memilah ke dalam kelas tegas (Normal vs Rusak).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Regresi: Menebak angka numerik kontinu tepat (misal Agtron 58.4).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Data Latih vs Uji: Soal latihan vs soal ujian akhir.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Evaluasi &amp; Validasi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Overfitting: Penyakit model 'menghafal mati' soal latihan (100%), tapi hancur saat menemui buah baru.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Cross-Validation (CV): Ujian berulang dengan membagi data agar yakin akurasi model konsisten.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GroupKFold: Mengelompokkan semua scan ulang dari 1 buah fisik yang sama agar tidak dipisah latih/uji (mencegah manipulasi akurasi).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Confusion Matrix: Tabel rincian tebakan benar dan salah.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Metrik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False Negative (FN): Bahaya fatal buah rusak keliru ditebak normal.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False Positive (FP): Buah sehat keliru ditebak rusak.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StandardScaler: Rumus menyetarakan skala agar angka ribuan tidak menindas angka puluhan.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Permutation Importance: Menguji vitalitas kolom dengan mengacak angkanya; jika akurasi hancur, kolom itu vital.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Latar Belakang &amp; Masalah Bisnis Quality Control Jambu Kristal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cara sortasi manual tradisional gagal dan membahayakan bisnis buah premium?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5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1. Kelemahan Sortasi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Subjektivitas Tinggi: Penilaian visual &amp; ketukan jari sangat bergantung pada mood/pengalaman pekerja.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Kelelahan Manusia: Mata pekerja mengalami penurunan fokus setelah jam kerja panjang, memicu human error.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Inkonsistensi Standar: Kualitas pengiriman antar-batch ke supermarket tidak pernah stabil seragam.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2. Ancaman Cacat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Serangan Lalat Buah: Betina menaruh telur lewat lubang mikroskopis pada kulit luar yang normal.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Luar Mulus, Dalam Busuk: Secara visual luar buah tampak sempurna mulus, tetapi daging tengahnya hancur berulat.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Kegagalan Kamera RGB: Kamera biasa atau mata manusia tidak mampu menembus ke bawah kulit buah.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3. Risiko Finansial &amp; Reputasi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Komplain Fatal Konsumen: Pembeli menemukan ulat di buah bermerek BuahSafe -&gt; kepercayaan hancur.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Putus Kontrak Supermarket: Manajemen ritel modern dapat memutus pasokan permanen akibat cacat mutu.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Biaya False Negative Tinggi: Meloloskan buah rusak jauh lebih merugikan daripada menolak buah sehat.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First Principles Spektroskopi &amp; Hamburan Difus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Ilustrasi visual bagaimana foton NIR menembus ke bawah kulit buah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6 of 36</a:t>
            </a:r>
          </a:p>
        </p:txBody>
      </p:sp>
      <p:pic>
        <p:nvPicPr>
          <p:cNvPr id="4" name="Picture 3" descr="asset_1_subsurface_scat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943600" cy="368503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371600"/>
            <a:ext cx="49377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49377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Analisis Kausalitas Fisika NDT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920240"/>
            <a:ext cx="46634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1. Absorpsi (Penyerapan Molekuler):</a:t>
            </a:r>
            <a:br/>
            <a:r>
              <a:t>Foton diserap oleh ikatan kimia spesifik (O-H pada air, C-H pada gula, klorofil) untuk menggetarkan molekul.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2. Refleksi Spekular (Pantulan Permukaan):</a:t>
            </a:r>
            <a:br/>
            <a:r>
              <a:t>Cahaya memantul langsung di permukaan lilin kulit luar seperti cermin (tidak membawa informasi internal).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3. Hamburan Difus (Sub-Surface Scattering):</a:t>
            </a:r>
            <a:br/>
            <a:r>
              <a:t>Cahaya menembus masuk ke jaringan bawah kulit, memantul berulang kali di antara dinding sel daging buah, lalu keluar kembali membawa 'rekam sidik jari' struktur internal menuju sensor!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Alur Kausalitas Fisika - Kimia - Biologi Kerusakan Buah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Penjelasan komprehensif tanpa redundansi mengenai rantai kejadian dari hama ke sensor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7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56032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1. Sebab Biologi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22860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Penetrasi Hama:</a:t>
            </a:r>
            <a:br/>
            <a:r>
              <a:t>Lalat buah betina (Bactrocera) menusukkan ovipositor ke bawah kulit buah jambu yang masih muda.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Perkembangan Larva:</a:t>
            </a:r>
            <a:br/>
            <a:r>
              <a:t>Telur menetas menjadi larva/ulat yang mulai memakan jaringan daging buah dari dalam menuju ke rongga tengah.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Infeksi Sekunder:</a:t>
            </a:r>
            <a:br/>
            <a:r>
              <a:t>Luka gigitan ulat memicu datangnya mikroorganisme dan jamur pembusuk jaringan.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37160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64992" y="1371600"/>
            <a:ext cx="25603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2. Sebab Kimiawi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2152" y="1920240"/>
            <a:ext cx="22860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Degradasi Seluler:</a:t>
            </a:r>
            <a:br/>
            <a:r>
              <a:t>Dinding sel daging buah (pektin &amp; selulosa) hancur dan lisis akibat aktivitas enzimatis larva.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Akumulasi Cairan:</a:t>
            </a:r>
            <a:br/>
            <a:r>
              <a:t>Sel yang hancur melepaskan kandungan air berlebih ke dalam rongga busuk, meningkatkan ikatan hidrogen (O-H).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Oksidasi Fenolik:</a:t>
            </a:r>
            <a:br/>
            <a:r>
              <a:t>Terjadi reaksi browning mengubah warna daging buah menjadi cokelat pekat.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37160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81344" y="1371600"/>
            <a:ext cx="25603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3. Penyerapan Foton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920240"/>
            <a:ext cx="22860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Interaksi Spektral:</a:t>
            </a:r>
            <a:br/>
            <a:r>
              <a:t>Cahaya NIR dari LED memancar ke buah dan menembus hingga kedalaman beberapa milimeter.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Resonansi Ikatan O-H:</a:t>
            </a:r>
            <a:br/>
            <a:r>
              <a:t>Panjang gelombang 940 nm adalah frekuensi resonansi alami molekul air.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Absorpsi Rakus:</a:t>
            </a:r>
            <a:br/>
            <a:r>
              <a:t>Akumulasi air di rongga ulat menyerap foton 940 nm dalam jumlah sangat masif dibanding buah sehat kering.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37160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997696" y="1371600"/>
            <a:ext cx="25603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4. Sinyal Sensor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6" y="1920240"/>
            <a:ext cx="22860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Pantulan Difus Turun:</a:t>
            </a:r>
            <a:br/>
            <a:r>
              <a:t>Karena sebagian besar foton 940 nm telah diserap oleh air di rongga ulat, jumlah foton difus yang berhasil keluar turun drastis.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Pembacaan Sensor:</a:t>
            </a:r>
            <a:br/>
            <a:r>
              <a:t>Kanal 18 (940 nm) pada AS7265x mencatat penurunan intensitas pantulan secara signifikan.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Algoritma AI:</a:t>
            </a:r>
            <a:br/>
            <a:r>
              <a:t>Model mendeteksi anomali penurunan NIR ini sebagai tanda mutlak buah rusak!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STUDI VALIDASI: Mengapa Pakai Kopi &amp; Ukur Agtron?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Membuktikan pemanfaatan nyata di industri kopi sebelum dihubungkan ke jambu kristal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8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Manfaat Nyata Jika Diterapkan di Dunia Kopi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Masalah Roaster Kopi: Alat standar pengukur derajat sangrai (Agtron Spectrophotometer) harganya ratusan juta rupiah.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Inovasi AS7265x: Kita membuktikan sensor miniatur 18-kanal murah mampu memprediksi kelas sangrai (akurasi 75%) &amp; menebak angka Agtron (regresi) secara presisi!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Kausalitas Fisika Kopi: Panas sangrai menguapkan air sampai habis (&lt;3%) dan memicu Reaksi Maillard membentuk pigmen gelap Melanoidin.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Kesimpulan Kopi: Hardware &amp; pipeline ML kita terbukti bernilai komersial nyata sebagai alat kontrol mutu sangrai non-destruktif murah!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Tujuan Proof of Concept (PoC) bagi BuahSafe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Validasi Arsitektur Software: Sebelum chamber primer selesai dirakit, kita wajib memvalidasi alur kerja pengolahan data sensor AS7265x.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Uji End-to-End Pipeline: Membuktikan dari data mentah sensor dapat dibangun model klasifikasi, tuning, feature selection, dan regresi.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Inovasi Rekayasa Data: Normalisasi otomatis nama file &amp; resolusi blokir HTTP (403 Forbidden) saat mengunduh data dari IPFS Pinata.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JEMBATAN ILMU: Dari Kopi Sangrai ke Jambu Kristal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Infografis komparasi kausalitas fisika yang menghubungkan PoC ke target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9 of 36</a:t>
            </a:r>
          </a:p>
        </p:txBody>
      </p:sp>
      <p:pic>
        <p:nvPicPr>
          <p:cNvPr id="4" name="Picture 3" descr="asset_4_coffee_to_guava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2895" cy="46633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Langkah 1: EDA Distribusi Nilai Agtron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histogram nyata dataset penentu batas kelas pemanggangan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10 of 36</a:t>
            </a:r>
          </a:p>
        </p:txBody>
      </p:sp>
      <p:pic>
        <p:nvPicPr>
          <p:cNvPr id="4" name="Picture 3" descr="fig1_eda_agtron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76072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92240" y="1463040"/>
            <a:ext cx="512064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Distribusi Agtron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8463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Fakta Dataset Asli:</a:t>
            </a:r>
            <a:br/>
            <a:r>
              <a:t>Dataset kopi AS7265x memiliki rentang nilai Agtron kontinu yang menyebar secara unimodal berpusat di sekitar angka 60.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Justifikasi Pembagian 3 Kelas:</a:t>
            </a:r>
            <a:br/>
            <a:r>
              <a:t>1. Dark Roast (Agtron &lt; 50): Sangrai gelap, melanoidin sangat pekat.</a:t>
            </a:r>
            <a:br/>
            <a:r>
              <a:t>2. Medium Roast (Agtron 50–70): Sangrai seimbang standar kafe.</a:t>
            </a:r>
            <a:br/>
            <a:r>
              <a:t>3. Light Roast (Agtron &gt; 70): Sangrai terang dominan asam.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Makna untuk BuahSafe:</a:t>
            </a:r>
            <a:br/>
            <a:r>
              <a:t>Sama seperti mengelompokkan Agtron, pada jambu kita membagi ambang batas tingkat kemanisan (Brix) atau tingkat kebusukan secara bertingkat.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Langkah 2: EDA Profil Spektral 18 Kanal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ada perbedaan pantulan cahaya dan apa arti celah antar gelombang?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11 of 36</a:t>
            </a:r>
          </a:p>
        </p:txBody>
      </p:sp>
      <p:pic>
        <p:nvPicPr>
          <p:cNvPr id="4" name="Picture 3" descr="fig2_eda_spectral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852160" cy="320328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463040"/>
            <a:ext cx="50292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0" y="1463040"/>
            <a:ext cx="502920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Analisis Kausalitas &amp; Fisika Filter Spektral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2011680"/>
            <a:ext cx="475488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Serapan Melanoidin di Zona Visible (410–680 nm):</a:t>
            </a:r>
            <a:br/>
            <a:r>
              <a:t>Kurva Dark Roast (hitam) berada paling bawah karena pigmen melanoidin menyerap hampir seluruh foton cahaya tampak.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Menjawab Celah Spektral (Blindspot 730–760 nm):</a:t>
            </a:r>
            <a:br/>
            <a:r>
              <a:t>Sensor AS7265x adalah spektrometer multi-kanal diskrit berfilter Fabry-Pérot dengan bandwidth FWHM ~20 nm per kanal. Di antara kanal (misal antara 730 nm ke 760 nm), terdapat celah optik alami ~30 nm. Ini bukan kecacatan, melainkan karakteristik standar sensor filter diskrit yang tetap akurat menangkap tren kurva!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Landasan Teori Statistik: Apa itu Korelasi Pearson (r)?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Memahami konsep matematika korelasi sebelum menginterpretasikan matriks antarkanal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12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Definisi &amp; Konsep Korelasi Pearson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Pengertian:</a:t>
            </a:r>
            <a:br/>
            <a:r>
              <a:t>Korelasi Pearson (r) adalah ukuran statistik rasio matematis yang mengukur kekuatan dan arah hubungan linear antara variabel satu (Kanal A) dengan variabel kedua (Kanal B).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Rentang Nilai (-1.0 hingga +1.0):</a:t>
            </a:r>
            <a:br/>
            <a:r>
              <a:t>1. r = +1.0 (Korelasi Positif Sempurna): Jika Kanal A naik, Kanal B pasti naik dengan proporsi yang sama.</a:t>
            </a:r>
            <a:br/>
            <a:r>
              <a:t>2. r = 0.0: Tidak ada hubungan linear sama sekali.</a:t>
            </a:r>
            <a:br/>
            <a:r>
              <a:t>3. r = -1.0 (Korelasi Negatif): Jika Kanal A naik, Kanal B justru turun.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Mengapa Korelasi Penting dalam NDT Spektral?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Multikolinearitas:</a:t>
            </a:r>
            <a:br/>
            <a:r>
              <a:t>Jika dua kanal warna memiliki r &gt; 0.90 (misal 410 nm dan 435 nm), keduanya memberikan informasi yang hampir duplikat/serupa.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Dampak pada Model Linear:</a:t>
            </a:r>
            <a:br/>
            <a:r>
              <a:t>Model regresi sederhana (seperti OLS) akan bingung dan tidak stabil jika diberi 18 fitur yang saling berkorelasi tinggi.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Solusi Algoritma:</a:t>
            </a:r>
            <a:br/>
            <a:r>
              <a:t>Inilah alasan mengapa kita membutuhkan model berbasis kernel (SVM) atau pohon keputusan (Random Forest) yang kebal terhadap multikolinearitas!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Langkah 3: Matriks Korelasi Antarkanal 18x18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Bedah tuntas heatmap kolinearitas panjang gelombang dataset AS7265x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13 of 36</a:t>
            </a:r>
          </a:p>
        </p:txBody>
      </p:sp>
      <p:pic>
        <p:nvPicPr>
          <p:cNvPr id="4" name="Picture 3" descr="fig3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486400" cy="45182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Heatmap Korelasi Pearson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Blok Korelasi Tinggi di Visible Light (410–585 nm):</a:t>
            </a:r>
            <a:br/>
            <a:r>
              <a:t>Warna kuning terang (r &gt; 0.85) menunjukkan seluruh kanal cahaya tampak naik-turun bersamaan seiring menggelapnya permukaan kopi.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Pemisahan Sinyal di Blok NIR (810–940 nm):</a:t>
            </a:r>
            <a:br/>
            <a:r>
              <a:t>Perhatikan kotak hijau/biru di sudut kanan bawah. Kanal inframerah dekat membentuk klaster tersendiri yang tidak berkorelasi sempurna dengan cahaya tampak.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Makna untuk BuahSafe:</a:t>
            </a:r>
            <a:br/>
            <a:r>
              <a:t>NIR membawa informasi fisik/kimiawi internal yang independen dari warna kulit luar buah!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Langkah 4: Kausalitas Preprocessing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kita wajib melakukan StandardScaler sebelum melatih model AI?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14 of 36</a:t>
            </a:r>
          </a:p>
        </p:txBody>
      </p:sp>
      <p:pic>
        <p:nvPicPr>
          <p:cNvPr id="4" name="Picture 3" descr="fig4_preprocessing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943600" cy="26746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9377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Kausalitas Matematis StandardScaler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11680"/>
            <a:ext cx="466344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Masalah Dominasi Angka Mentah (Kiri):</a:t>
            </a:r>
            <a:br/>
            <a:r>
              <a:t>Pada pembacaan mentah, kanal 940 nm memiliki nilai puluhan ribu (~30.000), sedangkan kanal 410 nm hanya puluhan (~30). Model jarak akan mengabaikan total kanal 410 nm!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Solusi Z-Score Scaling (Kanan):</a:t>
            </a:r>
            <a:br/>
            <a:r>
              <a:t>Rumus Z = (X - mean) / std menyetarakan semua 18 kanal ke mean=0 dan std=1.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Pencegahan Data Leakage:</a:t>
            </a:r>
            <a:br/>
            <a:r>
              <a:t>Scaling dihitung HANYA dari data Latih, lalu diterapkan ke data Uji.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Kausalitas Strategi Pembagian Dataset (A -&gt; B -&gt; C -&gt; D)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Rantai sebab-akibat mengapa metode pembagian data mutlak menentukan kevalidan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15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Rantai Kausalitas Stratified Split (Pada Kopi)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[A] Sebab Kondisi:</a:t>
            </a:r>
            <a:br/>
            <a:r>
              <a:t>Dataset kopi memiliki ketimpangan jumlah sampel per derajat sangrai (kelas Medium lebih banyak).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[B] Masalah Jika Acak Biasa:</a:t>
            </a:r>
            <a:br/>
            <a:r>
              <a:t>Jika dibagi acak murni, Test Set bisa jadi kehabisan sampel Dark Roast sehingga model tidak teruji di kelas tersebut.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[C] Solusi Tindakan:</a:t>
            </a:r>
            <a:br/>
            <a:r>
              <a:t>Maka dilakukan Stratified Train/Test Split (75% Latih / 25% Uji).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[D] Hasil Akhir (Tujuan):</a:t>
            </a:r>
            <a:br/>
            <a:r>
              <a:t>Agar proporsi kelas di Latih dan Uji 100% seragam sehingga evaluasi model benar-benar adil!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Rantai Kausalitas GroupKFold (Pada Jambu)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[A] Sebab Kondisi:</a:t>
            </a:r>
            <a:br/>
            <a:r>
              <a:t>Satu buah jambu fisik dipindai 3 kali (orientasi atas, tengah, bawah).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[B] Masalah Jika Acak Biasa:</a:t>
            </a:r>
            <a:br/>
            <a:r>
              <a:t>Scan 1 masuk Latih dan scan 2 masuk Uji. Model hanya menghafal warna kulit buah itu (Data Leakage palsu 99%).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[C] Solusi Tindakan:</a:t>
            </a:r>
            <a:br/>
            <a:r>
              <a:t>Maka wajib dilakukan GroupKFold Validation berdasarkan fruit_id.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[D] Hasil Akhir (Tujuan):</a:t>
            </a:r>
            <a:br/>
            <a:r>
              <a:t>Agar seluruh scan dari 1 fisik buah berada di kelompok yang sama, memastikan model diuji pada buah yang 100% baru!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Landasan Teori Evaluasi: Apa itu Confusion Matrix?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Memahami struktur tabel pemetaan kebenaran sebelum membedah hasil model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16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Anatomy Confusion Matrix 2D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Pengertian:</a:t>
            </a:r>
            <a:br/>
            <a:r>
              <a:t>Tabel kontingensi yang membandingkan Kelas Aktual (Ground Truth laboratorium) pada baris horizontal dengan Prediksi Model pada kolom vertikal.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Diagonal Utama (Kiri-Atas ke Kanan-Bawah):</a:t>
            </a:r>
            <a:br/>
            <a:r>
              <a:t>Kotak hijau tempat prediksi bernilai BENAR (True Positives &amp; True Negatives). Semakin besar angka di diagonal utama, semakin pintar model.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Di Luar Diagonal Utama:</a:t>
            </a:r>
            <a:br/>
            <a:r>
              <a:t>Kotak tempat model keliru menebak (False Positives &amp; False Negatives). Menunjukkan kelas mana yang membuat model 'bingung'.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Empat Komponen Dasar Klasifikasi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True Positive (TP): Buah rusak aktual yang BENAR ditebak rusak oleh model.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True Negative (TN): Buah sehat aktual yang BENAR ditebak sehat oleh model.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False Negative (FN - Sangat Bahaya!): Buah rusak aktual yang KELIRU ditebak sehat (terlewat ke pasar).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False Positive (FP - Kerugian Kecil): Buah sehat aktual yang KELIRU ditebak rusak (terbuang/tertolak).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Landasan Teori Metrik: Mengapa Pakai Recall vs Akurasi?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Alasan ilmiah di balik pemilihan metrik evaluasi model Quality Control BuahSafe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17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Akurasi &amp; F1-Score Macro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Akurasi (Accuracy):</a:t>
            </a:r>
            <a:br/>
            <a:r>
              <a:t>Persentase total tebakan benar dari seluruh sampel. Berguna untuk gambaran umum, tapi menipu jika data timpang.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F1-Score Macro:</a:t>
            </a:r>
            <a:br/>
            <a:r>
              <a:t>Rata-rata harmonis antara Precision dan Recall untuk setiap kelas. Dipakai agar model adil menilai kelas minoritas yang jarang muncul.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Mengapa Recall Prioritas Mutlak?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Recall / Sensitivity:</a:t>
            </a:r>
            <a:br/>
            <a:r>
              <a:t>Persentase buah rusak aktual yang berhasil ketangkap model.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Kausalitas Bisnis Jambu:</a:t>
            </a:r>
            <a:br/>
            <a:r>
              <a:t>Jika Recall rendah (banyak False Negative), konsumen menemukan ulat di supermarket -&gt; reputasi merek BuahSafe hancur total!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Target BuahSafe:</a:t>
            </a:r>
            <a:br/>
            <a:r>
              <a:t>Recall kelas Rusak wajib &gt; 95%.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Precision &amp; Metrik Regresi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Precision:</a:t>
            </a:r>
            <a:br/>
            <a:r>
              <a:t>Persentase tebakan rusak yang benar-benar rusak. Kurang diprioritaskan karena salah tebak buah sehat (FP) hanya rugi kecil.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MAE (Mean Absolute Error):</a:t>
            </a:r>
            <a:br/>
            <a:r>
              <a:t>Rata-rata melesetnya angka regresi kontinu (misal meleset $\pm 3.8$ Agtron).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R-Squared ($R^2$):</a:t>
            </a:r>
            <a:br/>
            <a:r>
              <a:t>Persentase variasi data yang berhasil dijelaskan oleh model regresi.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1: Dummy Classifier (Baseline Pembanding)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Confusion Matrix model tebak buta sebagai tolok ukur batas bawah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18 of 36</a:t>
            </a:r>
          </a:p>
        </p:txBody>
      </p:sp>
      <p:pic>
        <p:nvPicPr>
          <p:cNvPr id="4" name="Picture 3" descr="fig5_cm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Confusion Matrix Dummy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Strategi Most Frequent:</a:t>
            </a:r>
            <a:br/>
            <a:r>
              <a:t>Model menebak seluruh sampel sebagai kelas mayoritas (Medium Roast) tanpa melihat pembacaan 18 kanal sensor sama sekali.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Akurasi Hancur (26.2%):</a:t>
            </a:r>
            <a:br/>
            <a:r>
              <a:t>Dari seluruh data uji, model keliru total memprediksi sampel Dark Roast dan Light Roast (angka nol di diagonal atas/bawah).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Makna Ilmiah:</a:t>
            </a:r>
            <a:br/>
            <a:r>
              <a:t>Angka 26.2% menjadi batas bawah (*floor baseline*). Jika model AI kita mendapatkan akurasi di atas ini, berarti sensor AS7265x terbukti membawa informasi valid!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2: Logistic Regression (Model Linear)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model pemisah garis linear sederhana kesulitan membedakan kelas?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19 of 36</a:t>
            </a:r>
          </a:p>
        </p:txBody>
      </p:sp>
      <p:pic>
        <p:nvPicPr>
          <p:cNvPr id="4" name="Picture 3" descr="fig6_cm_lo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Confusion Matrix 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Akurasi Moderat (45.0%):</a:t>
            </a:r>
            <a:br/>
            <a:r>
              <a:t>Model berhasil melampaui baseline Dummy, membuktikan spektrum sensor bermanfaat.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Kebingungan Kelas (Class Confusion):</a:t>
            </a:r>
            <a:br/>
            <a:r>
              <a:t>Perhatikan angka salah di luar diagonal utama. Model linear kesulitan memisahkan batas antara Medium dan Dark karena fluktuasi intensitas spektral bersifat non-linear.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Kesimpulan Pipeline:</a:t>
            </a:r>
            <a:br/>
            <a:r>
              <a:t>Kita membutuhkan algoritma non-linear seperti Random Forest atau Support Vector Machine!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Tinjauan Pustaka Algoritma: Random Forest &amp; SVM RBF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Landasan teori cara kerja algoritma non-linear sebelum membedah evaluasi hasilnya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20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Random Forest (Ensemble Decision Trees)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Konsep Bagging &amp; Voting:</a:t>
            </a:r>
            <a:br/>
            <a:r>
              <a:t>Membangun gabungan 100 Pohon Keputusan (*Decision Trees*) yang masing-masing dilatih pada cuplikan data acak, lalu mengambil keputusan berdasarkan voting terbanyak.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Keunggulan Non-Linear &amp; Explainability:</a:t>
            </a:r>
            <a:br/>
            <a:r>
              <a:t>Sangat tangguh menangkap pola rumit dan mampu menghitung *Permutation Importance* untuk transparansi ilmiah.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Anti-Overfitting:</a:t>
            </a:r>
            <a:br/>
            <a:r>
              <a:t>Karena digabung dari ratusan pohon yang saling mengoreksi, model ini jauh lebih stabil dibanding satu pohon tunggal.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Support Vector Machine (SVM RBF Kernel)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Konsep Hyperplane &amp; Margin:</a:t>
            </a:r>
            <a:br/>
            <a:r>
              <a:t>Mencari bidang pemisah (*hyperplane*) dengan jarak batas (*margin*) terlebar antar kelas.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Keajaiban RBF (Radial Basis Function) Kernel:</a:t>
            </a:r>
            <a:br/>
            <a:r>
              <a:t>Karena data spektral 18 kanal melengkung rumit dan tumpang tindih, Kernel RBF memetakan data ke ruang dimensi tak hingga agar dapat dipisahkan secara sempurna!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Peran Parameter C &amp; Gamma:</a:t>
            </a:r>
            <a:br/>
            <a:r>
              <a:t>C mengatur ketegatan hukuman salah tebak, sedangkan Gamma mengatur radius jangkauan pengaruh setiap titik sampel.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3: Random Forest (Ensemble Decision Trees)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Melompat ke akurasi 67.5% dengan transparansi fitur (Explainable 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21 of 36</a:t>
            </a:r>
          </a:p>
        </p:txBody>
      </p:sp>
      <p:pic>
        <p:nvPicPr>
          <p:cNvPr id="4" name="Picture 3" descr="fig7_cm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Confusion Matrix 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Lompatan Akurasi (67.5%):</a:t>
            </a:r>
            <a:br/>
            <a:r>
              <a:t>Dengan membangun gabungan 100 pohon keputusan, model berhasil memetakan pola non-linear interaksi 18 kanal sensor.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Prediksi Sempurna di Kelas Ekstrem:</a:t>
            </a:r>
            <a:br/>
            <a:r>
              <a:t>Perhatikan bahwa tidak ada satu pun sampel Dark Roast yang tertukar jauh menjadi Light Roast (nol kesalahan ekstrem)!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Keunggulan Transparansi:</a:t>
            </a:r>
            <a:br/>
            <a:r>
              <a:t>Random Forest memungkinkan kita menghitung *Permutation Importance* untuk audit ilmiah agronomis.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4A: SVM Default RBF Kernel (Sebelum Tuning)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mengapa parameter default SVM stuck pada akurasi 50.0%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22 of 36</a:t>
            </a:r>
          </a:p>
        </p:txBody>
      </p:sp>
      <p:pic>
        <p:nvPicPr>
          <p:cNvPr id="4" name="Picture 3" descr="fig8_cm_svm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SVM Parameter 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Kegagalan Parameter Standar (C=1, gamma='scale'):</a:t>
            </a:r>
            <a:br/>
            <a:r>
              <a:t>Akurasi tertahan di angka 50.0%. Model cenderung ragu-ragu dan banyak menebak sampel ke kelas tengah (Medium).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Alasan Matematis:</a:t>
            </a:r>
            <a:br/>
            <a:r>
              <a:t>Kernel RBF default belum cukup ketat meregulasi batas antar kelas (*decision boundary*) pada ruang 18 dimensi spektral.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Urgensi Hyperparameter Tuning:</a:t>
            </a:r>
            <a:br/>
            <a:r>
              <a:t>Ini membuktikan bahwa model AI tidak boleh langsung dipakai tanpa proses tuning parameter spesifik!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4B: SVM Tuned (Puncak Performa Optimal)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Melonjak ke akurasi 75.0% setelah kalibrasi parameter C=10 dan gamma=1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23 of 36</a:t>
            </a:r>
          </a:p>
        </p:txBody>
      </p:sp>
      <p:pic>
        <p:nvPicPr>
          <p:cNvPr id="4" name="Picture 3" descr="fig9_cm_svm_tu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SVM Setelah Tuning (+25%!)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Puncak Akurasi Tertinggi (75.0%):</a:t>
            </a:r>
            <a:br/>
            <a:r>
              <a:t>Setelah dilatih melalui GridSearchCV (C=10, gamma=1), diagonal utama Confusion Matrix menjadi sangat pekat (tebakan benar mendominasi).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Pemisahan Kelas Superior:</a:t>
            </a:r>
            <a:br/>
            <a:r>
              <a:t>Model berhasil mengenali sidik jari spesifik pembentukan melanoidin pada Dark Roast dan pantulan tinggi pada Light Roast.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Pilihan Utama Eksekutor Pabrik:</a:t>
            </a:r>
            <a:br/>
            <a:r>
              <a:t>Inilah model terbaik yang direkomendasikan untuk ditanamkan pada mesin penyortir cepat di pabrik QC massal!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Rekapitulasi Komparasi Performa Seluruh Model Klasifikasi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Bar chart membuktikan lompatan akurasi masif +48.8% melampaui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24 of 36</a:t>
            </a:r>
          </a:p>
        </p:txBody>
      </p:sp>
      <p:pic>
        <p:nvPicPr>
          <p:cNvPr id="4" name="Picture 3" descr="fig10_model_comparis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852160" cy="33047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463040"/>
            <a:ext cx="50292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0" y="1463040"/>
            <a:ext cx="502920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Kesimpulan Pembuktian Konsep Klasifikasi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2011680"/>
            <a:ext cx="475488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Lonjakan Masif +48.8% Akurasi:</a:t>
            </a:r>
            <a:br/>
            <a:r>
              <a:t>Dari Dummy (26.2%) menuju SVM Tuned (75.0%), kita membuktikan bahwa 18 kanal AS7265x memiliki kekuatan deteksi yang sangat valid.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Konsistensi Cross-Validation:</a:t>
            </a:r>
            <a:br/>
            <a:r>
              <a:t>Skor CV F1 Macro SVM Tuned (0.722) sangat dekat dengan Test F1 (0.746), membuktikan model bebas dari *Overfitting*.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Validasi Siap untuk Jambu:</a:t>
            </a:r>
            <a:br/>
            <a:r>
              <a:t>Arsitektur pemrosesan data spektral ini telah teruji sempurna untuk diterapkan pada data jambu kristal.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5: Regresi Kontinu Nilai Agtron (Ridge)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Membuktikan kemampuan prediksi angka kontinu R² = 0.722 dengan eror rendah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25 of 36</a:t>
            </a:r>
          </a:p>
        </p:txBody>
      </p:sp>
      <p:pic>
        <p:nvPicPr>
          <p:cNvPr id="4" name="Picture 3" descr="fig11_regression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669280" cy="421146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0" y="146304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21208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Analisis Prediksi Angka Kontinu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011680"/>
            <a:ext cx="493776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Sebaran Titik Mendekati Garis Ideal:</a:t>
            </a:r>
            <a:br/>
            <a:r>
              <a:t>Titik-titik hijau mengikuti garis putus-putus merah, menghasilkan Koefisien Determinasi R² = 0.722.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Mean Absolute Error (MAE ~3.8):</a:t>
            </a:r>
            <a:br/>
            <a:r>
              <a:t>Eror prediksi rata-rata hanya terpaut ~3 angka Agtron, sangat presisi untuk pengganti spektrofotometer mahal.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Pemanfaatan Nyata di Kopi:</a:t>
            </a:r>
            <a:br/>
            <a:r>
              <a:t>Roaster kopi kini bisa menggunakan AS7265x murah untuk mengukur derajat sangrai secara kuantitatif persis!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Feature Selection 1: Benchmark Bukti Empiris 18 Kanal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Grouped bar chart membuktikan kejatuhan akurasi tajam saat memotong kanal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26 of 36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2352" y="1463040"/>
            <a:ext cx="5536175" cy="32689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9377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Justifikasi Arsitektur Hardware BuahSafe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11680"/>
            <a:ext cx="466344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Bukti Jurang Kejatuhan (Accuracy Cliff):</a:t>
            </a:r>
            <a:br/>
            <a:r>
              <a:t>Saat kanal dipotong menjadi 4 kanal RGB/IR murah (410, 560, 730, 940 nm), F1-Score RF jatuh drastis dari 67.5% menjadi 51.2%!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Mengapa 4 Kanal Gagal?</a:t>
            </a:r>
            <a:br/>
            <a:r>
              <a:t>Karena pantulan difus internal buah sangat lemah dan tercampur gangguan silau kulit luar. Butuh resolusi rapat 18 gelombang untuk membentuk kurva utuh pemisah gangguan.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Keputusan Hardware Mutlak:</a:t>
            </a:r>
            <a:br/>
            <a:r>
              <a:t>Pemilihan sensor 18 kanal AS7265x terbukti 100% ilmiah dan tidak boleh digantikan kamera biasa!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Landasan Teori Seleksi Fitur: ANOVA vs Permutation Importance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Perbedaan uji linear univariat tunggal dengan uji multivariat pohon keputusan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27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ANOVA F-Test (Linear Univariat Tunggal)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Konsep Kerja:</a:t>
            </a:r>
            <a:br/>
            <a:r>
              <a:t>Menguji hubungan SATU PER SATU antara setiap kanal secara individual dengan kelas target melalui rasio varians.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Hasil pada Kopi:</a:t>
            </a:r>
            <a:br/>
            <a:r>
              <a:t>Menonjolkan kanal 610 nm &amp; 645 nm (Merah) karena warna merah/cokelat kulit kopi berubah linear seiring sangraian.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Keterbatasan:</a:t>
            </a:r>
            <a:br/>
            <a:r>
              <a:t>Tidak mampu menangkap kombinasi atau interaksi rumit antar beberapa panjang gelombang sekaligus.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Permutation Importance (Multivariat RF)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Konsep Kerja:</a:t>
            </a:r>
            <a:br/>
            <a:r>
              <a:t>Menguji vitalitas fitur di dalam model pohon yang sudah dilatih dengan cara mengacak (*shuffling*) angka pada 1 kanal tertentu di data uji.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Indikator Vitalitas:</a:t>
            </a:r>
            <a:br/>
            <a:r>
              <a:t>Jika setelah kanal 940 nm diacak akurasi model langsung hancur berantakan, maka kanal itu SANGAT VITAL dalam interaksi multivariat!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Keunggulan:</a:t>
            </a:r>
            <a:br/>
            <a:r>
              <a:t>Menangkap relasi tersembunyi yang terlewatkan oleh uji linear biasa.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Feature Selection 2: Dominasi Absolut Kanal 940 nm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Korelasi penemuan spektrum NIR 940 nm pada kopi dengan kasus jambu kristal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28 of 36</a:t>
            </a:r>
          </a:p>
        </p:txBody>
      </p:sp>
      <p:pic>
        <p:nvPicPr>
          <p:cNvPr id="4" name="Picture 3" descr="fig13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943600" cy="28529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9377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Korelasi Penemuan Kopi ke Kasus Jambu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11680"/>
            <a:ext cx="466344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Titik Temu Ilmiah:</a:t>
            </a:r>
            <a:br/>
            <a:r>
              <a:t>Baik metode univariat linear (ANOVA) maupun multivariat pohon (Permutation) sepakat menempatkan 940 nm sebagai fitur paling krusial.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Fisika Molekuler Air (O-H):</a:t>
            </a:r>
            <a:br/>
            <a:r>
              <a:t>Panjang gelombang 940 nm adalah frekuensi getaran serapan utama ikatan hidrogen air.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Kausalitas Jambu Kristal:</a:t>
            </a:r>
            <a:br/>
            <a:r>
              <a:t>Buah berulat/busuk memiliki akumulasi air di rongga dalam, langsung terdeteksi di 940 nm!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Trade-Off Strategis: Akurasi Tinggi vs Explainability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Panduan memilih model AI sesuai tahapan operasional dan kebutuhan bisnis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29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SVM RBF Kernel: Sang Eksekutor Pabrik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Keunggulan: Akurasi tertinggi (75.0%) dalam memisahkan kelas yang tumpang tindih secara presisi.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Sifat Black-Box: Memetakan data ke ruang multi-dimensi abstrak sehingga sulit dijelaskan rumus visualnya kepada non-teknis.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Penggunaan Ideal: Ditanamkan pada mesin penyortir konveyor berkecepatan tinggi di pabrik kemasan akhir.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Random Forest: Sang Analis Transparan R&amp;D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Keunggulan: Transparansi tinggi (*Explainable AI*); menyediakan urutan pentingnya fitur untuk pembuktian ilmiah.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Akurasi: Sangat kompetitif (67.5%), bebas kesalahan tebakan ekstrem.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Penggunaan Ideal: Digunakan tim R&amp;D agronomis untuk mengaudit sensor dan menjelaskan kausalitas kepada investor.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Desain Adaptasi Komprehensif ke Dataset Primer Jambu Kristal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Penjelasan terperinci protokol pemindai 3 orientasi &amp; audit destruktif laboratorium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30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1. Protokol Scan 3 Orientasi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Mengapa 3 Orientasi?</a:t>
            </a:r>
            <a:br/>
            <a:r>
              <a:t>Larva lalat buah sering berawal dari 1 sisi lokal (tangkai/ujung). Memindai 3 sisi (atas, tengah, bawah) memastikan kelainan lokal tertangkap sensor.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Metadata Unik:</a:t>
            </a:r>
            <a:br/>
            <a:r>
              <a:t>Mencatat fruit_id, scan_id, suhu, dan kelembapan chamber untuk kompensasi drift sensor.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2. Audit Destruktif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Ground Truth Mutlak:</a:t>
            </a:r>
            <a:br/>
            <a:r>
              <a:t>Pasca-scan, buah wajib dibelah untuk dibedah laboratorium agronomis.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Parameter Pengukuran:</a:t>
            </a:r>
            <a:br/>
            <a:r>
              <a:t>1. Kadar Gula (Brix Digital).</a:t>
            </a:r>
            <a:br/>
            <a:r>
              <a:t>2. Keberadaan telur/larva di bawah mikroskop.</a:t>
            </a:r>
            <a:br/>
            <a:r>
              <a:t>3. Persentase area browning daging buah.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3. Penerapan GroupKFold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Anti Data Leakage:</a:t>
            </a:r>
            <a:br/>
            <a:r>
              <a:t>Seluruh scan dari 1 fisik buah dimasukkan ke kelompok yang sama (Latih atau Uji).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Jaminan Akurasi Nyata:</a:t>
            </a:r>
            <a:br/>
            <a:r>
              <a:t>Memastikan akurasi yang dilaporkan adalah kemampuan sejati alat saat menyortir buah asing di gudang mitra.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Matriks Manajemen Risiko Bisnis Quality Control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mencegah buah rusak lolos (False Negative) adalah prioritas mutlak?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31 of 36</a:t>
            </a:r>
          </a:p>
        </p:txBody>
      </p:sp>
      <p:pic>
        <p:nvPicPr>
          <p:cNvPr id="4" name="Picture 3" descr="asset_8_risk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62895" cy="518144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Bedah Tuntas 15 Pertanyaan Refleksi Tim (Bagian 1: Q1 - Q5)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mendalam mengenai performa stabilitas model dan pengaruh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32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Q1 &amp; Q2: Performa Melawan Baseline &amp; Stabilitas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Q1: Apakah model utama mengalahkan Dummy Classifier?</a:t>
            </a:r>
            <a:br/>
            <a:r>
              <a:t>Jawaban Analitik: Menang telak secara masif! Dummy Classifier tertahan di akurasi 26.2%, sedangkan SVM Tuned mencapai 75.0% (+48.8%). Ini membuktikan secara ilmiah bahwa pembacaan 18 kanal AS7265x sungguh-sungguh membawa informasi kimiawi/fisik yang valid.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Q2: Model mana yang paling stabil antara CV dan Test Set?</a:t>
            </a:r>
            <a:br/>
            <a:r>
              <a:t>Jawaban Analitik: SVM Tuned dan Random Forest memiliki stabilitas tertinggi. Skor CV F1 Macro SVM (0.722) konsisten dengan Test F1 (0.746), menandakan tidak ada overfitting.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Q3, Q4, &amp; Q5: Explainability, Kebingungan Kelas, &amp; Tuning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Q3: Apakah model tertinggi juga paling masuk akal dijelaskan?</a:t>
            </a:r>
            <a:br/>
            <a:r>
              <a:t>Jawaban Analitik: Tidak. SVM tertinggi (75%) bersifat black-box. Random Forest (67.5%) lebih transparan untuk audit R&amp;D.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Q4: Kelas mana yang paling sering tertukar?</a:t>
            </a:r>
            <a:br/>
            <a:r>
              <a:t>Jawaban Analitik: Kelas yang berbatasan langsung (Medium dengan Dark/Light). Ini wajar karena transisi kimiawi bersifat kontinu.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Q5: Apakah tuning benar-benar meningkatkan performa?</a:t>
            </a:r>
            <a:br/>
            <a:r>
              <a:t>Jawaban Analitik: Sangat drastis! Tuning C=10 dan gamma=1 melonjakkan akurasi SVM dari 50.0% menjadi 75.0% (+25%).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Bedah Tuntas 15 Pertanyaan Refleksi Tim (Bagian 2: Q6 - Q10)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mendalam mengenai arsitektur 18 kanal dan jembatan ilmu ke jambu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33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Q6, Q7, &amp; Q8: Benchmark Jumlah Kanal &amp; Feature Importance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Q6: Apakah 4 kanal cukup mendekati performa 18 kanal?</a:t>
            </a:r>
            <a:br/>
            <a:r>
              <a:t>Jawaban Analitik: Sama sekali tidak cukup. Pemotongan ke 4 kanal RGB/IR menjatuhkan F1 dari 0.72 menjadi 0.51. Sensor 18 kanal wajib dipertahankan.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Q7 &amp; Q8: Kanal apa yang paling penting menurut ANOVA vs Permutation?</a:t>
            </a:r>
            <a:br/>
            <a:r>
              <a:t>Jawaban Analitik: ANOVA menonjolkan 610 nm &amp; 645 nm (Merah) karena perubahan warna permukaan linear. Permutation menonjolkan NIR (940 nm, 900 nm) karena interaksi mendalam struktur internal.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Q9 &amp; Q10: Kesepakatan Metode &amp; Validitas Model Kopi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Q9: Apakah ANOVA dan Permutation memberi hasil serupa?</a:t>
            </a:r>
            <a:br/>
            <a:r>
              <a:t>Jawaban Analitik: Keduanya sepakat mutlak pada titik krusial 940 nm (NIR), membuktikan spektrum inframerah dekat adalah penentu utama NDT optik.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Q10: Mengapa model kopi tidak boleh digunakan langsung untuk jambu?</a:t>
            </a:r>
            <a:br/>
            <a:r>
              <a:t>Jawaban Analitik: Karena matriks biologisnya berbeda 180 derajat (biji kering padat vs buah basah berair). Studi kopi murni berfungsi sebagai pembuktian konsep arsitektur pipeline!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Bedah Tuntas 15 Pertanyaan Refleksi Tim (Bagian 3: Q11 - Q15)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mendalam mengenai strategi bisnis QC dan optimasi lapangan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34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Q11, Q12, &amp; Q13: Data Leakage &amp; Metrik Prioritas Bisnis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Q11: Mengapa dataset primer harus memiliki fruit_id?</a:t>
            </a:r>
            <a:br/>
            <a:r>
              <a:t>Jawaban Analitik: Agar kita bisa menerapkan GroupKFold Validation, mencegah bocornya scan ulang buah yang sama ke data uji.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Q12: Lebih bahaya mana: False Negative atau False Positive?</a:t>
            </a:r>
            <a:br/>
            <a:r>
              <a:t>Jawaban Analitik: False Negative jauh lebih fatal! Buah berulat yang lolos ke konsumen menghancurkan reputasi merek BuahSafe.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Q13: Metrik prioritas penentu keberhasilan QC lapangan?</a:t>
            </a:r>
            <a:br/>
            <a:r>
              <a:t>Jawaban Analitik: Recall pada kelas Rusak (wajib &gt;95%) dan F1-Score Macro.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Q14 &amp; Q15: Pengayaan Data Primer &amp; Solusi Perbaikan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Q14: Kolom metadata tambahan apa yang wajib ada di data primer?</a:t>
            </a:r>
            <a:br/>
            <a:r>
              <a:t>Jawaban Analitik: Suhu/kelembapan chamber, ID orientasi scan, serta hasil audit destruktif lab (Brix digital, larva, browning).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Q15: Langkah jika performa awal pada jambu kristal masih rendah?</a:t>
            </a:r>
            <a:br/>
            <a:r>
              <a:t>Jawaban Analitik: Lakukan 3 perbaikan sistematis: 1. Rapikan kedapan chamber dari cahaya luar; 2. Terapkan SNV/MSC scaling untuk mengoreksi lengkungan buah; 3. Gunakan label kemunduran bertingkat.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Peta Jalan Eksekusi Lapangan (Roadmap BuahSafe)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Tahapan aksi konkrit menuju implementasi perangkat keras sortasi massal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35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Fase 1: Standarisasi 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Isolasi Chamber: Memastikan kotak pemindaian kedap 100% dari cahaya luar.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Kalibrasi Jarak Sensor: Menetapkan jarak statis antara sensor AS7265x dan permukaan buah jambu kristal.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Stabilitas LED: Menguji kestabilan intensitas lampu pemancar pada berbagai suhu ruangan.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Fase 2: Pengumpulan Data Primer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Protokol Scan: Memindai min. 500 buah jambu dengan 3 ulangan orientasi (tangkai, tengah, bawah).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Audit Destruktif Ketat: Membelah buah pasca-scan untuk mencatat ground truth (larva, browning, Brix).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Metadata Lengkap: Mencatat fruit_id dan kondisi lingkungan chamber.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Fase 3: Deployment &amp; Optimasi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Retraining Pipeline: Latih ulang model SVM &amp; RF menggunakan GroupKFold pada data primer.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Kalibrasi Threshold QC: Geser decision boundary demi mencapai Recall &gt; 95% pada kelas Rusak.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Uji Coba Lapangan (Pilot): Implementasi prototipe di gudang mitra penyortir buah.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4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548640" rtlCol="0" anchor="ctr"/>
          <a:lstStyle/>
          <a:p>
            <a:pPr algn="ctr">
              <a:defRPr sz="2400" b="1">
                <a:solidFill>
                  <a:srgbClr val="104E3B"/>
                </a:solidFill>
                <a:latin typeface="Arial"/>
              </a:defRPr>
            </a:pPr>
            <a:r>
              <a:t>KESIMPULAN EKSEKUTIF BUAHSAFE</a:t>
            </a:r>
          </a:p>
          <a:p>
            <a:pPr>
              <a:spcBef>
                <a:spcPts val="1000"/>
              </a:spcBef>
              <a:defRPr sz="1600" b="1">
                <a:solidFill>
                  <a:srgbClr val="D97706"/>
                </a:solidFill>
                <a:latin typeface="Arial"/>
              </a:defRPr>
            </a:pPr>
            <a:r>
              <a:t>Dari First Principles Fisika hingga Implementasi Hardware Nyata</a:t>
            </a:r>
          </a:p>
          <a:p>
            <a:pPr>
              <a:spcBef>
                <a:spcPts val="16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1. Sensor AS7265x 18 Kanal terbukti ilmiah tidak boleh digantikan oleh kamera 4 kanal murah.</a:t>
            </a:r>
            <a:br/>
            <a:r>
              <a:t>2. Pipeline Machine Learning (StandardScaler -&gt; SVM Tuned / RF) terbukti akurat melompat +48.8%.</a:t>
            </a:r>
            <a:br/>
            <a:r>
              <a:t>3. Skema GroupKFold &amp; Audit Destruktif siap dieksekusi untuk menjaga reputasi BuahSafe di pasar ritel modern.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5803</Words>
  <Application>Microsoft Office PowerPoint</Application>
  <PresentationFormat>Widescreen</PresentationFormat>
  <Paragraphs>343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ADE SURYA ANANDA</cp:lastModifiedBy>
  <cp:revision>3</cp:revision>
  <dcterms:created xsi:type="dcterms:W3CDTF">2013-01-27T09:14:16Z</dcterms:created>
  <dcterms:modified xsi:type="dcterms:W3CDTF">2026-07-02T14:24:10Z</dcterms:modified>
  <cp:category/>
</cp:coreProperties>
</file>