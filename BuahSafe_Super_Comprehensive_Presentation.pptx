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731520"/>
          <a:lstStyle/>
          <a:p>
            <a:pPr algn="ctr">
              <a:defRPr sz="2800" b="1">
                <a:solidFill>
                  <a:srgbClr val="104E3B"/>
                </a:solidFill>
                <a:latin typeface="Arial"/>
              </a:defRPr>
            </a:pPr>
            <a:r>
              <a:t>BUAHSAFE: NON-DESTRUCTIVE QUALITY CONTROL</a:t>
            </a:r>
          </a:p>
          <a:p>
            <a:pPr>
              <a:spcBef>
                <a:spcPts val="1400"/>
              </a:spcBef>
              <a:defRPr sz="1800" b="1">
                <a:solidFill>
                  <a:srgbClr val="D97706"/>
                </a:solidFill>
                <a:latin typeface="Arial"/>
              </a:defRPr>
            </a:pPr>
            <a:r>
              <a:t>Deteksi Kerusalakan Internal Jambu Kristal Berbasis Spektroskopi AS7265x &amp; Machine Learning</a:t>
            </a:r>
          </a:p>
          <a:p>
            <a:pPr>
              <a:spcBef>
                <a:spcPts val="2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Presentasi Komprehensif: Membedah First Principles Fisika Spektroskopi, Biologi Buah,</a:t>
            </a:r>
            <a:br/>
            <a:r>
              <a:t>Kausalitas Algoritma AI, dan Manajemen Risiko Operasional Bisnis QC Pasca-Panen</a:t>
            </a:r>
          </a:p>
          <a:p>
            <a:pPr>
              <a:spcBef>
                <a:spcPts val="3000"/>
              </a:spcBef>
              <a:defRPr sz="1200" i="1">
                <a:solidFill>
                  <a:srgbClr val="059669"/>
                </a:solidFill>
                <a:latin typeface="Arial"/>
              </a:defRPr>
            </a:pPr>
            <a:r>
              <a:t>Berdasarkan Eksperimen Pembuktian Konsep (Proof of Concept) &amp; Pembahasan Tuntas 15 Pertanyaan Refleksi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Latar Belakang &amp; Masalah Bisnis Quality Control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Mengapa cara sortasi manual tradisional tidak lagi memadai untuk buah kelas premium?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2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Kelemahan Sortasi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Subjektivitas Tinggi: Penilaian visual &amp; ketukan jari sangat bergantung pada pengalaman individu pekerja.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Kelelahan Manusia: Mata pekerja mengalami degradasi fokus setelah jam kerja panjang, memicu human error.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Standar Tidak Inkonsisten: Inkonsistensi kualitas antar-batch pengiriman barang ke supermarket.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486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Ancaman Cacat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Ulat Lalat Buah (Bactrocera carambolae): Betina bertelur lewat lubang jarum mikroskopis pada kulit luar.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Luar Mulus, Dalam Busuk: Secara visual luar, buah tampak sempurna, tetapi daging tengahnya hancur berulat.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Kegagalan Inspeksi Visual: Kamera RGB atau inspeksi mata tidak mampu menembus ke bawah kulit buah.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Risiko Finansial &amp; Reputasi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Komplain Konsumen: Pembeli menemukan ulat di buah mahal bermerek BuahSafe -&gt; kepercayaan langsung runtuh.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Kerugian Kontrak Bisnis: Supermarket premium dapat memutus kontrak permanen akibat keracunan / cacat mutu.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Biaya False Negative Sangat Tinggi: Meloloskan buah rusak jauh lebih merugikan daripada menolak buah sehat.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Solusi BuahSafe &amp; First Principles Spektroskopi Optik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Bagaimana cahaya berinteraksi dengan materi biologis untuk melihat ke dalam buah?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3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Apa itu Spektroskopi Non-Destruktif?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0292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• Spektroskopi adalah ilmu fisika yang mempelajari interaksi gelombang elektromagnetik (cahaya) dengan materi biologis (molekul sel).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Non-Destructive Testing (NDT): Mengukur kualitas bagian dalam buah tanpa perlu membelah, mengupas, atau merusak fisik buah sama sekali.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Penggunaan Sensor AS7265x: Spektrometer miniatur 18-kanal yang memecah cahaya pantul dari 410 nm (ungu) hingga 940 nm (inframerah dekat).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 Fenomena Fisika Reflektansi Cahaya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512064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1. Absorpsi (Penyerapan Molekuler):</a:t>
            </a:r>
            <a:br/>
            <a:r>
              <a:t>Foton diserap oleh ikatan kimia spesifik (O-H pada air, C-H pada gula, klorofil) untuk menggetarkan molekul.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2. Refleksi Spekular (Pantulan Permukaan):</a:t>
            </a:r>
            <a:br/>
            <a:r>
              <a:t>Cahaya memantul langsung di permukaan lilin kulit luar seperti cermin (tidak membawa informasi internal).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3. Hamburan Difus (Sub-Surface Scattering) - KUNCI UTAMA:</a:t>
            </a:r>
            <a:br/>
            <a:r>
              <a:t>Cahaya menembus masuk ke jaringan bawah kulit, memantul berulang kali di antara dinding sel daging buah, lalu keluar kembali membawa 'rekam sidik jari' struktur internal menuju sensor!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Alur Kausalitas Fisika - Kimia - Biologi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Mengapa buah busuk/berulat di dalam merubah pembacaan sensor optik di luar kulit?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4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60320" cy="5486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Sebab Biologi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2286000" cy="324612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Larva lalat buah memakan jaringan daging buah di tengah, atau infeksi jamur membusukkan sel internal pasca-panen.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54680" y="3566160"/>
            <a:ext cx="18288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8288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828800"/>
            <a:ext cx="25603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Sebab Kimia &amp; Seluler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423160"/>
            <a:ext cx="2286000" cy="324612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Dinding sel pecah berair, ikatan hidrogen air (O-H) berkumpul di rongga busuk, &amp; terjadi oksidasi pigmen (browning).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9320" y="3566160"/>
            <a:ext cx="18288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25603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Interaksi Foton 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23160"/>
            <a:ext cx="2286000" cy="324612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Cahaya Inframerah Dekat (khususnya 810-940 nm) menembus daging buah. Ikatan air (O-H) menyerap foton 940 nm secara intens.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23960" y="3566160"/>
            <a:ext cx="18288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52560" y="18288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52560" y="1828800"/>
            <a:ext cx="25603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4. Rekam Jejak Sensor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423160"/>
            <a:ext cx="2286000" cy="324612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Pantulan difus yang keluar ke sensor AS7265x mengalami penurunan intensitas drastis di kanal 940 nm! Terdeteksi sebagai rusak.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Keunggulan Resolusi Spektral AS7265x (18 Kanal)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Mengapa kamera RGB atau sensor 4-kanal biasa tidak mampu mendeteksi cacat internal?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5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Visible Light (410 - 680 nm)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Kanal: 410, 435, 460, 485, 510, 535, 560, 585, 610, 645, 680 nm.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Target Deteksi: Pigmen warna permukaan eksternal.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Klorofil (Hijau): Menunjukkan tingkat kematangan fisik luar.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Karotenoid &amp; Antosianin: Menunjukkan transisi warna buah.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Red-Edge (680 - 730 nm)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Kanal: 680, 705, 730 nm.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Target Deteksi: Zona transisi kritis antara serapan pigmen dan pemantulan struktur sel.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Indikator Stres Fisiologis: Sangat sensitif mendeteksi buah yang mulai mengalami pembusukan dini atau stres biologis sebelum terlihat di permukaan.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Near-Infrared / NIR (760 - 940 nm)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Kanal: 760, 810, 860, 900, 940 nm.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Target Deteksi: Ikatan molekul internal (O-H Air &amp; C-H Gula).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X-Ray Optik BuahSafe: Memiliki penetrasi jaringan terdalam.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Penentu Kritis: Kanal 940 nm terbukti menjadi fitur paling signifikan untuk deteksi air &amp; kebusukan.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Pembuktian Konsep (Proof of Concept) Pipeline ML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Mengapa penelitian pendahuluan ini menggunakan dataset spektral biji kopi sangrai?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6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Alasan Ilmiah Penggunaan Dataset Kopi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0292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• Validasi Arsitektur Software: Sebelum perangkat keras chamber primer BuahSafe selesai dirakit, tim harus memvalidasi alur kerja (pipeline) pengolahan 18 kanal AS7265x.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Kesamaan Sumber Sensor: Dataset kopi diukur menggunakan sensor AS7265x yang persis sama, menjamin kesesuaian dimensi fitur (18 gelombang).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Pengujian End-to-End: Membuktikan bahwa dari data mentah sensor dapat dibangun model klasifikasi, regresi, tuning, dan interpretasi fitur secara otomatis.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Inovasi Rekayasa Data dalam 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512064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Resolusi Blokir HTTP (403 Forbidden):</a:t>
            </a:r>
            <a:br/>
            <a:r>
              <a:t>Penanganan otomatis pengunduhan langsung dari gateway terdesentralisasi IPFS Pinata menggunakan kustomisasi User-Agent headers.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Normalisasi Dataset Otomatis:</a:t>
            </a:r>
            <a:br/>
            <a:r>
              <a:t>Sistem mampu mendeteksi dan menamai ulang file hash CID IPFS menjadi format standar yang siap diproses model.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Reproduksibilitas Eksperimen:</a:t>
            </a:r>
            <a:br/>
            <a:r>
              <a:t>Menyimpan seluruh model (*.joblib), metadata (*.json), dan metrik evaluasi ke dalam arsip ZIP yang terisolasi.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First Principles Machine Learning dalam Pipeline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Mengapa kita memerlukan Machine Learning, Scaling, dan Pipeline untuk data spektral?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7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Mengapa Butuh ML?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Interaksi Non-Linear: 18 kanal berfluktuasi naik-turun bersamaan akibat bentuk buah melengkung &amp; variasi ukuran.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Mustahil Aturan If-Else: Manusia tidak mampu merancang batasan aturan manual di ruang 18-dimensi.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Fungsi Belajar Otomatis: ML mencari fungsi matematis f(X) = y untuk mengenali pola kerusakan internal.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Kausalitas StandardScaler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Masalah Skala Angka: Kanal 410 nm bernilai ~30, sedangkan kanal 940 nm bernilai ~30.000.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Bias Perhitungan Jarak: Tanpa scaling, algoritma Pythagoras (SVM/Regresi) hanya melihat kanal angka besar.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Solusi Standarisasi: Mengubah mean=0 &amp; std=1 agar semua 18 kanal punya bobot suara setara.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486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Pencegahan Data Leakage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Definisi Kebocoran Data: Mengintip informasi data uji saat proses pelatihan model berlangsung.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Kausalitas Pipeline: Scaling wajib dihitung hanya dari data latih, lalu diterapkan ke data uji.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GroupKFold Validation: Memastikan semua pemindaian ulang dari 1 sampel berada di kelompok yang sama.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Hasil Eksperimen &amp; Evaluasi Model Klasifikasi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Bukti nyata bahwa model utama menang telak melampaui Dummy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8 of 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858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Model Klasifikasi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CV F1 Macro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Test Accuracy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Test F1 Macro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SVM (After Tuning)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0.722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0.746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0.722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67.5%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0.668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0.397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45.0%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0.441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C2626"/>
                          </a:solidFill>
                        </a:defRPr>
                      </a:pPr>
                      <a:r>
                        <a:t>Dummy Baseline (Tebak Buta)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C2626"/>
                          </a:solidFill>
                        </a:defRPr>
                      </a:pPr>
                      <a:r>
                        <a:t>0.104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C2626"/>
                          </a:solidFill>
                        </a:defRPr>
                      </a:pPr>
                      <a:r>
                        <a:t>26.2%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C2626"/>
                          </a:solidFill>
                        </a:defRPr>
                      </a:pPr>
                      <a:r>
                        <a:t>0.104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371600"/>
            <a:ext cx="396209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80960" y="1371600"/>
            <a:ext cx="3962095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Analisis Kausalitas Hasil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1965960"/>
            <a:ext cx="3687775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Menang Telak dari Baseline:</a:t>
            </a:r>
            <a:br/>
            <a:r>
              <a:t>Dummy Classifier hanya meraih akurasi 26.2%. Seluruh model utama melampauinya dengan margin masif (+48.8% pada SVM).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Pembuktian Sinyal Spektral:</a:t>
            </a:r>
            <a:br/>
            <a:r>
              <a:t>Ini membuktikan bahwa angka reflektansi 18 kanal AS7265x mengandung pola informasi fisik nyata yang sah untuk klasifikasi.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SVM vs Random Forest:</a:t>
            </a:r>
            <a:br/>
            <a:r>
              <a:t>SVM Tuned meraih akurasi tertinggi (75%), sementara Random Forest sangat stabil dan transparan untuk interpretasi.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Dampak Hyperparameter Tuning &amp; Kestabilan Model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Mengapa tuning parameter dan kestabilan Cross-Validation sangat krusial?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9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Dampak Drastis Tuning pada SVM (+25% Akurasi!)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0292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• Sebelum Tuning: SVM default hanya memperoleh akurasi test 50.0% (F1 0.494). Model kesulitan memisahkan kelas yang tumpang tindih.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Setelah GridSearchCV: Ditemukan parameter optimal C=10 (regularisasi kuat) dan gamma=1 (kernel width tepat). Akurasi melesat menjadi 75.0% (F1 0.746)!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Pelajaran untuk BuahSafe: Jika model awal pada data jambu kristal terasa rendah, jangan menyerah! Algoritma ML butuh kalibrasi parameter agar pas dengan pantulan kulit jambu.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Kestabilan: Cross-Validation vs Test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512064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• Bukti Tidak Overfitting:</a:t>
            </a:r>
            <a:br/>
            <a:r>
              <a:t>Pada SVM Tuned, CV F1 Macro (0.722) sangat dekat dengan Test F1 Macro (0.746). Random Forest juga konsisten (0.722 vs 0.668).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Makna Bisnis Kestabilan:</a:t>
            </a:r>
            <a:br/>
            <a:r>
              <a:t>Model tidak 'menghafal' data latihan, melainkan mempelajari pola umum spektrum pantulan.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Jaminan Keandalan Operasional:</a:t>
            </a:r>
            <a:br/>
            <a:r>
              <a:t>Mitra QC di gudang membutuhkan alat yang stabil setiap hari saat mengukur batch buah baru yang belum pernah dilihat sebelumnya.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Benchmark Jumlah Kanal: Mengapa Wajib 18 Kanal?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Pembuktian ilmiah mengapa sensor RGB atau 4-kanal murah tidak layak untuk QC internal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10 of 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4008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Jumlah Kanal Sensor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Random Forest CV F1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SVM CV F1</a:t>
                      </a:r>
                    </a:p>
                  </a:txBody>
                  <a:tcPr>
                    <a:solidFill>
                      <a:srgbClr val="104E3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C2626"/>
                          </a:solidFill>
                        </a:defRPr>
                      </a:pPr>
                      <a:r>
                        <a:t>4 Kanal (RGB/IR Sederhana)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C2626"/>
                          </a:solidFill>
                        </a:defRPr>
                      </a:pPr>
                      <a:r>
                        <a:t>0.519 (Anjlok drastis)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C2626"/>
                          </a:solidFill>
                        </a:defRPr>
                      </a:pPr>
                      <a:r>
                        <a:t>0.548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8 Kanal Spektral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0.640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0.608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12 Kanal Spektral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0.663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0.662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18 Kanal Lengkap (AS7265x)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0.722 (Puncak Optimal)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0.724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3035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Justifikasi Arsitektur Hardware BuahSafe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965960"/>
            <a:ext cx="50292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Penurunan Tajam pada 4 Kanal:</a:t>
            </a:r>
            <a:br/>
            <a:r>
              <a:t>Jika hanya menggunakan 4 kanal, F1-Score jatuh dari 0.722 ke 0.519. Ini membuktikan sensor murah kehilangan informasi internal kritis.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Kompleksitas Biologi Buah:</a:t>
            </a:r>
            <a:br/>
            <a:r>
              <a:t>Kerusakan internal jambu kristal diliputi oleh hamburan cahaya kulit luar. Butuh resolusi rapat untuk memisahkan gangguan kulit dengan cacat daging buah.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Keputusan Hardware Tepat:</a:t>
            </a:r>
            <a:br/>
            <a:r>
              <a:t>Pemilihan sensor 18-kanal AS7265x oleh tim BuahSafe terbukti mutlak diperlukan dan dapat dipertanggungjawabkan secara ilmiah!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Analisis Kanal Penting: ANOVA vs Permutation Importance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Menyingkap panjang gelombang mana yang paling menentukan keputusan kualitas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11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ANOVA F-Test (Univariat)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Cara Kerja: Menilai hubungan linear satu kanal tunggal terhadap kelas target.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4 Kanal Teratas ANOVA:</a:t>
            </a:r>
            <a:br/>
            <a:r>
              <a:t>1. 610 nm (Jingga/Merah)</a:t>
            </a:r>
            <a:br/>
            <a:r>
              <a:t>2. 645 nm (Merah Pekat)</a:t>
            </a:r>
            <a:br/>
            <a:r>
              <a:t>3. 730 nm (Red-Edge)</a:t>
            </a:r>
            <a:br/>
            <a:r>
              <a:t>4. 940 nm (Near-Infrared)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Fokus: Menyoroti warna pigmen permukaan luar dan batas Red-Edge.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Permutation Importance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Cara Kerja: Menilai kontribusi multivariat &amp; interaksi non-linear antar kanal dalam pohon keputusan.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4 Kanal Teratas Permutation:</a:t>
            </a:r>
            <a:br/>
            <a:r>
              <a:t>1. 435 nm (Ungu/Biru Edge)</a:t>
            </a:r>
            <a:br/>
            <a:r>
              <a:t>2. 940 nm (Near-Infrared)</a:t>
            </a:r>
            <a:br/>
            <a:r>
              <a:t>3. 900 nm (Near-Infrared)</a:t>
            </a:r>
            <a:br/>
            <a:r>
              <a:t>4. 810 nm (Near-Infrared)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Fokus: Dominasi absolut spektrum Near-Infrared penembus buah!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Titik Temu Ilmiah: 940 nm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Konsistensi NIR 940 nm:</a:t>
            </a:r>
            <a:br/>
            <a:r>
              <a:t>Kedua metode sepakat bahwa kanal 940 nm adalah fitur paling berpengaruh.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Validasi Teori Fisika:</a:t>
            </a:r>
            <a:br/>
            <a:r>
              <a:t>Kanal 940 nm adalah pita serapan utama ikatan hidrogen air (O-H).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Kausalitas Terbukti:</a:t>
            </a:r>
            <a:br/>
            <a:r>
              <a:t>Jaringan berulat/busuk mengalami akumulasi air rongga, terdeteksi sempurna di 940 nm!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Trade-Off Strategis: Akurasi Tinggi vs Explainability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Model mana yang harus dipilih untuk implementasi perangkat keras BuahSafe?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12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SVM RBF Kernel: Sang Eksekutor Akurasi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0292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• Keunggulan Utama: Akurasi tertinggi (75.0%) dalam memisahkan kelas yang kompleks dan tumpang tindih.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Kelemahan (Black-Box): Memetakan data ke ruang multi-dimensi abstrak; sulit menjelaskan alasan biologis di balik suatu prediksi.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Rekomendasi Penggunaan:</a:t>
            </a:r>
            <a:br/>
            <a:r>
              <a:t>Sangat ideal ditanamkan pada mesin penyortir massal di pabrik produksi akhir, di mana kecepatan dan persentase ketepatan sortasi menjadi prioritas nomor satu.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Random Forest: Sang Analis Transparan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512064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• Keunggulan Utama: Sangat transparan (Explainable AI); menyediakan feature importance yang jelas untuk audit ilmiah.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Kelemahan: Akurasi sedikit di bawah SVM Tuned (67.5%).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  <a:latin typeface="Arial"/>
              </a:defRPr>
            </a:pPr>
            <a:r>
              <a:t>• Rekomendasi Penggunaan:</a:t>
            </a:r>
            <a:br/>
            <a:r>
              <a:t>Sangat ideal digunakan selama tahap R&amp;D, kalibrasi sensor chamber, dan presentasi kepada agronomis/mitra bisnis untuk membuktikan kausalitas panjang gelombang.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Adaptasi ke Dataset Primer Jambu Kristal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Bagaimana standar pengambilan data dan arsitektur validasi untuk sampel buah asli?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13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Desain Tabel Metadata Primer BuahSafe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0292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fruit_id &amp; scan_id: Identitas unik per buah dan nomor ulangan scan (wajib ada untuk mencegah data leakage).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18 Kanal Spektral: Intensitas cahaya dari 410 nm hingga 940 nm.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Posisi Scan: Titik tangkai atas, perut tengah, atau kelopak bawah.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Kondisi Lingkungan: Suhu &amp; kelembapan chamber saat pemindaian.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Audit Destruktif (Ground Truth): Kadar Brix (kemanisan), keberadaan larva lalat buah, rongga internal, dan persentase browning.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Strategi Validasi GroupKFold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512064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Masalah Random Split Biasa:</a:t>
            </a:r>
            <a:br/>
            <a:r>
              <a:t>Jika 1 buah dipindai 3 kali lalu dibagi acak, scan 1 masuk latih &amp; scan 2 masuk uji. Model menghafal 'warna kulit buah', menghasilkan akurasi palsu 99%.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Solusi GroupKFold berdasarkan fruit_id:</a:t>
            </a:r>
            <a:br/>
            <a:r>
              <a:t>Memastikan seluruh pemindaian dari 1 buah yang sama berada di kelompok Latih semua atau Uji semua.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Hasil Evaluasi Jujur:</a:t>
            </a:r>
            <a:br/>
            <a:r>
              <a:t>Menjamin performa model benar-benar tangguh saat menghadapi buah asing di gudang mitra.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Matriks Risiko Bisnis: False Negative vs False Positive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Mengapa bagi BuahSafe, buah rusak lolos adalah bencana bisnis fatal?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14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03520" cy="5486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False Negative (Buah Rusak Lolos) - BAHAYA FATAL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0292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Skenario: Buah busuk/berulat diprediksi 'Normal' oleh model dan dikemas ke kotak kemasan supermarket kelas premium.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Dampak Destruktif:</a:t>
            </a:r>
            <a:br/>
            <a:r>
              <a:t>1. Konsumen menggigit buah berulat -&gt; trauma &amp; komplain keras.</a:t>
            </a:r>
            <a:br/>
            <a:r>
              <a:t>2. Kepercayaan merek BuahSafe hancur seketika dalam semalam.</a:t>
            </a:r>
            <a:br/>
            <a:r>
              <a:t>3. Supermarket memutus kontrak pasokan dan menuntut ganti rugi.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Kesimpulan: Biaya kerugian False Negative tak terhingga!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False Positive (Buah Sehat Tertolak) - RISIKO RINGAN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512064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Skenario: Buah sehat sempurna keliru diprediksi 'Rusak' oleh model dan disisihkan dari kemasan premium.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Dampak Terkendali:</a:t>
            </a:r>
            <a:br/>
            <a:r>
              <a:t>1. Kerugian hanyalah penyusutan kuantitas sortasi Grade A.</a:t>
            </a:r>
            <a:br/>
            <a:r>
              <a:t>2. Buah tertolak tetap sehat dan memiliki nilai ekonomi tinggi untuk dialokasikan ke produk turunan (pabrik jus jambu atau selai).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Strategi Metrik Bisnis:</a:t>
            </a:r>
            <a:br/>
            <a:r>
              <a:t>Wajib menyetel threshold model untuk memaksimalkan Recall kelas Rusak (&gt;95%), meskipun mengorbankan sedikit Precision!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Rangkuman Eksekutif 15 Pertanyaan Refleksi Tim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Menyamakan visi antara data scientist, agronomis, dan manajemen bisnis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15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Teknis &amp; Performa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Q1: Menang dari Dummy? Ya telak (75% vs 26%). Sinyal spektral valid.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Q2: Paling Stabil? SVM Tuned &amp; RF konsisten antara CV dan Test.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Q3: Tertinggi = Explainable? Tidak. SVM akurat, RF transparan.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Q4: Sering Tertukar? Kelas berbatasan (borderline awal cacat).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Q5: Tuning Berguna? Sangat drastis (+25% pada SVM).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Arsitektur &amp; Kausalitas Fisika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Q6: 4 Kanal Cukup? Tidak (F1 jatuh ke 0.51). 18 kanal mutlak.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Q7-8: Kanal Penting? ANOVA pilih Merah; Permutation pilih NIR 940 nm.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Q9: Hasil Serupa? Sepakat di NIR 940 nm penyerapan air.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Q10: Pakai Model Kopi? Tidak boleh, beda matriks biologi.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Q11: Kenapa fruit_id? Mencegah Data Leakage via GroupKFold.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Strategi Bisnis &amp; QC Lapangan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• Q12: Lebih Bahaya Mana? Buah rusak lolos fatal bagi reputasi.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Q13: Metrik Prioritas? Recall kelas Rusak (&gt;95%) &amp; F1-Score.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Q14: Data Primer Tambahan? Suhu chamber, posisi, &amp; audit Brix/larva.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  <a:latin typeface="Arial"/>
              </a:defRPr>
            </a:pPr>
            <a:r>
              <a:t>• Q15: Jika Performa Rendah? Perbaiki kedapan chamber, SNV scaling, &amp; label bertingkat.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Peta Jalan &amp; Langkah Selanjutnya (Roadmap BuahSafe)</a:t>
            </a:r>
          </a:p>
          <a:p>
            <a:pPr>
              <a:defRPr sz="1300">
                <a:solidFill>
                  <a:srgbClr val="A7F3D0"/>
                </a:solidFill>
                <a:latin typeface="Arial"/>
              </a:defRPr>
            </a:pPr>
            <a:r>
              <a:t>Tahapan aksi konkrit menuju implementasi perangkat keras sortasi massal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BuahSafe Machine Learning &amp; Quality Control Study   |   Slide 16 of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548640"/>
          </a:xfrm>
          <a:prstGeom prst="roundRect">
            <a:avLst/>
          </a:prstGeom>
          <a:solidFill>
            <a:srgbClr val="10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Fase 1: Standarisasi Hardware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Isolasi Chamber: Memastikan kotak pemindaian kedap 100% dari cahaya luar.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Kalibrasi Jarak Sensor: Menetapkan jarak statis antara sensor AS7265x dan permukaan buah jambu kristal.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Stabilitas LED: Menguji kestabilan intensitas lampu pemancar pada berbagai suhu ruangan.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030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030" y="1371600"/>
            <a:ext cx="3474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Fase 2: Pengumpulan Data Primer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190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Protokol Scan: Memindai min. 500 buah jambu dengan 3 ulangan orientasi (tangkai, tengah, bawah).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Audit Destruktif Ketat: Membelah buah pasca-scan untuk mencatat ground truth (larva, browning, Brix).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Metadata Lengkap: Mencatat fruit_id dan kondisi lingkungan chamber.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335" y="1371600"/>
            <a:ext cx="3474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8335" y="1371600"/>
            <a:ext cx="3474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Fase 3: Deployment &amp; Optimasi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495" y="1965960"/>
            <a:ext cx="3200400" cy="406908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• Retraining Pipeline: Latih ulang model SVM &amp; RF menggunakan GroupKFold pada data primer.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Kalibrasi Threshold QC: Geser decision boundary demi mencapai Recall &gt; 95% pada kelas Rusak.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Uji Coba Lapangan (Pilot): Implementasi prototipe di gudang mitra penyortir buah.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