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4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640080"/>
          <a:lstStyle/>
          <a:p>
            <a:pPr algn="ctr">
              <a:defRPr sz="2600" b="1">
                <a:solidFill>
                  <a:srgbClr val="104E3B"/>
                </a:solidFill>
                <a:latin typeface="Arial"/>
              </a:defRPr>
            </a:pPr>
            <a:r>
              <a:t>BUAHSAFE: NON-DESTRUCTIVE QUALITY CONTROL</a:t>
            </a:r>
          </a:p>
          <a:p>
            <a:pPr>
              <a:spcBef>
                <a:spcPts val="1200"/>
              </a:spcBef>
              <a:defRPr sz="1650" b="1">
                <a:solidFill>
                  <a:srgbClr val="D97706"/>
                </a:solidFill>
                <a:latin typeface="Arial"/>
              </a:defRPr>
            </a:pPr>
            <a:r>
              <a:t>Panduan Visual Ekstensif: First Principles, Kamus Istilah Lengkap, Grafik Data Nyata,</a:t>
            </a:r>
            <a:br/>
            <a:r>
              <a:t>hingga Jembatan Pemahaman Kausalitas Kopi ke Deteksi Internal Jambu Kristal</a:t>
            </a:r>
          </a:p>
          <a:p>
            <a:pPr>
              <a:spcBef>
                <a:spcPts val="1800"/>
              </a:spcBef>
              <a:defRPr sz="1350">
                <a:solidFill>
                  <a:srgbClr val="475569"/>
                </a:solidFill>
                <a:latin typeface="Arial"/>
              </a:defRPr>
            </a:pPr>
            <a:r>
              <a:t>Diperkaya dengan 8 Gambar Ilustrasi Fisika, Grafik Kurva Spektral, Bar Chart Komparasi Model,</a:t>
            </a:r>
            <a:br/>
            <a:r>
              <a:t>dan Diagram Matriks Risiko yang sangat visual, interaktif, dan mudah dipahami.</a:t>
            </a:r>
          </a:p>
          <a:p>
            <a:pPr>
              <a:spcBef>
                <a:spcPts val="2200"/>
              </a:spcBef>
              <a:defRPr sz="1200" i="1">
                <a:solidFill>
                  <a:srgbClr val="059669"/>
                </a:solidFill>
                <a:latin typeface="Arial"/>
              </a:defRPr>
            </a:pPr>
            <a:r>
              <a:t>Membuktikan Konsep (Proof of Concept) Kopi Agtron untuk Solusi Sortasi Buah Premium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1: Fisika &amp; Spektroskopi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Penjelasan harfiah bahasa manusia untuk memahami interaksi cahaya dengan objek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2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Spektroskopi &amp; Cahaya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Spektroskopi: Ilmu fisika tentang bagaimana cahaya berinteraksi dengan materi atau molekul biologis.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Foton: Partikel/paket energi terkecil penyusun cahaya.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Nanometer (nm): Satuan ukuran panjang gelombang (1 nm = sepermiliar meter). Warna berbeda punya nm berbeda.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Visible Light (400-700 nm): Cahaya yang tampak oleh mata manusia (Merah, Jingga, Kuning, Hijau, Biru).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NIR &amp; Red-Edge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Near-Infrared / NIR (700-1100 nm): Inframerah dekat yang TIDAK terlihat mata, tapi ajaibnya mampu menembus ke dalam jaringan daging buah.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Red-Edge (680-730 nm): Daerah transisi cepat antara merah dan NIR yang menjadi penentu stres sel tumbuhan.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Sensor AS7265x: Spektrometer miniatur 18 kanal pembaca cahaya 410-940 nm.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Reflektansi &amp; Hamburan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Reflektansi: Persentase cahaya pantul dibanding cahaya total lampu LED.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Absorpsi (Penyerapan): Cahaya diserap molekul air/pigmen dan hilang menjadi getaran energi.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Refleksi Spekular: Pantulan silau cermin di kulit luar.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Hamburan Difus (Sub-surface Scattering): Cahaya menembus masuk, memantul di dalam daging buah, lalu keluar membawa info cacat internal!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2: Biologi, Kimia, &amp; Kopi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Penjelasan konsep kimiawi pada kopi sangrai dan biologi pada buah jambu kristal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3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Kimiawi Kopi Sangrai (Dataset PoC)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Agtron Value: Skala numerik standar internasional (0-100) industri kopi untuk mengukur derajat sangrai menggunakan alat khusus Agtron. Angka tinggi (&gt;70) = sangrai muda (Light); Angka rendah (&lt;40) = gelap (Dark).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Reaksi Maillard: Reaksi kimiawi antara asam amino dan gula pereduksi akibat panas pemanggangan kopi.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Melanoidin: Senyawa pigmen cokelat gelap yang terbentuk dari Reaksi Maillard saat kopi disangrai.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Kadar Air Kopi: Biji mentah punya air ~12%, saat disangrai matang menguap hilang menyisakan &lt;3%.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Biologi Jambu Kristal (Dataset Primer)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Klorofil: Pigmen hijau alami pada kulit jambu kristal segar.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Ikatan Hidrogen Air (O-H): Ikatan kimiawi molekul air di dalam daging buah yang menyerap kuat foton cahaya NIR pada 940 nm.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Oksidasi Fenolik (Browning): Pembusukan daging buah menjadi kecokelatan saat sel rusak terkena udara.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Larva Lalat Buah (Bactrocera carambolae): Ulat hama yang bertelur lewat lubang jarum mikroskopis; kulit luar mulus, bagian tengah hancur berulat.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Kamus Istilah Lengkap Bagian 3: Machine Learning &amp; Statistik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Istilah pemodelan AI yang diterjemahkan ke bahasa sehari-hari yang mudah dipahami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4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Dasar Algoritma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Fitur (X): 18 kolom angka dari sensor AS7265x (indra mata model).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Label/Target (y): Jawaban benar yang ingin ditebak model (kategori sangrai / status busuk).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Klasifikasi: Memilah ke dalam kelas tegas (Normal vs Rusak).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Regresi: Menebak angka numerik kontinu tepat (misal Agtron 58.4).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Data Latih vs Uji: Soal latihan vs soal ujian akhir.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Evaluasi &amp; Validasi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Overfitting: Penyakit model 'menghafal mati' soal latihan (100%), tapi hancur saat menemui buah baru.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Cross-Validation (CV): Ujian berulang dengan membagi data agar yakin akurasi model konsisten.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GroupKFold: Mengelompokkan semua scan ulang dari 1 buah fisik yang sama agar tidak dipisah latih/uji (mencegah manipulasi akurasi).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Confusion Matrix: Tabel rincian tebakan benar dan salah.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Metrik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False Negative (FN): Bahaya fatal buah rusak keliru ditebak normal.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False Positive (FP): Buah sehat keliru ditebak rusak.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StandardScaler: Rumus menyetarakan skala agar angka ribuan tidak menindas angka puluhan.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Permutation Importance: Menguji vitalitas kolom dengan mengacak angkanya; jika akurasi hancur, kolom itu vital.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Latar Belakang &amp; Masalah Bisnis Quality Control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cara sortasi manual tradisional gagal dan membahayakan bisnis buah premium?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5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1. Kelemahan Sortasi Manual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Subjektivitas Tinggi: Penilaian visual &amp; ketukan jari sangat bergantung pada mood/pengalaman pekerja.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Kelelahan Manusia: Mata pekerja mengalami penurunan fokus setelah jam kerja panjang, memicu human error.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Inkonsistensi Standar: Kualitas pengiriman antar-batch ke supermarket tidak pernah stabil seragam.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2. Ancaman Cacat Internal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Serangan Lalat Buah: Betina menaruh telur lewat lubang mikroskopis pada kulit luar yang normal.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Luar Mulus, Dalam Busuk: Secara visual luar buah tampak sempurna mulus, tetapi daging tengahnya hancur berulat.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Kegagalan Kamera RGB: Kamera biasa atau mata manusia tidak mampu menembus ke bawah kulit buah.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3. Risiko Finansial &amp; Reputasi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Komplain Fatal Konsumen: Pembeli menemukan ulat di buah bermerek BuahSafe -&gt; kepercayaan hancur.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Putus Kontrak Supermarket: Manajemen ritel modern dapat memutus pasokan permanen akibat cacat mutu.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Biaya False Negative Tinggi: Meloloskan buah rusak jauh lebih merugikan daripada menolak buah sehat.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First Principles Spektroskopi &amp; Hamburan Difus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Ilustrasi visual bagaimana foton NIR menembus ke bawah kulit buah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6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02920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Konsep Fisika Non-Destructive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754880" cy="42245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1. Absorpsi (Penyerapan Molekuler):</a:t>
            </a:r>
            <a:br/>
            <a:r>
              <a:t>Foton diserap oleh ikatan kimia spesifik (O-H pada air, C-H pada gula, klorofil) untuk menggetarkan molekul.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2. Refleksi Spekular (Pantulan Permukaan):</a:t>
            </a:r>
            <a:br/>
            <a:r>
              <a:t>Cahaya memantul langsung di permukaan lilin kulit luar seperti cermin (tidak membawa informasi internal).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3. Hamburan Difus (Sub-Surface Scattering):</a:t>
            </a:r>
            <a:br/>
            <a:r>
              <a:t>Cahaya menembus masuk ke jaringan bawah kulit, memantul berulang kali di antara dinding sel daging buah, lalu keluar kembali membawa 'rekam sidik jari' struktur internal menuju sensor!</a:t>
            </a:r>
          </a:p>
        </p:txBody>
      </p:sp>
      <p:pic>
        <p:nvPicPr>
          <p:cNvPr id="7" name="Picture 6" descr="asset_1_subsurface_scat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Alur Kausalitas Fisika - Kimia - Biologi Kerusakan Buah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Diagram alur mengapa buah berulat/busuk merubah pembacaan sensor optik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7 of 20</a:t>
            </a:r>
          </a:p>
        </p:txBody>
      </p:sp>
      <p:pic>
        <p:nvPicPr>
          <p:cNvPr id="4" name="Picture 3" descr="asset_2_causalit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62895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6634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4663440"/>
            <a:ext cx="25603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1. Sebab Biologi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212080"/>
            <a:ext cx="2286000" cy="10241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Larva lalat buah memakan jaringan daging buah di tengah, atau infeksi jamur membusukkan sel.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6634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4663440"/>
            <a:ext cx="25603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2. Sebab Kimiawi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5212080"/>
            <a:ext cx="2286000" cy="10241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Dinding sel pecah berair, ikatan hidrogen air (O-H) berkumpul di rongga busuk, &amp; oksidasi pigmen.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4663440"/>
            <a:ext cx="25603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3. Penyerapan Foton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5212080"/>
            <a:ext cx="2286000" cy="10241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Cahaya NIR menembus daging buah. Ikatan air (O-H) menyerap foton 940 nm secara intens.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663440"/>
            <a:ext cx="25603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0" y="4663440"/>
            <a:ext cx="25603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4. Rekam Jejak Sensor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5212080"/>
            <a:ext cx="2286000" cy="10241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000">
                <a:solidFill>
                  <a:srgbClr val="0F172A"/>
                </a:solidFill>
                <a:latin typeface="Arial"/>
              </a:defRPr>
            </a:pPr>
            <a:r>
              <a:t>Pantulan difus balik ke sensor AS7265x mengalami penurunan intensitas drastis di kanal 940 nm!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Keunggulan Resolusi Spektral 18 Kanal (Data Nyata)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Grafik pembacaan 18 kanal dari dataset nyata membuktikan sinyal fisik spektral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8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846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8463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Peran 3 Wilayah Spektrum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572000" cy="42245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Visible Light (410 - 680 nm):</a:t>
            </a:r>
            <a:br/>
            <a:r>
              <a:t>Membaca pigmen permukaan eksternal. Klorofil (560 nm) menunjukkan kematangan hijau fisik luar.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Red-Edge (680 - 730 nm):</a:t>
            </a:r>
            <a:br/>
            <a:r>
              <a:t>Zona transisi kritis antara serapan pigmen dan pantulan sel. Indikator sensitif stres sel biologis dini sebelum terlihat mata.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Near-Infrared / NIR (760 - 940 nm):</a:t>
            </a:r>
            <a:br/>
            <a:r>
              <a:t>'X-Ray Optik' penembus buah terdalam. Kanal 940 nm adalah pita serapan utama ikatan air (O-H) pembeda utama buah sehat vs busuk berair!</a:t>
            </a:r>
          </a:p>
        </p:txBody>
      </p:sp>
      <p:pic>
        <p:nvPicPr>
          <p:cNvPr id="7" name="Picture 6" descr="asset_3_spectr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217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STUDI VALIDASI: Mengapa Pakai Kopi &amp; Ukur Agtron?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Membuktikan pemanfaatan nyata di industri kopi sebelum dihubungkan ke jambu kristal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9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Manfaat Nyata Jika Diterapkan di Dunia Kopi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Masalah Roaster Kopi: Alat standar pengukur derajat sangrai (Agtron Spectrophotometer) harganya ratusan juta rupiah.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Inovasi AS7265x: Kita membuktikan sensor miniatur 18-kanal murah mampu memprediksi kelas sangrai (akurasi 75%) &amp; menebak angka Agtron (regresi) secara presisi!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Kausalitas Fisika Kopi: Panas sangrai menguapkan air sampai habis (&lt;3%) dan memicu Reaksi Maillard membentuk pigmen gelap Melanoidin.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Kesimpulan Kopi: Hardware &amp; pipeline ML kita terbukti bernilai komersial nyata sebagai alat kontrol mutu sangrai non-destruktif murah!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Tujuan Proof of Concept (PoC) bagi BuahSafe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Validasi Arsitektur Software: Sebelum chamber primer selesai dirakit, kita wajib memvalidasi alur kerja pengolahan data sensor AS7265x.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Uji End-to-End Pipeline: Membuktikan dari data mentah sensor dapat dibangun model klasifikasi, tuning, feature selection, dan regresi.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Inovasi Rekayasa Data: Normalisasi otomatis nama file &amp; resolusi blokir HTTP (403 Forbidden) saat mengunduh data dari IPFS Pinata.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JEMBATAN ILMU: Dari Kopi Sangrai ke Jambu Kristal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Infografis komparasi kausalitas fisika yang menghubungkan PoC ke target 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10 of 20</a:t>
            </a:r>
          </a:p>
        </p:txBody>
      </p:sp>
      <p:pic>
        <p:nvPicPr>
          <p:cNvPr id="4" name="Picture 3" descr="asset_4_coffee_to_guava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628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Arsitektur Pipeline ML &amp; Kausalitas Preprocessing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kita memerlukan Machine Learning, Scaling, dan Pipeline untuk data spektral?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11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1. Mengapa Butuh ML?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Interaksi Non-Linear: 18 kanal berfluktuasi naik-turun bersamaan akibat bentuk buah melengkung &amp; variasi ukuran.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Mustahil Aturan If-Else: Manusia tidak mampu merancang batasan aturan manual di ruang 18-dimensi.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Fungsi Belajar Otomatis: ML mencari fungsi matematis f(X) = y untuk mengenali pola kerusakan internal.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2. Kausalitas StandardScaler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Masalah Skala Angka: Kanal 410 nm bernilai ~30, sedangkan kanal 940 nm bernilai ~30.000.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Bias Perhitungan Jarak: Tanpa scaling, algoritma Pythagoras (SVM/Regresi) hanya melihat kanal angka besar.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Solusi Standarisasi: Mengubah mean=0 &amp; std=1 agar semua 18 kanal punya bobot suara setara.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3. Pencegahan Data Leakage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Definisi Kebocoran Data: Mengintip informasi data uji saat proses pelatihan model berlangsung.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Kausalitas Pipeline: Scaling wajib dihitung hanya dari data latih, lalu diterapkan ke data uji.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GroupKFold Validation: Memastikan semua pemindaian ulang dari 1 sampel berada di kelompok yang sama.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Hasil Eksperimen Klasifikasi &amp; Regresi Agtron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Bar chart membuktikan model utama melompat jauh melampaui baseline (+48.8%)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12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02920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Rincian Performa &amp; Makna Ilmiah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754880" cy="42245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50">
                <a:solidFill>
                  <a:srgbClr val="0F172A"/>
                </a:solidFill>
                <a:latin typeface="Arial"/>
              </a:defRPr>
            </a:pPr>
            <a:r>
              <a:t>• Menang Telak dari Baseline:</a:t>
            </a:r>
            <a:br/>
            <a:r>
              <a:t>Dummy Classifier (menebak acak/kelas mayoritas) hanya meraih akurasi 26.2%. SVM Tuned melesat ke 75.0% (+48.8%!).</a:t>
            </a:r>
          </a:p>
          <a:p>
            <a:pPr>
              <a:spcBef>
                <a:spcPts val="500"/>
              </a:spcBef>
              <a:defRPr sz="1250">
                <a:solidFill>
                  <a:srgbClr val="0F172A"/>
                </a:solidFill>
                <a:latin typeface="Arial"/>
              </a:defRPr>
            </a:pPr>
            <a:r>
              <a:t>• Pembuktian Sinyal Spektral:</a:t>
            </a:r>
            <a:br/>
            <a:r>
              <a:t>Ini membuktikan secara definitif bahwa angka reflektansi 18 kanal AS7265x mengandung pola informasi fisik nyata yang sah.</a:t>
            </a:r>
          </a:p>
          <a:p>
            <a:pPr>
              <a:spcBef>
                <a:spcPts val="500"/>
              </a:spcBef>
              <a:defRPr sz="1250">
                <a:solidFill>
                  <a:srgbClr val="0F172A"/>
                </a:solidFill>
                <a:latin typeface="Arial"/>
              </a:defRPr>
            </a:pPr>
            <a:r>
              <a:t>• Regresi Agtron Presisi:</a:t>
            </a:r>
            <a:br/>
            <a:r>
              <a:t>Model regresi juga berhasil memprediksi angka Agtron kontinu dengan eror rendah, memvalidasi pemanfaatannya di dunia kopi.</a:t>
            </a:r>
          </a:p>
        </p:txBody>
      </p:sp>
      <p:pic>
        <p:nvPicPr>
          <p:cNvPr id="7" name="Picture 6" descr="asset_5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Dampak Hyperparameter Tuning &amp; Kestabilan Model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Mengapa tuning parameter dan kestabilan Cross-Validation sangat krusial?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13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Dampak Drastis Tuning pada SVM (+25% Akurasi!)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Sebelum Tuning: SVM default hanya memperoleh akurasi test 50.0% (F1 0.494). Model kesulitan memisahkan kelas yang tumpang tindih.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Setelah GridSearchCV: Ditemukan parameter optimal C=10 (regularisasi kuat) dan gamma=1 (kernel width tepat). Akurasi melesat menjadi 75.0% (F1 0.746)!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Pelajaran untuk BuahSafe: Jika model awal pada data jambu kristal terasa rendah, jangan menyerah! Algoritma ML butuh kalibrasi parameter agar pas dengan pantulan kulit jambu.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Kestabilan: Cross-Validation vs Test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Bukti Tidak Overfitting:</a:t>
            </a:r>
            <a:br/>
            <a:r>
              <a:t>Pada SVM Tuned, CV F1 Macro (0.722) sangat dekat dengan Test F1 Macro (0.746). Random Forest juga konsisten (0.722 vs 0.668).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Makna Bisnis Kestabilan:</a:t>
            </a:r>
            <a:br/>
            <a:r>
              <a:t>Model tidak 'menghafal' data latihan, melainkan mempelajari pola umum spektrum pantulan.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Jaminan Keandalan Operasional:</a:t>
            </a:r>
            <a:br/>
            <a:r>
              <a:t>Mitra QC di gudang membutuhkan alat yang stabil setiap hari saat mengukur batch buah baru yang belum pernah dilihat sebelumnya.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Benchmark Jumlah Kanal: Mengapa Wajib 18 Kanal?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Grafik membuktikan penurunan tajam akurasi saat menggunakan sensor 4 kanal murah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14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0292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02920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Justifikasi Arsitektur Hardware BuahSafe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754880" cy="42245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Penurunan Tajam pada 4 Kanal:</a:t>
            </a:r>
            <a:br/>
            <a:r>
              <a:t>Jika hanya menggunakan 4 kanal murah, F1-Score jatuh dari 0.722 ke 0.519. Terbukti sensor murah kehilangan info internal kritis.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Kompleksitas Biologi Buah:</a:t>
            </a:r>
            <a:br/>
            <a:r>
              <a:t>Kerusakan internal jambu kristal diliputi oleh hamburan cahaya kulit luar. Butuh resolusi rapat untuk memisahkan gangguan kulit dengan cacat daging buah.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Keputusan Hardware Tepat:</a:t>
            </a:r>
            <a:br/>
            <a:r>
              <a:t>Pemilihan sensor 18-kanal AS7265x oleh tim BuahSafe terbukti mutlak diperlukan dan dapat dipertanggungjawabkan secara ilmiah!</a:t>
            </a:r>
          </a:p>
        </p:txBody>
      </p:sp>
      <p:pic>
        <p:nvPicPr>
          <p:cNvPr id="7" name="Picture 6" descr="asset_6_chann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7160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Analisis Kanal Penting: ANOVA vs Permutation Importance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Grafik membuktikan konsistensi kanal 940 nm (NIR) sebagai detektor air terkuat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15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8463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48463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Titik Temu Ilmiah: Kanal 940 nm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28800"/>
            <a:ext cx="4572000" cy="422452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Perbedaan Metode:</a:t>
            </a:r>
            <a:br/>
            <a:r>
              <a:t>ANOVA menilai hubungan linear 1 kanal tunggal (menyoroti warna merah permukaan). Permutation menilai interaksi multivariat non-linear pohon keputusan.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Konsistensi NIR 940 nm:</a:t>
            </a:r>
            <a:br/>
            <a:r>
              <a:t>Kedua metode sepakat bahwa kanal 940 nm adalah fitur paling berpengaruh.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Validasi Teori Fisika:</a:t>
            </a:r>
            <a:br/>
            <a:r>
              <a:t>Kanal 940 nm adalah pita serapan utama ikatan hidrogen air (O-H). Buah busuk berair langsung terdeteksi!</a:t>
            </a:r>
          </a:p>
        </p:txBody>
      </p:sp>
      <p:pic>
        <p:nvPicPr>
          <p:cNvPr id="7" name="Picture 6" descr="asset_7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62179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Trade-Off Strategis: Akurasi Tinggi vs Explainability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Model mana yang harus dipilih untuk implementasi perangkat keras BuahSafe?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16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SVM RBF Kernel: Sang Eksekutor Akurasi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• Keunggulan Utama: Akurasi tertinggi (75.0%) dalam memisahkan kelas yang kompleks dan tumpang tindih.</a:t>
            </a:r>
          </a:p>
          <a:p>
            <a:pPr>
              <a:spcBef>
                <a:spcPts val="5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Kelemahan (Black-Box): Memetakan data ke ruang multi-dimensi abstrak; sulit menjelaskan alasan biologis di balik suatu prediksi.</a:t>
            </a:r>
          </a:p>
          <a:p>
            <a:pPr>
              <a:spcBef>
                <a:spcPts val="5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Rekomendasi Penggunaan:</a:t>
            </a:r>
            <a:br/>
            <a:r>
              <a:t>Sangat ideal ditanamkan pada mesin penyortir massal di pabrik produksi akhir, di mana kecepatan dan persentase ketepatan sortasi menjadi prioritas nomor satu.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Random Forest: Sang Analis Transparan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400">
                <a:solidFill>
                  <a:srgbClr val="0F172A"/>
                </a:solidFill>
                <a:latin typeface="Arial"/>
              </a:defRPr>
            </a:pPr>
            <a:r>
              <a:t>• Keunggulan Utama: Sangat transparan (Explainable AI); menyediakan feature importance yang jelas untuk audit ilmiah.</a:t>
            </a:r>
          </a:p>
          <a:p>
            <a:pPr>
              <a:spcBef>
                <a:spcPts val="5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Kelemahan: Akurasi sedikit di bawah SVM Tuned (67.5%).</a:t>
            </a:r>
          </a:p>
          <a:p>
            <a:pPr>
              <a:spcBef>
                <a:spcPts val="500"/>
              </a:spcBef>
              <a:defRPr sz="1400">
                <a:solidFill>
                  <a:srgbClr val="0F172A"/>
                </a:solidFill>
                <a:latin typeface="Arial"/>
              </a:defRPr>
            </a:pPr>
            <a:r>
              <a:t>• Rekomendasi Penggunaan:</a:t>
            </a:r>
            <a:br/>
            <a:r>
              <a:t>Sangat ideal digunakan selama tahap R&amp;D, kalibrasi sensor chamber, dan presentasi kepada agronomis/mitra bisnis untuk membuktikan kausalitas panjang gelombang.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Adaptasi ke Dataset Primer Jambu Kristal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Bagaimana standar pengambilan data dan arsitektur validasi untuk sampel buah asli?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17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Desain Tabel Metadata Primer BuahSafe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0292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fruit_id &amp; scan_id: Identitas unik per buah dan nomor ulangan scan (wajib ada untuk mencegah data leakage).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18 Kanal Spektral: Intensitas cahaya dari 410 nm hingga 940 nm.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Posisi Scan: Titik tangkai atas, perut tengah, atau kelopak bawah.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Kondisi Lingkungan: Suhu &amp; kelembapan chamber saat pemindaian.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Audit Destruktif (Ground Truth): Kadar Brix (kemanisan), keberadaan larva lalat buah, rongga internal, dan persentase browning.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9496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9496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Strategi Validasi GroupKFold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512064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• Masalah Random Split Biasa:</a:t>
            </a:r>
            <a:br/>
            <a:r>
              <a:t>Jika 1 buah dipindai 3 kali lalu dibagi acak, scan 1 masuk latih &amp; scan 2 masuk uji. Model menghafal 'warna kulit buah', menghasilkan akurasi palsu 99%.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Solusi GroupKFold berdasarkan fruit_id:</a:t>
            </a:r>
            <a:br/>
            <a:r>
              <a:t>Memastikan seluruh pemindaian dari 1 buah yang sama berada di kelompok Latih semua atau Uji semua.</a:t>
            </a:r>
          </a:p>
          <a:p>
            <a:pPr>
              <a:spcBef>
                <a:spcPts val="5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Hasil Evaluasi Jujur:</a:t>
            </a:r>
            <a:br/>
            <a:r>
              <a:t>Menjamin performa model benar-benar tangguh saat menghadapi buah asing di gudang mitra.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Matriks Risiko Bisnis: False Negative vs False Positive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Ilustrasi visual mengapa buah rusak lolos adalah bencana bisnis fatal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18 of 20</a:t>
            </a:r>
          </a:p>
        </p:txBody>
      </p:sp>
      <p:pic>
        <p:nvPicPr>
          <p:cNvPr id="4" name="Picture 3" descr="asset_8_risk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362895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Rangkuman Eksekutif 15 Pertanyaan Refleksi Tim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Menyamakan visi antara data scientist, agronomis, dan manajemen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19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Teknis &amp; Performa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Q1: Menang dari Dummy? Ya telak (75% vs 26%). Sinyal spektral valid.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Q2: Paling Stabil? SVM Tuned &amp; RF konsisten antara CV dan Test.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Q3: Tertinggi = Explainable? Tidak. SVM akurat, RF transparan.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Q4: Sering Tertukar? Kelas berbatasan (borderline awal cacat).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Q5: Tuning Berguna? Sangat drastis (+25% pada SVM).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Arsitektur &amp; Kausalitas Fisika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Q6: 4 Kanal Cukup? Tidak (F1 jatuh ke 0.51). 18 kanal mutlak.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Q7-8: Kanal Penting? ANOVA pilih Merah; Permutation pilih NIR 940 nm.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Q9: Hasil Serupa? Sepakat di NIR 940 nm penyerapan air.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Q10: Pakai Model Kopi? Tidak boleh, beda matriks biologi.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Q11: Kenapa fruit_id? Mencegah Data Leakage via GroupKFold.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Strategi Bisnis &amp; QC Lapangan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Arial"/>
              </a:defRPr>
            </a:pPr>
            <a:r>
              <a:t>• Q12: Lebih Bahaya Mana? Buah rusak lolos fatal bagi reputasi.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Q13: Metrik Prioritas? Recall kelas Rusak (&gt;95%) &amp; F1-Score.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Q14: Data Primer Tambahan? Suhu chamber, posisi, &amp; audit Brix/larva.</a:t>
            </a:r>
          </a:p>
          <a:p>
            <a:pPr>
              <a:spcBef>
                <a:spcPts val="5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• Q15: Jika Performa Rendah? Perbaiki kedapan chamber, SNV scaling, &amp; label bertingkat.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ctr">
              <a:defRPr sz="2300" b="1">
                <a:solidFill>
                  <a:srgbClr val="FFFFFF"/>
                </a:solidFill>
                <a:latin typeface="Arial"/>
              </a:defRPr>
            </a:pPr>
            <a:r>
              <a:t>Peta Jalan &amp; Langkah Selanjutnya (Roadmap BuahSafe)</a:t>
            </a:r>
          </a:p>
          <a:p>
            <a:pPr>
              <a:defRPr sz="1300">
                <a:solidFill>
                  <a:srgbClr val="A7F3D0"/>
                </a:solidFill>
                <a:latin typeface="Arial"/>
              </a:defRPr>
            </a:pPr>
            <a:r>
              <a:t>Tahapan aksi konkrit menuju implementasi perangkat keras sortasi massal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BuahSafe Visually Enhanced Study   |   Slide 20 of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502920"/>
          </a:xfrm>
          <a:prstGeom prst="roundRect">
            <a:avLst/>
          </a:prstGeom>
          <a:solidFill>
            <a:srgbClr val="10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Fase 1: Standarisasi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Isolasi Chamber: Memastikan kotak pemindaian kedap 100% dari cahaya luar.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Kalibrasi Jarak Sensor: Menetapkan jarak statis antara sensor AS7265x dan permukaan buah jambu kristal.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Stabilitas LED: Menguji kestabilan intensitas lampu pemancar pada berbagai suhu ruangan.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58030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58030" y="1371600"/>
            <a:ext cx="347472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Fase 2: Pengumpulan Data Primer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190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Protokol Scan: Memindai min. 500 buah jambu dengan 3 ulangan orientasi (tangkai, tengah, bawah).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Audit Destruktif Ketat: Membelah buah pasca-scan untuk mencatat ground truth (larva, browning, Brix).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Metadata Lengkap: Mencatat fruit_id dan kondisi lingkungan chamber.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8335" y="1371600"/>
            <a:ext cx="34747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4747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91440"/>
          <a:lstStyle/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Fase 3: Deployment &amp; Optimasi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5495" y="1920240"/>
            <a:ext cx="3200400" cy="41330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>
              <a:defRPr sz="1150">
                <a:solidFill>
                  <a:srgbClr val="0F172A"/>
                </a:solidFill>
                <a:latin typeface="Arial"/>
              </a:defRPr>
            </a:pPr>
            <a:r>
              <a:t>• Retraining Pipeline: Latih ulang model SVM &amp; RF menggunakan GroupKFold pada data primer.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Kalibrasi Threshold QC: Geser decision boundary demi mencapai Recall &gt; 95% pada kelas Rusak.</a:t>
            </a:r>
          </a:p>
          <a:p>
            <a:pPr>
              <a:spcBef>
                <a:spcPts val="500"/>
              </a:spcBef>
              <a:defRPr sz="1150">
                <a:solidFill>
                  <a:srgbClr val="0F172A"/>
                </a:solidFill>
                <a:latin typeface="Arial"/>
              </a:defRPr>
            </a:pPr>
            <a:r>
              <a:t>• Uji Coba Lapangan (Pilot): Implementasi prototipe di gudang mitra penyortir buah.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